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viewProps" Target="viewProps.xml" /><Relationship Id="rId17" Type="http://schemas.openxmlformats.org/officeDocument/2006/relationships/presProps" Target="presProps.xml" /><Relationship Id="rId1" Type="http://schemas.openxmlformats.org/officeDocument/2006/relationships/slideMaster" Target="slideMasters/slideMaster1.xml" /><Relationship Id="rId20" Type="http://schemas.openxmlformats.org/officeDocument/2006/relationships/tableStyles" Target="tableStyles.xml" /><Relationship Id="rId1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07 Leadershipbriefing</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3,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Leadership Briefing — Unified Identity-Addressing-Overlay Architecture (UIAO)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Title Page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b="1"/>
                        <a:t>Format</a:t>
                      </a:r>
                    </a:p>
                  </a:txBody>
                </a:tc>
                <a:tc>
                  <a:txBody>
                    <a:bodyPr/>
                    <a:lstStyle/>
                    <a:p>
                      <a:pPr lvl="0" indent="0" marL="0">
                        <a:buNone/>
                      </a:pPr>
                      <a:r>
                        <a:rPr/>
                        <a:t>Executive Slide-Deck (Markdown)</a:t>
                      </a:r>
                    </a:p>
                  </a:txBody>
                </a:tc>
              </a:tr>
              <a:tr h="0">
                <a:tc>
                  <a:txBody>
                    <a:bodyPr/>
                    <a:lstStyle/>
                    <a:p>
                      <a:pPr lvl="0" indent="0" marL="0">
                        <a:buNone/>
                      </a:pPr>
                      <a:r>
                        <a:rPr b="1"/>
                        <a:t>Version</a:t>
                      </a:r>
                    </a:p>
                  </a:txBody>
                </a:tc>
                <a:tc>
                  <a:txBody>
                    <a:bodyPr/>
                    <a:lstStyle/>
                    <a:p>
                      <a:pPr lvl="0" indent="0" marL="0">
                        <a:buNone/>
                      </a:pPr>
                      <a:r>
                        <a:rPr/>
                        <a:t>1.0</a:t>
                      </a:r>
                    </a:p>
                  </a:txBody>
                </a:tc>
              </a:tr>
              <a:tr h="0">
                <a:tc>
                  <a:txBody>
                    <a:bodyPr/>
                    <a:lstStyle/>
                    <a:p>
                      <a:pPr lvl="0" indent="0" marL="0">
                        <a:buNone/>
                      </a:pPr>
                      <a:r>
                        <a:rPr b="1"/>
                        <a:t>Date</a:t>
                      </a:r>
                    </a:p>
                  </a:txBody>
                </a:tc>
                <a:tc>
                  <a:txBody>
                    <a:bodyPr/>
                    <a:lstStyle/>
                    <a:p>
                      <a:pPr lvl="0" indent="0" marL="0">
                        <a:buNone/>
                      </a:pPr>
                      <a:r>
                        <a:rPr/>
                        <a:t>March 2026</a:t>
                      </a:r>
                    </a:p>
                  </a:txBody>
                </a:tc>
              </a:tr>
              <a:tr h="0">
                <a:tc>
                  <a:txBody>
                    <a:bodyPr/>
                    <a:lstStyle/>
                    <a:p>
                      <a:pPr lvl="0" indent="0" marL="0">
                        <a:buNone/>
                      </a:pPr>
                      <a:r>
                        <a:rPr b="1"/>
                        <a:t>Classification</a:t>
                      </a:r>
                    </a:p>
                  </a:txBody>
                </a:tc>
                <a:tc>
                  <a:txBody>
                    <a:bodyPr/>
                    <a:lstStyle/>
                    <a:p>
                      <a:pPr lvl="0" indent="0" marL="0">
                        <a:buNone/>
                      </a:pPr>
                      <a:r>
                        <a:rPr/>
                        <a:t>CUI/FOUO</a:t>
                      </a:r>
                    </a:p>
                  </a:txBody>
                </a:tc>
              </a:tr>
              <a:tr h="0">
                <a:tc>
                  <a:txBody>
                    <a:bodyPr/>
                    <a:lstStyle/>
                    <a:p>
                      <a:pPr lvl="0" indent="0" marL="0">
                        <a:buNone/>
                      </a:pPr>
                      <a:r>
                        <a:rPr b="1"/>
                        <a:t>Source Planes</a:t>
                      </a:r>
                    </a:p>
                  </a:txBody>
                </a:tc>
                <a:tc>
                  <a:txBody>
                    <a:bodyPr/>
                    <a:lstStyle/>
                    <a:p>
                      <a:pPr lvl="0" indent="0" marL="0">
                        <a:buNone/>
                      </a:pPr>
                      <a:r>
                        <a:rPr/>
                        <a:t>Identity, Network, Addressing, Telemetry, Security, Management</a:t>
                      </a:r>
                    </a:p>
                  </a:txBody>
                </a:tc>
              </a:tr>
              <a:tr h="0">
                <a:tc>
                  <a:txBody>
                    <a:bodyPr/>
                    <a:lstStyle/>
                    <a:p>
                      <a:pPr lvl="0" indent="0" marL="0">
                        <a:buNone/>
                      </a:pPr>
                      <a:r>
                        <a:rPr b="1"/>
                        <a:t>Document Type</a:t>
                      </a:r>
                    </a:p>
                  </a:txBody>
                </a:tc>
                <a:tc>
                  <a:txBody>
                    <a:bodyPr/>
                    <a:lstStyle/>
                    <a:p>
                      <a:pPr lvl="0" indent="0" marL="0">
                        <a:buNone/>
                      </a:pPr>
                      <a:r>
                        <a:rPr/>
                        <a:t>Leadership Briefing (01_Canon)</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provides an executive-level briefing on the Unified Identity-Addressing-Overlay Architecture (UIAO). It is designed for CIOs, CISOs, CTOs, PMOs, and mission executives who need to understand the modernization program at a glance. The briefing is structured as a slide-deck narrative and covers program overview, challenges, vision, architecture, compliance alignment, governance, timeline, and outcomes.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Program overview and strategic goal</a:t>
            </a:r>
          </a:p>
          <a:p>
            <a:pPr lvl="0"/>
            <a:r>
              <a:rPr/>
              <a:t>Current state challenges and mission impact</a:t>
            </a:r>
          </a:p>
          <a:p>
            <a:pPr lvl="0"/>
            <a:r>
              <a:rPr/>
              <a:t>End-state vision and guiding principles</a:t>
            </a:r>
          </a:p>
          <a:p>
            <a:pPr lvl="0"/>
            <a:r>
              <a:rPr/>
              <a:t>Six Control Planes and Eight Core Concepts</a:t>
            </a:r>
          </a:p>
          <a:p>
            <a:pPr lvl="0"/>
            <a:r>
              <a:rPr/>
              <a:t>Frozen state analysis</a:t>
            </a:r>
          </a:p>
          <a:p>
            <a:pPr lvl="0"/>
            <a:r>
              <a:rPr/>
              <a:t>Program outcomes</a:t>
            </a:r>
          </a:p>
          <a:p>
            <a:pPr lvl="0"/>
            <a:r>
              <a:rPr/>
              <a:t>Runtime model</a:t>
            </a:r>
          </a:p>
          <a:p>
            <a:pPr lvl="0"/>
            <a:r>
              <a:rPr/>
              <a:t>Compliance alignment (FedRAMP 20x, TIC 3.0, NIST 800-63)</a:t>
            </a:r>
          </a:p>
          <a:p>
            <a:pPr lvl="0"/>
            <a:r>
              <a:rPr/>
              <a:t>Governance and drift controls</a:t>
            </a:r>
          </a:p>
          <a:p>
            <a:pPr lvl="0"/>
            <a:r>
              <a:rPr/>
              <a:t>Modernization timeline summary</a:t>
            </a:r>
          </a:p>
          <a:p>
            <a:pPr lvl="0"/>
            <a:r>
              <a:rPr/>
              <a:t>Executive summary</a:t>
            </a:r>
          </a:p>
          <a:p>
            <a:pPr lvl="0" indent="0" marL="0">
              <a:spcBef>
                <a:spcPts val="3000"/>
              </a:spcBef>
              <a:buNone/>
            </a:pPr>
            <a:r>
              <a:rPr b="1"/>
              <a:t>Excluded</a:t>
            </a:r>
          </a:p>
          <a:p>
            <a:pPr lvl="0"/>
            <a:r>
              <a:rPr/>
              <a:t>Detailed technical implementation procedures</a:t>
            </a:r>
          </a:p>
          <a:p>
            <a:pPr lvl="0"/>
            <a:r>
              <a:rPr/>
              <a:t>Vendor procurement or licensing details</a:t>
            </a:r>
          </a:p>
          <a:p>
            <a:pPr lvl="0"/>
            <a:r>
              <a:rPr/>
              <a:t>Operational runbooks or playbooks</a:t>
            </a:r>
          </a:p>
          <a:p>
            <a:pPr lvl="0"/>
            <a:r>
              <a:rPr/>
              <a:t>Per-device or per-endpoint configuration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Control Plane Alignment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Plane</a:t>
                      </a:r>
                    </a:p>
                  </a:txBody>
                  <a:tcPr/>
                </a:tc>
                <a:tc>
                  <a:txBody>
                    <a:bodyPr/>
                    <a:lstStyle/>
                    <a:p>
                      <a:pPr lvl="0" indent="0" marL="0">
                        <a:buNone/>
                      </a:pPr>
                      <a:r>
                        <a:rPr/>
                        <a:t>Strategic Role</a:t>
                      </a:r>
                    </a:p>
                  </a:txBody>
                  <a:tcPr/>
                </a:tc>
              </a:tr>
              <a:tr h="0">
                <a:tc>
                  <a:txBody>
                    <a:bodyPr/>
                    <a:lstStyle/>
                    <a:p>
                      <a:pPr lvl="0" indent="0" marL="0">
                        <a:buNone/>
                      </a:pPr>
                      <a:r>
                        <a:rPr/>
                        <a:t>Identity</a:t>
                      </a:r>
                    </a:p>
                  </a:txBody>
                </a:tc>
                <a:tc>
                  <a:txBody>
                    <a:bodyPr/>
                    <a:lstStyle/>
                    <a:p>
                      <a:pPr lvl="0" indent="0" marL="0">
                        <a:buNone/>
                      </a:pPr>
                      <a:r>
                        <a:rPr/>
                        <a:t>Entra ID, ICAM governance, Conditional Access, PIM, lifecycle automation</a:t>
                      </a:r>
                    </a:p>
                  </a:txBody>
                </a:tc>
              </a:tr>
              <a:tr h="0">
                <a:tc>
                  <a:txBody>
                    <a:bodyPr/>
                    <a:lstStyle/>
                    <a:p>
                      <a:pPr lvl="0" indent="0" marL="0">
                        <a:buNone/>
                      </a:pPr>
                      <a:r>
                        <a:rPr/>
                        <a:t>Network</a:t>
                      </a:r>
                    </a:p>
                  </a:txBody>
                </a:tc>
                <a:tc>
                  <a:txBody>
                    <a:bodyPr/>
                    <a:lstStyle/>
                    <a:p>
                      <a:pPr lvl="0" indent="0" marL="0">
                        <a:buNone/>
                      </a:pPr>
                      <a:r>
                        <a:rPr/>
                        <a:t>Cisco Catalyst SD-WAN, Cloud OnRamp for M365, INR integration, identity-aware segmentation</a:t>
                      </a:r>
                    </a:p>
                  </a:txBody>
                </a:tc>
              </a:tr>
              <a:tr h="0">
                <a:tc>
                  <a:txBody>
                    <a:bodyPr/>
                    <a:lstStyle/>
                    <a:p>
                      <a:pPr lvl="0" indent="0" marL="0">
                        <a:buNone/>
                      </a:pPr>
                      <a:r>
                        <a:rPr/>
                        <a:t>Addressing</a:t>
                      </a:r>
                    </a:p>
                  </a:txBody>
                </a:tc>
                <a:tc>
                  <a:txBody>
                    <a:bodyPr/>
                    <a:lstStyle/>
                    <a:p>
                      <a:pPr lvl="0" indent="0" marL="0">
                        <a:buNone/>
                      </a:pPr>
                      <a:r>
                        <a:rPr/>
                        <a:t>InfoBlox IPAM, DNS/DHCP modernization, cloud IPAM reconciliation</a:t>
                      </a:r>
                    </a:p>
                  </a:txBody>
                </a:tc>
              </a:tr>
              <a:tr h="0">
                <a:tc>
                  <a:txBody>
                    <a:bodyPr/>
                    <a:lstStyle/>
                    <a:p>
                      <a:pPr lvl="0" indent="0" marL="0">
                        <a:buNone/>
                      </a:pPr>
                      <a:r>
                        <a:rPr/>
                        <a:t>Telemetry</a:t>
                      </a:r>
                    </a:p>
                  </a:txBody>
                </a:tc>
                <a:tc>
                  <a:txBody>
                    <a:bodyPr/>
                    <a:lstStyle/>
                    <a:p>
                      <a:pPr lvl="0" indent="0" marL="0">
                        <a:buNone/>
                      </a:pPr>
                      <a:r>
                        <a:rPr/>
                        <a:t>M365 Network Telemetry, SD-WAN telemetry, endpoint telemetry, DNS telemetry, CDM/CLAW, SIEM ingestion</a:t>
                      </a:r>
                    </a:p>
                  </a:txBody>
                </a:tc>
              </a:tr>
              <a:tr h="0">
                <a:tc>
                  <a:txBody>
                    <a:bodyPr/>
                    <a:lstStyle/>
                    <a:p>
                      <a:pPr lvl="0" indent="0" marL="0">
                        <a:buNone/>
                      </a:pPr>
                      <a:r>
                        <a:rPr/>
                        <a:t>Security</a:t>
                      </a:r>
                    </a:p>
                  </a:txBody>
                </a:tc>
                <a:tc>
                  <a:txBody>
                    <a:bodyPr/>
                    <a:lstStyle/>
                    <a:p>
                      <a:pPr lvl="0" indent="0" marL="0">
                        <a:buNone/>
                      </a:pPr>
                      <a:r>
                        <a:rPr/>
                        <a:t>TIC 3.0 Cloud + Branch, Zero Trust, FedRAMP alignment, NIST 800-63, ICAM governance</a:t>
                      </a:r>
                    </a:p>
                  </a:txBody>
                </a:tc>
              </a:tr>
              <a:tr h="0">
                <a:tc>
                  <a:txBody>
                    <a:bodyPr/>
                    <a:lstStyle/>
                    <a:p>
                      <a:pPr lvl="0" indent="0" marL="0">
                        <a:buNone/>
                      </a:pPr>
                      <a:r>
                        <a:rPr/>
                        <a:t>Management</a:t>
                      </a:r>
                    </a:p>
                  </a:txBody>
                </a:tc>
                <a:tc>
                  <a:txBody>
                    <a:bodyPr/>
                    <a:lstStyle/>
                    <a:p>
                      <a:pPr lvl="0" indent="0" marL="0">
                        <a:buNone/>
                      </a:pPr>
                      <a:r>
                        <a:rPr/>
                        <a:t>ServiceNow (CMDB, change, drift detection), Intune (device trust, compliance, configuration)</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Eight Core Concepts govern the UIAO architecture:</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b="1"/>
              <a:t>Conversation as the atomic unit</a:t>
            </a:r>
            <a:r>
              <a:rPr/>
              <a:t> — Every interaction binds identity, certificates, addressing, path, QoS, and telemetry.</a:t>
            </a:r>
          </a:p>
          <a:p>
            <a:pPr lvl="0" indent="-342900" marL="342900">
              <a:buAutoNum type="arabicPeriod"/>
            </a:pPr>
            <a:r>
              <a:rPr b="1"/>
              <a:t>Identity as the root namespace</a:t>
            </a:r>
            <a:r>
              <a:rPr/>
              <a:t> — Every IP, certificate, subnet, policy, and telemetry event is derived from identity.</a:t>
            </a:r>
          </a:p>
          <a:p>
            <a:pPr lvl="0" indent="-342900" marL="342900">
              <a:buAutoNum type="arabicPeriod"/>
            </a:pPr>
            <a:r>
              <a:rPr b="1"/>
              <a:t>Deterministic addressing</a:t>
            </a:r>
            <a:r>
              <a:rPr/>
              <a:t> — Addressing is identity-derived and policy-driven.</a:t>
            </a:r>
          </a:p>
          <a:p>
            <a:pPr lvl="0" indent="-342900" marL="342900">
              <a:buAutoNum type="arabicPeriod"/>
            </a:pPr>
            <a:r>
              <a:rPr b="1"/>
              <a:t>Certificate-anchored overlay</a:t>
            </a:r>
            <a:r>
              <a:rPr/>
              <a:t> — mTLS anchors tunnels, services, and trust relationships.</a:t>
            </a:r>
          </a:p>
          <a:p>
            <a:pPr lvl="0" indent="-342900" marL="342900">
              <a:buAutoNum type="arabicPeriod"/>
            </a:pPr>
            <a:r>
              <a:rPr b="1"/>
              <a:t>Telemetry as control</a:t>
            </a:r>
            <a:r>
              <a:rPr/>
              <a:t> — Telemetry is a real-time control input, not passive reporting.</a:t>
            </a:r>
          </a:p>
          <a:p>
            <a:pPr lvl="0" indent="-342900" marL="342900">
              <a:buAutoNum type="arabicPeriod"/>
            </a:pPr>
            <a:r>
              <a:rPr b="1"/>
              <a:t>Embedded governance and automation</a:t>
            </a:r>
            <a:r>
              <a:rPr/>
              <a:t> — Governance is executed through orchestrated workflows, not manual tickets.</a:t>
            </a:r>
          </a:p>
          <a:p>
            <a:pPr lvl="0" indent="-342900" marL="342900">
              <a:buAutoNum type="arabicPeriod"/>
            </a:pPr>
            <a:r>
              <a:rPr b="1"/>
              <a:t>Public service first</a:t>
            </a:r>
            <a:r>
              <a:rPr/>
              <a:t> — Citizen experience, accessibility, and privacy are top-level design constraints.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Slide 1 — Program Overview</a:t>
            </a:r>
          </a:p>
          <a:p>
            <a:pPr lvl="0" indent="0" marL="0">
              <a:buNone/>
            </a:pPr>
            <a:r>
              <a:rPr/>
              <a:t>Unified Identity-Addressing-Overlay Architecture (UIAO) is a coordinated modernization effort across:</a:t>
            </a:r>
          </a:p>
          <a:p>
            <a:pPr lvl="0"/>
            <a:r>
              <a:rPr b="1"/>
              <a:t>Microsoft Entra ID</a:t>
            </a:r>
            <a:r>
              <a:rPr/>
              <a:t> — Identity Control Plane</a:t>
            </a:r>
          </a:p>
          <a:p>
            <a:pPr lvl="0"/>
            <a:r>
              <a:rPr b="1"/>
              <a:t>ICAM (NIST 800-63, OMB M-19-17)</a:t>
            </a:r>
            <a:r>
              <a:rPr/>
              <a:t> — Governance Backbone</a:t>
            </a:r>
          </a:p>
          <a:p>
            <a:pPr lvl="0"/>
            <a:r>
              <a:rPr b="1"/>
              <a:t>InfoBlox IPAM</a:t>
            </a:r>
            <a:r>
              <a:rPr/>
              <a:t> — Addressing Control Plane</a:t>
            </a:r>
          </a:p>
          <a:p>
            <a:pPr lvl="0"/>
            <a:r>
              <a:rPr b="1"/>
              <a:t>Cisco Catalyst SD-WAN</a:t>
            </a:r>
            <a:r>
              <a:rPr/>
              <a:t> — Network Control Plane</a:t>
            </a:r>
          </a:p>
          <a:p>
            <a:pPr lvl="0"/>
            <a:r>
              <a:rPr b="1"/>
              <a:t>Cloud Telemetry + Location Services</a:t>
            </a:r>
            <a:r>
              <a:rPr/>
              <a:t> — Telemetry Control Plane</a:t>
            </a:r>
          </a:p>
          <a:p>
            <a:pPr lvl="0"/>
            <a:r>
              <a:rPr b="1"/>
              <a:t>TIC 3.0 Cloud + Branch</a:t>
            </a:r>
            <a:r>
              <a:rPr/>
              <a:t> — Security and Compliance Plane</a:t>
            </a:r>
          </a:p>
          <a:p>
            <a:pPr lvl="0" indent="0" marL="0">
              <a:buNone/>
            </a:pPr>
            <a:r>
              <a:rPr b="1"/>
              <a:t>Strategic Goal:</a:t>
            </a:r>
            <a:r>
              <a:rPr/>
              <a:t> Deliver a drop-in overlay that restores cross-service telemetry and identity correlation in FedRAMP Moderate environments where native platforms cannot.</a:t>
            </a:r>
          </a:p>
          <a:p>
            <a:pPr lvl="0" indent="0" marL="0">
              <a:spcBef>
                <a:spcPts val="3000"/>
              </a:spcBef>
              <a:buNone/>
            </a:pPr>
            <a:r>
              <a:rPr b="1"/>
              <a:t>Slide 2 — Why Modernization Is Required</a:t>
            </a:r>
          </a:p>
          <a:p>
            <a:pPr lvl="0" indent="0" marL="0">
              <a:spcBef>
                <a:spcPts val="3000"/>
              </a:spcBef>
              <a:buNone/>
            </a:pPr>
            <a:r>
              <a:rPr b="1"/>
              <a:t>Current State Challenges</a:t>
            </a:r>
          </a:p>
          <a:p>
            <a:pPr lvl="0"/>
            <a:r>
              <a:rPr/>
              <a:t>TIC 2.0 hairpin bottlenecks</a:t>
            </a:r>
          </a:p>
          <a:p>
            <a:pPr lvl="0"/>
            <a:r>
              <a:rPr/>
              <a:t>AD-centric identity with limited governance</a:t>
            </a:r>
          </a:p>
          <a:p>
            <a:pPr lvl="0"/>
            <a:r>
              <a:rPr/>
              <a:t>Fragmented IPAM across cloud and on-prem</a:t>
            </a:r>
          </a:p>
          <a:p>
            <a:pPr lvl="0"/>
            <a:r>
              <a:rPr/>
              <a:t>Limited telemetry visibility</a:t>
            </a:r>
          </a:p>
          <a:p>
            <a:pPr lvl="0"/>
            <a:r>
              <a:rPr/>
              <a:t>No INR or E911 readiness</a:t>
            </a:r>
          </a:p>
          <a:p>
            <a:pPr lvl="0"/>
            <a:r>
              <a:rPr/>
              <a:t>Inconsistent Zero Trust enforcement</a:t>
            </a:r>
          </a:p>
          <a:p>
            <a:pPr lvl="0" indent="0" marL="0">
              <a:spcBef>
                <a:spcPts val="3000"/>
              </a:spcBef>
              <a:buNone/>
            </a:pPr>
            <a:r>
              <a:rPr b="1"/>
              <a:t>Mission Impact</a:t>
            </a:r>
          </a:p>
          <a:p>
            <a:pPr lvl="0"/>
            <a:r>
              <a:rPr/>
              <a:t>Poor M365 performance</a:t>
            </a:r>
          </a:p>
          <a:p>
            <a:pPr lvl="0"/>
            <a:r>
              <a:rPr/>
              <a:t>Increased cyber risk</a:t>
            </a:r>
          </a:p>
          <a:p>
            <a:pPr lvl="0"/>
            <a:r>
              <a:rPr/>
              <a:t>Compliance gaps (TIC 3.0, FedRAMP 20x, SCuBA)</a:t>
            </a:r>
          </a:p>
          <a:p>
            <a:pPr lvl="0"/>
            <a:r>
              <a:rPr/>
              <a:t>Operational inefficiencies</a:t>
            </a:r>
          </a:p>
          <a:p>
            <a:pPr lvl="0"/>
            <a:r>
              <a:rPr/>
              <a:t>Slower mission execution</a:t>
            </a:r>
          </a:p>
          <a:p>
            <a:pPr lvl="0" indent="0" marL="0">
              <a:spcBef>
                <a:spcPts val="3000"/>
              </a:spcBef>
              <a:buNone/>
            </a:pPr>
            <a:r>
              <a:rPr b="1"/>
              <a:t>Slide 3 — Program Vision</a:t>
            </a:r>
          </a:p>
          <a:p>
            <a:pPr lvl="0" indent="0" marL="0">
              <a:buNone/>
            </a:pPr>
            <a:r>
              <a:rPr b="1"/>
              <a:t>End State:</a:t>
            </a:r>
            <a:r>
              <a:rPr/>
              <a:t> A FedRAMP Moderate environment with restored cross-service telemetry and deterministic identity correlation – delivered as a drop-in overlay.</a:t>
            </a:r>
          </a:p>
          <a:p>
            <a:pPr lvl="0" indent="0" marL="0">
              <a:buNone/>
            </a:pPr>
            <a:r>
              <a:rPr b="1"/>
              <a:t>Guiding Principles:</a:t>
            </a:r>
          </a:p>
          <a:p>
            <a:pPr lvl="0"/>
            <a:r>
              <a:rPr/>
              <a:t>Zero Trust by default</a:t>
            </a:r>
          </a:p>
          <a:p>
            <a:pPr lvl="0"/>
            <a:r>
              <a:rPr/>
              <a:t>Identity as the new perimeter</a:t>
            </a:r>
          </a:p>
          <a:p>
            <a:pPr lvl="0"/>
            <a:r>
              <a:rPr/>
              <a:t>Telemetry as the truth source</a:t>
            </a:r>
          </a:p>
          <a:p>
            <a:pPr lvl="0"/>
            <a:r>
              <a:rPr/>
              <a:t>Cloud-first routing</a:t>
            </a:r>
          </a:p>
          <a:p>
            <a:pPr lvl="0"/>
            <a:r>
              <a:rPr/>
              <a:t>Incremental modernization (no big-bang)</a:t>
            </a:r>
          </a:p>
          <a:p>
            <a:pPr lvl="0"/>
            <a:r>
              <a:rPr/>
              <a:t>FedRAMP-aligned controls</a:t>
            </a:r>
          </a:p>
          <a:p>
            <a:pPr lvl="0"/>
            <a:r>
              <a:rPr/>
              <a:t>Modular, extensible architecture</a:t>
            </a:r>
          </a:p>
          <a:p>
            <a:pPr lvl="0" indent="0" marL="0">
              <a:buNone/>
            </a:pPr>
            <a:r>
              <a:rPr b="1"/>
              <a:t>Design Principle:</a:t>
            </a:r>
            <a:r>
              <a:rPr/>
              <a:t> If it degrades the citizen interaction, it does not ship.</a:t>
            </a:r>
          </a:p>
          <a:p>
            <a:pPr lvl="0" indent="0" marL="0">
              <a:spcBef>
                <a:spcPts val="3000"/>
              </a:spcBef>
              <a:buNone/>
            </a:pPr>
            <a:r>
              <a:rPr b="1"/>
              <a:t>Slide 4 — The Six Control Planes</a:t>
            </a:r>
          </a:p>
          <a:p>
            <a:pPr lvl="0" indent="0" marL="0">
              <a:spcBef>
                <a:spcPts val="3000"/>
              </a:spcBef>
              <a:buNone/>
            </a:pPr>
            <a:r>
              <a:rPr b="1"/>
              <a:t>Identity Control Plane</a:t>
            </a:r>
          </a:p>
          <a:p>
            <a:pPr lvl="0"/>
            <a:r>
              <a:rPr/>
              <a:t>Entra ID</a:t>
            </a:r>
          </a:p>
          <a:p>
            <a:pPr lvl="0"/>
            <a:r>
              <a:rPr/>
              <a:t>ICAM governance</a:t>
            </a:r>
          </a:p>
          <a:p>
            <a:pPr lvl="0"/>
            <a:r>
              <a:rPr/>
              <a:t>Conditional Access</a:t>
            </a:r>
          </a:p>
          <a:p>
            <a:pPr lvl="0"/>
            <a:r>
              <a:rPr/>
              <a:t>PIM</a:t>
            </a:r>
          </a:p>
          <a:p>
            <a:pPr lvl="0"/>
            <a:r>
              <a:rPr/>
              <a:t>Lifecycle automation</a:t>
            </a:r>
          </a:p>
          <a:p>
            <a:pPr lvl="0" indent="0" marL="0">
              <a:spcBef>
                <a:spcPts val="3000"/>
              </a:spcBef>
              <a:buNone/>
            </a:pPr>
            <a:r>
              <a:rPr b="1"/>
              <a:t>Network Control Plane</a:t>
            </a:r>
          </a:p>
          <a:p>
            <a:pPr lvl="0"/>
            <a:r>
              <a:rPr/>
              <a:t>Cisco Catalyst SD-WAN</a:t>
            </a:r>
          </a:p>
          <a:p>
            <a:pPr lvl="0"/>
            <a:r>
              <a:rPr/>
              <a:t>Cloud OnRamp for M365</a:t>
            </a:r>
          </a:p>
          <a:p>
            <a:pPr lvl="0"/>
            <a:r>
              <a:rPr/>
              <a:t>INR integration</a:t>
            </a:r>
          </a:p>
          <a:p>
            <a:pPr lvl="0"/>
            <a:r>
              <a:rPr/>
              <a:t>Identity-aware segmentation</a:t>
            </a:r>
          </a:p>
          <a:p>
            <a:pPr lvl="0" indent="0" marL="0">
              <a:spcBef>
                <a:spcPts val="3000"/>
              </a:spcBef>
              <a:buNone/>
            </a:pPr>
            <a:r>
              <a:rPr b="1"/>
              <a:t>Addressing Control Plane</a:t>
            </a:r>
          </a:p>
          <a:p>
            <a:pPr lvl="0"/>
            <a:r>
              <a:rPr/>
              <a:t>InfoBlox IPAM</a:t>
            </a:r>
          </a:p>
          <a:p>
            <a:pPr lvl="0"/>
            <a:r>
              <a:rPr/>
              <a:t>DNS/DHCP modernization</a:t>
            </a:r>
          </a:p>
          <a:p>
            <a:pPr lvl="0"/>
            <a:r>
              <a:rPr/>
              <a:t>Cloud IPAM reconciliation</a:t>
            </a:r>
          </a:p>
          <a:p>
            <a:pPr lvl="0" indent="0" marL="0">
              <a:spcBef>
                <a:spcPts val="3000"/>
              </a:spcBef>
              <a:buNone/>
            </a:pPr>
            <a:r>
              <a:rPr b="1"/>
              <a:t>Telemetry and Location Control Plane</a:t>
            </a:r>
          </a:p>
          <a:p>
            <a:pPr lvl="0"/>
            <a:r>
              <a:rPr/>
              <a:t>M365 Network Telemetry</a:t>
            </a:r>
          </a:p>
          <a:p>
            <a:pPr lvl="0"/>
            <a:r>
              <a:rPr/>
              <a:t>SD-WAN telemetry</a:t>
            </a:r>
          </a:p>
          <a:p>
            <a:pPr lvl="0"/>
            <a:r>
              <a:rPr/>
              <a:t>Endpoint telemetry (Defender/Intune)</a:t>
            </a:r>
          </a:p>
          <a:p>
            <a:pPr lvl="0"/>
            <a:r>
              <a:rPr/>
              <a:t>DNS telemetry</a:t>
            </a:r>
          </a:p>
          <a:p>
            <a:pPr lvl="0"/>
            <a:r>
              <a:rPr/>
              <a:t>CDM/CLAW reporting</a:t>
            </a:r>
          </a:p>
          <a:p>
            <a:pPr lvl="0"/>
            <a:r>
              <a:rPr/>
              <a:t>SIEM ingestion</a:t>
            </a:r>
          </a:p>
          <a:p>
            <a:pPr lvl="0" indent="0" marL="0">
              <a:spcBef>
                <a:spcPts val="3000"/>
              </a:spcBef>
              <a:buNone/>
            </a:pPr>
            <a:r>
              <a:rPr b="1"/>
              <a:t>Security and Compliance Plane</a:t>
            </a:r>
          </a:p>
          <a:p>
            <a:pPr lvl="0"/>
            <a:r>
              <a:rPr/>
              <a:t>TIC 3.0 Cloud + Branch</a:t>
            </a:r>
          </a:p>
          <a:p>
            <a:pPr lvl="0"/>
            <a:r>
              <a:rPr/>
              <a:t>Zero Trust</a:t>
            </a:r>
          </a:p>
          <a:p>
            <a:pPr lvl="0"/>
            <a:r>
              <a:rPr/>
              <a:t>FedRAMP alignment</a:t>
            </a:r>
          </a:p>
          <a:p>
            <a:pPr lvl="0"/>
            <a:r>
              <a:rPr/>
              <a:t>NIST 800-63</a:t>
            </a:r>
          </a:p>
          <a:p>
            <a:pPr lvl="0"/>
            <a:r>
              <a:rPr/>
              <a:t>ICAM governance</a:t>
            </a:r>
          </a:p>
          <a:p>
            <a:pPr lvl="0" indent="0" marL="0">
              <a:spcBef>
                <a:spcPts val="3000"/>
              </a:spcBef>
              <a:buNone/>
            </a:pPr>
            <a:r>
              <a:rPr b="1"/>
              <a:t>Management Plane</a:t>
            </a:r>
          </a:p>
          <a:p>
            <a:pPr lvl="0"/>
            <a:r>
              <a:rPr/>
              <a:t>ServiceNow (CMDB, change, drift detection)</a:t>
            </a:r>
          </a:p>
          <a:p>
            <a:pPr lvl="0"/>
            <a:r>
              <a:rPr/>
              <a:t>Intune (device trust, compliance, configuration)</a:t>
            </a:r>
          </a:p>
          <a:p>
            <a:pPr lvl="0" indent="0" marL="0">
              <a:spcBef>
                <a:spcPts val="3000"/>
              </a:spcBef>
              <a:buNone/>
            </a:pPr>
            <a:r>
              <a:rPr b="1"/>
              <a:t>Slide 5 — Frozen State Analysis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Domain</a:t>
                      </a:r>
                    </a:p>
                  </a:txBody>
                  <a:tcPr/>
                </a:tc>
                <a:tc>
                  <a:txBody>
                    <a:bodyPr/>
                    <a:lstStyle/>
                    <a:p>
                      <a:pPr lvl="0" indent="0" marL="0">
                        <a:buNone/>
                      </a:pPr>
                      <a:r>
                        <a:rPr/>
                        <a:t>Current State</a:t>
                      </a:r>
                    </a:p>
                  </a:txBody>
                  <a:tcPr/>
                </a:tc>
                <a:tc>
                  <a:txBody>
                    <a:bodyPr/>
                    <a:lstStyle/>
                    <a:p>
                      <a:pPr lvl="0" indent="0" marL="0">
                        <a:buNone/>
                      </a:pPr>
                      <a:r>
                        <a:rPr/>
                        <a:t>Gap</a:t>
                      </a:r>
                    </a:p>
                  </a:txBody>
                  <a:tcPr/>
                </a:tc>
              </a:tr>
              <a:tr h="0">
                <a:tc>
                  <a:txBody>
                    <a:bodyPr/>
                    <a:lstStyle/>
                    <a:p>
                      <a:pPr lvl="0" indent="0" marL="0">
                        <a:buNone/>
                      </a:pPr>
                      <a:r>
                        <a:rPr/>
                        <a:t>Identity</a:t>
                      </a:r>
                    </a:p>
                  </a:txBody>
                </a:tc>
                <a:tc>
                  <a:txBody>
                    <a:bodyPr/>
                    <a:lstStyle/>
                    <a:p>
                      <a:pPr lvl="0" indent="0" marL="0">
                        <a:buNone/>
                      </a:pPr>
                      <a:r>
                        <a:rPr/>
                        <a:t>On-prem AD, siloed</a:t>
                      </a:r>
                    </a:p>
                  </a:txBody>
                </a:tc>
                <a:tc>
                  <a:txBody>
                    <a:bodyPr/>
                    <a:lstStyle/>
                    <a:p>
                      <a:pPr lvl="0" indent="0" marL="0">
                        <a:buNone/>
                      </a:pPr>
                      <a:r>
                        <a:rPr/>
                        <a:t>No unified identity graph</a:t>
                      </a:r>
                    </a:p>
                  </a:txBody>
                </a:tc>
              </a:tr>
              <a:tr h="0">
                <a:tc>
                  <a:txBody>
                    <a:bodyPr/>
                    <a:lstStyle/>
                    <a:p>
                      <a:pPr lvl="0" indent="0" marL="0">
                        <a:buNone/>
                      </a:pPr>
                      <a:r>
                        <a:rPr/>
                        <a:t>Addressing</a:t>
                      </a:r>
                    </a:p>
                  </a:txBody>
                </a:tc>
                <a:tc>
                  <a:txBody>
                    <a:bodyPr/>
                    <a:lstStyle/>
                    <a:p>
                      <a:pPr lvl="0" indent="0" marL="0">
                        <a:buNone/>
                      </a:pPr>
                      <a:r>
                        <a:rPr/>
                        <a:t>Static spreadsheets</a:t>
                      </a:r>
                    </a:p>
                  </a:txBody>
                </a:tc>
                <a:tc>
                  <a:txBody>
                    <a:bodyPr/>
                    <a:lstStyle/>
                    <a:p>
                      <a:pPr lvl="0" indent="0" marL="0">
                        <a:buNone/>
                      </a:pPr>
                      <a:r>
                        <a:rPr/>
                        <a:t>No identity-to-address binding</a:t>
                      </a:r>
                    </a:p>
                  </a:txBody>
                </a:tc>
              </a:tr>
              <a:tr h="0">
                <a:tc>
                  <a:txBody>
                    <a:bodyPr/>
                    <a:lstStyle/>
                    <a:p>
                      <a:pPr lvl="0" indent="0" marL="0">
                        <a:buNone/>
                      </a:pPr>
                      <a:r>
                        <a:rPr/>
                        <a:t>Network Security</a:t>
                      </a:r>
                    </a:p>
                  </a:txBody>
                </a:tc>
                <a:tc>
                  <a:txBody>
                    <a:bodyPr/>
                    <a:lstStyle/>
                    <a:p>
                      <a:pPr lvl="0" indent="0" marL="0">
                        <a:buNone/>
                      </a:pPr>
                      <a:r>
                        <a:rPr/>
                        <a:t>L3/L4 firewalls</a:t>
                      </a:r>
                    </a:p>
                  </a:txBody>
                </a:tc>
                <a:tc>
                  <a:txBody>
                    <a:bodyPr/>
                    <a:lstStyle/>
                    <a:p>
                      <a:pPr lvl="0" indent="0" marL="0">
                        <a:buNone/>
                      </a:pPr>
                      <a:r>
                        <a:rPr/>
                        <a:t>No identity-aware segmentation</a:t>
                      </a:r>
                    </a:p>
                  </a:txBody>
                </a:tc>
              </a:tr>
              <a:tr h="0">
                <a:tc>
                  <a:txBody>
                    <a:bodyPr/>
                    <a:lstStyle/>
                    <a:p>
                      <a:pPr lvl="0" indent="0" marL="0">
                        <a:buNone/>
                      </a:pPr>
                      <a:r>
                        <a:rPr/>
                        <a:t>Endpoint</a:t>
                      </a:r>
                    </a:p>
                  </a:txBody>
                </a:tc>
                <a:tc>
                  <a:txBody>
                    <a:bodyPr/>
                    <a:lstStyle/>
                    <a:p>
                      <a:pPr lvl="0" indent="0" marL="0">
                        <a:buNone/>
                      </a:pPr>
                      <a:r>
                        <a:rPr/>
                        <a:t>Mixed tooling</a:t>
                      </a:r>
                    </a:p>
                  </a:txBody>
                </a:tc>
                <a:tc>
                  <a:txBody>
                    <a:bodyPr/>
                    <a:lstStyle/>
                    <a:p>
                      <a:pPr lvl="0" indent="0" marL="0">
                        <a:buNone/>
                      </a:pPr>
                      <a:r>
                        <a:rPr/>
                        <a:t>No unified posture signal</a:t>
                      </a:r>
                    </a:p>
                  </a:txBody>
                </a:tc>
              </a:tr>
              <a:tr h="0">
                <a:tc>
                  <a:txBody>
                    <a:bodyPr/>
                    <a:lstStyle/>
                    <a:p>
                      <a:pPr lvl="0" indent="0" marL="0">
                        <a:buNone/>
                      </a:pPr>
                      <a:r>
                        <a:rPr/>
                        <a:t>App Delivery</a:t>
                      </a:r>
                    </a:p>
                  </a:txBody>
                </a:tc>
                <a:tc>
                  <a:txBody>
                    <a:bodyPr/>
                    <a:lstStyle/>
                    <a:p>
                      <a:pPr lvl="0" indent="0" marL="0">
                        <a:buNone/>
                      </a:pPr>
                      <a:r>
                        <a:rPr/>
                        <a:t>Local auth</a:t>
                      </a:r>
                    </a:p>
                  </a:txBody>
                </a:tc>
                <a:tc>
                  <a:txBody>
                    <a:bodyPr/>
                    <a:lstStyle/>
                    <a:p>
                      <a:pPr lvl="0" indent="0" marL="0">
                        <a:buNone/>
                      </a:pPr>
                      <a:r>
                        <a:rPr/>
                        <a:t>No workload identity</a:t>
                      </a:r>
                    </a:p>
                  </a:txBody>
                </a:tc>
              </a:tr>
              <a:tr h="0">
                <a:tc>
                  <a:txBody>
                    <a:bodyPr/>
                    <a:lstStyle/>
                    <a:p>
                      <a:pPr lvl="0" indent="0" marL="0">
                        <a:buNone/>
                      </a:pPr>
                      <a:r>
                        <a:rPr/>
                        <a:t>Telemetry</a:t>
                      </a:r>
                    </a:p>
                  </a:txBody>
                </a:tc>
                <a:tc>
                  <a:txBody>
                    <a:bodyPr/>
                    <a:lstStyle/>
                    <a:p>
                      <a:pPr lvl="0" indent="0" marL="0">
                        <a:buNone/>
                      </a:pPr>
                      <a:r>
                        <a:rPr/>
                        <a:t>Siloed logs</a:t>
                      </a:r>
                    </a:p>
                  </a:txBody>
                </a:tc>
                <a:tc>
                  <a:txBody>
                    <a:bodyPr/>
                    <a:lstStyle/>
                    <a:p>
                      <a:pPr lvl="0" indent="0" marL="0">
                        <a:buNone/>
                      </a:pPr>
                      <a:r>
                        <a:rPr/>
                        <a:t>No conversation-level correlation</a:t>
                      </a:r>
                    </a:p>
                  </a:txBody>
                </a:tc>
              </a:tr>
              <a:tr h="0">
                <a:tc>
                  <a:txBody>
                    <a:bodyPr/>
                    <a:lstStyle/>
                    <a:p>
                      <a:pPr lvl="0" indent="0" marL="0">
                        <a:buNone/>
                      </a:pPr>
                      <a:r>
                        <a:rPr/>
                        <a:t>Governance</a:t>
                      </a:r>
                    </a:p>
                  </a:txBody>
                </a:tc>
                <a:tc>
                  <a:txBody>
                    <a:bodyPr/>
                    <a:lstStyle/>
                    <a:p>
                      <a:pPr lvl="0" indent="0" marL="0">
                        <a:buNone/>
                      </a:pPr>
                      <a:r>
                        <a:rPr/>
                        <a:t>Email/tickets</a:t>
                      </a:r>
                    </a:p>
                  </a:txBody>
                </a:tc>
                <a:tc>
                  <a:txBody>
                    <a:bodyPr/>
                    <a:lstStyle/>
                    <a:p>
                      <a:pPr lvl="0" indent="0" marL="0">
                        <a:buNone/>
                      </a:pPr>
                      <a:r>
                        <a:rPr/>
                        <a:t>No automated enforcement</a:t>
                      </a:r>
                    </a:p>
                  </a:txBody>
                </a:tc>
              </a:tr>
              <a:tr h="0">
                <a:tc>
                  <a:txBody>
                    <a:bodyPr/>
                    <a:lstStyle/>
                    <a:p>
                      <a:pPr lvl="0" indent="0" marL="0">
                        <a:buNone/>
                      </a:pPr>
                      <a:r>
                        <a:rPr/>
                        <a:t>Data Protection</a:t>
                      </a:r>
                    </a:p>
                  </a:txBody>
                </a:tc>
                <a:tc>
                  <a:txBody>
                    <a:bodyPr/>
                    <a:lstStyle/>
                    <a:p>
                      <a:pPr lvl="0" indent="0" marL="0">
                        <a:buNone/>
                      </a:pPr>
                      <a:r>
                        <a:rPr/>
                        <a:t>Manual classification</a:t>
                      </a:r>
                    </a:p>
                  </a:txBody>
                </a:tc>
                <a:tc>
                  <a:txBody>
                    <a:bodyPr/>
                    <a:lstStyle/>
                    <a:p>
                      <a:pPr lvl="0" indent="0" marL="0">
                        <a:buNone/>
                      </a:pPr>
                      <a:r>
                        <a:rPr/>
                        <a:t>No data-aware routing</a:t>
                      </a:r>
                    </a:p>
                  </a:txBody>
                </a:tc>
              </a:tr>
            </a:tbl>
          </a:graphicData>
        </a:graphic>
      </p:graphicFrame>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Slide 6 — Program Outcomes</a:t>
            </a:r>
          </a:p>
          <a:p>
            <a:pPr lvl="0"/>
            <a:r>
              <a:rPr/>
              <a:t>Reduced latency and improved M365 performance</a:t>
            </a:r>
          </a:p>
          <a:p>
            <a:pPr lvl="0"/>
            <a:r>
              <a:rPr/>
              <a:t>Stronger identity governance and compliance</a:t>
            </a:r>
          </a:p>
          <a:p>
            <a:pPr lvl="0"/>
            <a:r>
              <a:rPr/>
              <a:t>Accurate addressing and location inference</a:t>
            </a:r>
          </a:p>
          <a:p>
            <a:pPr lvl="0"/>
            <a:r>
              <a:rPr/>
              <a:t>Real-time telemetry for routing and security</a:t>
            </a:r>
          </a:p>
          <a:p>
            <a:pPr lvl="0"/>
            <a:r>
              <a:rPr/>
              <a:t>TIC 3.0 compliance across cloud and branch</a:t>
            </a:r>
          </a:p>
          <a:p>
            <a:pPr lvl="0"/>
            <a:r>
              <a:rPr/>
              <a:t>A drop-in overlay delivering cross-service telemetry and identity correlation where native platforms cannot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spcBef>
                <a:spcPts val="3000"/>
              </a:spcBef>
              <a:buNone/>
            </a:pPr>
            <a:r>
              <a:rPr b="1"/>
              <a:t>Conversation Flow</a:t>
            </a:r>
          </a:p>
          <a:p>
            <a:pPr lvl="0" indent="-342900" marL="342900">
              <a:buAutoNum type="arabicPeriod"/>
            </a:pPr>
            <a:r>
              <a:rPr/>
              <a:t>Identity initiates</a:t>
            </a:r>
          </a:p>
          <a:p>
            <a:pPr lvl="0" indent="-342900" marL="342900">
              <a:buAutoNum type="arabicPeriod"/>
            </a:pPr>
            <a:r>
              <a:rPr/>
              <a:t>Addressing binds</a:t>
            </a:r>
          </a:p>
          <a:p>
            <a:pPr lvl="0" indent="-342900" marL="342900">
              <a:buAutoNum type="arabicPeriod"/>
            </a:pPr>
            <a:r>
              <a:rPr/>
              <a:t>Certificates authenticate</a:t>
            </a:r>
          </a:p>
          <a:p>
            <a:pPr lvl="0" indent="-342900" marL="342900">
              <a:buAutoNum type="arabicPeriod"/>
            </a:pPr>
            <a:r>
              <a:rPr/>
              <a:t>Overlay establishes path</a:t>
            </a:r>
          </a:p>
          <a:p>
            <a:pPr lvl="0" indent="-342900" marL="342900">
              <a:buAutoNum type="arabicPeriod"/>
            </a:pPr>
            <a:r>
              <a:rPr/>
              <a:t>Telemetry validates</a:t>
            </a:r>
          </a:p>
          <a:p>
            <a:pPr lvl="0" indent="-342900" marL="342900">
              <a:buAutoNum type="arabicPeriod"/>
            </a:pPr>
            <a:r>
              <a:rPr/>
              <a:t>Policy evaluates continuously</a:t>
            </a:r>
          </a:p>
          <a:p>
            <a:pPr lvl="0" indent="0" marL="0">
              <a:spcBef>
                <a:spcPts val="3000"/>
              </a:spcBef>
              <a:buNone/>
            </a:pPr>
            <a:r>
              <a:rPr b="1"/>
              <a:t>Determinism</a:t>
            </a:r>
          </a:p>
          <a:p>
            <a:pPr lvl="0" indent="0" marL="0">
              <a:buNone/>
            </a:pPr>
            <a:r>
              <a:rPr/>
              <a:t>Given identical identity, boundary, telemetry, and assurance inputs, the system produces identical decisions across clouds and agencies.</a:t>
            </a:r>
          </a:p>
          <a:p>
            <a:pPr lvl="0" indent="0" marL="0">
              <a:spcBef>
                <a:spcPts val="3000"/>
              </a:spcBef>
              <a:buNone/>
            </a:pPr>
            <a:r>
              <a:rPr b="1"/>
              <a:t>Continuous Evaluation</a:t>
            </a:r>
          </a:p>
          <a:p>
            <a:pPr lvl="0" indent="0" marL="0">
              <a:buNone/>
            </a:pPr>
            <a:r>
              <a:rPr/>
              <a:t>Telemetry continuously informs routing, access, segmentation, and compliance posture.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Compliance Mapping</a:t>
            </a:r>
          </a:p>
        </p:txBody>
      </p:sp>
      <p:sp>
        <p:nvSpPr>
          <p:cNvPr id="3" name="Content Placeholder 2"/>
          <p:cNvSpPr>
            <a:spLocks noGrp="1"/>
          </p:cNvSpPr>
          <p:nvPr>
            <p:ph idx="1"/>
          </p:nvPr>
        </p:nvSpPr>
        <p:spPr/>
        <p:txBody>
          <a:bodyPr/>
          <a:lstStyle/>
          <a:p>
            <a:pPr lvl="0" indent="0" marL="0">
              <a:spcBef>
                <a:spcPts val="3000"/>
              </a:spcBef>
              <a:buNone/>
            </a:pPr>
            <a:r>
              <a:rPr b="1"/>
              <a:t>FedRAMP 20x</a:t>
            </a:r>
          </a:p>
          <a:p>
            <a:pPr lvl="0"/>
            <a:r>
              <a:rPr/>
              <a:t>Class C (Moderate)</a:t>
            </a:r>
          </a:p>
          <a:p>
            <a:pPr lvl="0"/>
            <a:r>
              <a:rPr/>
              <a:t>Telemetry-based validation</a:t>
            </a:r>
          </a:p>
          <a:p>
            <a:pPr lvl="0"/>
            <a:r>
              <a:rPr/>
              <a:t>OSCAL machine-readability</a:t>
            </a:r>
          </a:p>
          <a:p>
            <a:pPr lvl="0"/>
            <a:r>
              <a:rPr/>
              <a:t>Automated evidence generation</a:t>
            </a:r>
          </a:p>
          <a:p>
            <a:pPr lvl="0" indent="0" marL="0">
              <a:spcBef>
                <a:spcPts val="3000"/>
              </a:spcBef>
              <a:buNone/>
            </a:pPr>
            <a:r>
              <a:rPr b="1"/>
              <a:t>TIC 3.0</a:t>
            </a:r>
          </a:p>
          <a:p>
            <a:pPr lvl="0"/>
            <a:r>
              <a:rPr/>
              <a:t>Cloud Use Case</a:t>
            </a:r>
          </a:p>
          <a:p>
            <a:pPr lvl="0"/>
            <a:r>
              <a:rPr/>
              <a:t>Branch Use Case</a:t>
            </a:r>
          </a:p>
          <a:p>
            <a:pPr lvl="0"/>
            <a:r>
              <a:rPr/>
              <a:t>Identity-centric segmentation</a:t>
            </a:r>
          </a:p>
          <a:p>
            <a:pPr lvl="0" indent="0" marL="0">
              <a:spcBef>
                <a:spcPts val="3000"/>
              </a:spcBef>
              <a:buNone/>
            </a:pPr>
            <a:r>
              <a:rPr b="1"/>
              <a:t>NIST 800-63</a:t>
            </a:r>
          </a:p>
          <a:p>
            <a:pPr lvl="0"/>
            <a:r>
              <a:rPr/>
              <a:t>Identity assurance</a:t>
            </a:r>
          </a:p>
          <a:p>
            <a:pPr lvl="0"/>
            <a:r>
              <a:rPr/>
              <a:t>Authentication modernization</a:t>
            </a:r>
          </a:p>
          <a:p>
            <a:pPr lvl="0"/>
            <a:r>
              <a:rPr/>
              <a:t>ICAM governance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9. Dependencies and Sequencing</a:t>
            </a:r>
          </a:p>
        </p:txBody>
      </p:sp>
      <p:sp>
        <p:nvSpPr>
          <p:cNvPr id="4" name="Text Placeholder 3"/>
          <p:cNvSpPr>
            <a:spLocks noGrp="1"/>
          </p:cNvSpPr>
          <p:nvPr>
            <p:ph idx="2" sz="half" type="body"/>
          </p:nvPr>
        </p:nvSpPr>
        <p:spPr/>
        <p:txBody>
          <a:bodyPr/>
          <a:lstStyle/>
          <a:p>
            <a:pPr lvl="0" indent="0" marL="0">
              <a:spcBef>
                <a:spcPts val="3000"/>
              </a:spcBef>
              <a:buNone/>
            </a:pPr>
            <a:r>
              <a:rPr b="1"/>
              <a:t>Upstream Dependencies</a:t>
            </a:r>
          </a:p>
          <a:p>
            <a:pPr lvl="0"/>
            <a:r>
              <a:rPr>
                <a:latin typeface="Courier"/>
              </a:rPr>
              <a:t>00_ControlPlaneArchitecture.md</a:t>
            </a:r>
            <a:r>
              <a:rPr/>
              <a:t> — defines the six planes referenced throughout</a:t>
            </a:r>
          </a:p>
          <a:p>
            <a:pPr lvl="0"/>
            <a:r>
              <a:rPr>
                <a:latin typeface="Courier"/>
              </a:rPr>
              <a:t>01_UnifiedArchitecture.md</a:t>
            </a:r>
            <a:r>
              <a:rPr/>
              <a:t> — provides the unified architecture model</a:t>
            </a:r>
          </a:p>
          <a:p>
            <a:pPr lvl="0"/>
            <a:r>
              <a:rPr>
                <a:latin typeface="Courier"/>
              </a:rPr>
              <a:t>06_ProgramVision.md</a:t>
            </a:r>
            <a:r>
              <a:rPr/>
              <a:t> — establishes strategic intent and guiding principles</a:t>
            </a:r>
          </a:p>
          <a:p>
            <a:pPr lvl="0" indent="0" marL="0">
              <a:spcBef>
                <a:spcPts val="3000"/>
              </a:spcBef>
              <a:buNone/>
            </a:pPr>
            <a:r>
              <a:rPr b="1"/>
              <a:t>Downstream Dependencies</a:t>
            </a:r>
          </a:p>
          <a:p>
            <a:pPr lvl="0"/>
            <a:r>
              <a:rPr>
                <a:latin typeface="Courier"/>
              </a:rPr>
              <a:t>08_ModernizationTimeline.md</a:t>
            </a:r>
            <a:r>
              <a:rPr/>
              <a:t> — expands the timeline summary in Slide 11</a:t>
            </a:r>
          </a:p>
          <a:p>
            <a:pPr lvl="0"/>
            <a:r>
              <a:rPr>
                <a:latin typeface="Courier"/>
              </a:rPr>
              <a:t>09_CrosswalkIndex.md</a:t>
            </a:r>
            <a:r>
              <a:rPr/>
              <a:t> — indexes control mappings referenced in compliance alignment</a:t>
            </a:r>
          </a:p>
          <a:p>
            <a:pPr lvl="0" indent="0" marL="0">
              <a:spcBef>
                <a:spcPts val="3000"/>
              </a:spcBef>
              <a:buNone/>
            </a:pPr>
            <a:r>
              <a:rPr b="1"/>
              <a:t>Modernization Timeline (Summary)</a:t>
            </a:r>
          </a:p>
          <a:p>
            <a:pPr lvl="0" indent="0" marL="0">
              <a:buNone/>
            </a:pPr>
            <a:r>
              <a:rPr/>
              <a:t>Aligned to Workstreams A-D: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Month</a:t>
                      </a:r>
                    </a:p>
                  </a:txBody>
                  <a:tcPr/>
                </a:tc>
                <a:tc>
                  <a:txBody>
                    <a:bodyPr/>
                    <a:lstStyle/>
                    <a:p>
                      <a:pPr lvl="0" indent="0" marL="0">
                        <a:buNone/>
                      </a:pPr>
                      <a:r>
                        <a:rPr/>
                        <a:t>Milestone</a:t>
                      </a:r>
                    </a:p>
                  </a:txBody>
                  <a:tcPr/>
                </a:tc>
              </a:tr>
              <a:tr h="0">
                <a:tc>
                  <a:txBody>
                    <a:bodyPr/>
                    <a:lstStyle/>
                    <a:p>
                      <a:pPr lvl="0" indent="0" marL="0">
                        <a:buNone/>
                      </a:pPr>
                      <a:r>
                        <a:rPr/>
                        <a:t>Month 1</a:t>
                      </a:r>
                    </a:p>
                  </a:txBody>
                </a:tc>
                <a:tc>
                  <a:txBody>
                    <a:bodyPr/>
                    <a:lstStyle/>
                    <a:p>
                      <a:pPr lvl="0" indent="0" marL="0">
                        <a:buNone/>
                      </a:pPr>
                      <a:r>
                        <a:rPr/>
                        <a:t>Identity, SD-WAN, IPAM, Telemetry HLDs</a:t>
                      </a:r>
                    </a:p>
                  </a:txBody>
                </a:tc>
              </a:tr>
              <a:tr h="0">
                <a:tc>
                  <a:txBody>
                    <a:bodyPr/>
                    <a:lstStyle/>
                    <a:p>
                      <a:pPr lvl="0" indent="0" marL="0">
                        <a:buNone/>
                      </a:pPr>
                      <a:r>
                        <a:rPr/>
                        <a:t>Month 2</a:t>
                      </a:r>
                    </a:p>
                  </a:txBody>
                </a:tc>
                <a:tc>
                  <a:txBody>
                    <a:bodyPr/>
                    <a:lstStyle/>
                    <a:p>
                      <a:pPr lvl="0" indent="0" marL="0">
                        <a:buNone/>
                      </a:pPr>
                      <a:r>
                        <a:rPr/>
                        <a:t>Conditional Access, LLDs, DNS/DHCP, Location Services</a:t>
                      </a:r>
                    </a:p>
                  </a:txBody>
                </a:tc>
              </a:tr>
              <a:tr h="0">
                <a:tc>
                  <a:txBody>
                    <a:bodyPr/>
                    <a:lstStyle/>
                    <a:p>
                      <a:pPr lvl="0" indent="0" marL="0">
                        <a:buNone/>
                      </a:pPr>
                      <a:r>
                        <a:rPr/>
                        <a:t>Month 3</a:t>
                      </a:r>
                    </a:p>
                  </a:txBody>
                </a:tc>
                <a:tc>
                  <a:txBody>
                    <a:bodyPr/>
                    <a:lstStyle/>
                    <a:p>
                      <a:pPr lvl="0" indent="0" marL="0">
                        <a:buNone/>
                      </a:pPr>
                      <a:r>
                        <a:rPr/>
                        <a:t>MFA/SSPR, DIA pilots, Cloud IPAM, E911</a:t>
                      </a:r>
                    </a:p>
                  </a:txBody>
                </a:tc>
              </a:tr>
              <a:tr h="0">
                <a:tc>
                  <a:txBody>
                    <a:bodyPr/>
                    <a:lstStyle/>
                    <a:p>
                      <a:pPr lvl="0" indent="0" marL="0">
                        <a:buNone/>
                      </a:pPr>
                      <a:r>
                        <a:rPr/>
                        <a:t>Month 4</a:t>
                      </a:r>
                    </a:p>
                  </a:txBody>
                </a:tc>
                <a:tc>
                  <a:txBody>
                    <a:bodyPr/>
                    <a:lstStyle/>
                    <a:p>
                      <a:pPr lvl="0" indent="0" marL="0">
                        <a:buNone/>
                      </a:pPr>
                      <a:r>
                        <a:rPr/>
                        <a:t>Segmentation, Telemetry export, IPAM integrations</a:t>
                      </a:r>
                    </a:p>
                  </a:txBody>
                </a:tc>
              </a:tr>
              <a:tr h="0">
                <a:tc>
                  <a:txBody>
                    <a:bodyPr/>
                    <a:lstStyle/>
                    <a:p>
                      <a:pPr lvl="0" indent="0" marL="0">
                        <a:buNone/>
                      </a:pPr>
                      <a:r>
                        <a:rPr/>
                        <a:t>Month 5</a:t>
                      </a:r>
                    </a:p>
                  </a:txBody>
                </a:tc>
                <a:tc>
                  <a:txBody>
                    <a:bodyPr/>
                    <a:lstStyle/>
                    <a:p>
                      <a:pPr lvl="0" indent="0" marL="0">
                        <a:buNone/>
                      </a:pPr>
                      <a:r>
                        <a:rPr/>
                        <a:t>ICAM governance, Identity-aware routing, TIC 3.0 Cloud</a:t>
                      </a:r>
                    </a:p>
                  </a:txBody>
                </a:tc>
              </a:tr>
              <a:tr h="0">
                <a:tc>
                  <a:txBody>
                    <a:bodyPr/>
                    <a:lstStyle/>
                    <a:p>
                      <a:pPr lvl="0" indent="0" marL="0">
                        <a:buNone/>
                      </a:pPr>
                      <a:r>
                        <a:rPr/>
                        <a:t>Month 6</a:t>
                      </a:r>
                    </a:p>
                  </a:txBody>
                </a:tc>
                <a:tc>
                  <a:txBody>
                    <a:bodyPr/>
                    <a:lstStyle/>
                    <a:p>
                      <a:pPr lvl="0" indent="0" marL="0">
                        <a:buNone/>
                      </a:pPr>
                      <a:r>
                        <a:rPr/>
                        <a:t>INR readiness, IPAM automation, TIC 3.0 Branch, CDM/CLAW</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10. Governance and Drift Controls</a:t>
            </a:r>
          </a:p>
        </p:txBody>
      </p:sp>
      <p:sp>
        <p:nvSpPr>
          <p:cNvPr id="3" name="Content Placeholder 2"/>
          <p:cNvSpPr>
            <a:spLocks noGrp="1"/>
          </p:cNvSpPr>
          <p:nvPr>
            <p:ph idx="1"/>
          </p:nvPr>
        </p:nvSpPr>
        <p:spPr/>
        <p:txBody>
          <a:bodyPr/>
          <a:lstStyle/>
          <a:p>
            <a:pPr lvl="0" indent="0" marL="0">
              <a:spcBef>
                <a:spcPts val="3000"/>
              </a:spcBef>
              <a:buNone/>
            </a:pPr>
            <a:r>
              <a:rPr b="1"/>
              <a:t>Source of Authority</a:t>
            </a:r>
          </a:p>
          <a:p>
            <a:pPr lvl="0"/>
            <a:r>
              <a:rPr/>
              <a:t>HR — identity lifecycle</a:t>
            </a:r>
          </a:p>
          <a:p>
            <a:pPr lvl="0"/>
            <a:r>
              <a:rPr/>
              <a:t>Network architecture — addressing</a:t>
            </a:r>
          </a:p>
          <a:p>
            <a:pPr lvl="0"/>
            <a:r>
              <a:rPr/>
              <a:t>PKI — certificate trust</a:t>
            </a:r>
          </a:p>
          <a:p>
            <a:pPr lvl="0"/>
            <a:r>
              <a:rPr/>
              <a:t>System owners — configuration baselines</a:t>
            </a:r>
          </a:p>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Control Plane Alignment table is in Section 4. Frozen State Analysis is in Section 6.5. Timeline is in Section 9.</a:t>
            </a:r>
          </a:p>
          <a:p>
            <a:pPr lvl="0" indent="0" marL="0">
              <a:spcBef>
                <a:spcPts val="3000"/>
              </a:spcBef>
              <a:buNone/>
            </a:pPr>
            <a:r>
              <a:rPr b="1"/>
              <a:t>Appendix C: Diagram References</a:t>
            </a:r>
          </a:p>
          <a:p>
            <a:pPr lvl="0" indent="0" marL="0">
              <a:buNone/>
            </a:pPr>
            <a:r>
              <a:rPr i="1"/>
              <a:t>See </a:t>
            </a:r>
            <a:r>
              <a:rPr i="1">
                <a:latin typeface="Courier"/>
              </a:rPr>
              <a:t>docs/images/</a:t>
            </a:r>
            <a:r>
              <a:rPr i="1"/>
              <a:t> for all referenced architecture diagrams.</a:t>
            </a:r>
          </a:p>
          <a:p>
            <a:pPr lvl="0" indent="0" marL="0">
              <a:spcBef>
                <a:spcPts val="3000"/>
              </a:spcBef>
              <a:buNone/>
            </a:pPr>
            <a:r>
              <a:rPr b="1"/>
              <a:t>Appendix D: Evidence Sources</a:t>
            </a:r>
          </a:p>
          <a:p>
            <a:pPr lvl="0" indent="0" marL="0">
              <a:buNone/>
            </a:pPr>
            <a:r>
              <a:rPr i="1"/>
              <a:t>See </a:t>
            </a:r>
            <a:r>
              <a:rPr i="1">
                <a:latin typeface="Courier"/>
              </a:rPr>
              <a:t>data/parameters.yml</a:t>
            </a:r>
            <a:r>
              <a:rPr i="1"/>
              <a:t> and control-library entries for evidence source catalogs.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07 Leadershipbriefing</dc:title>
  <dc:creator>UIAO Modernization Program</dc:creator>
  <cp:keywords/>
  <dcterms:created xsi:type="dcterms:W3CDTF">2026-04-03T14:22:59Z</dcterms:created>
  <dcterms:modified xsi:type="dcterms:W3CDTF">2026-04-03T14:22:59Z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3,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