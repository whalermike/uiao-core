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8" Type="http://schemas.openxmlformats.org/officeDocument/2006/relationships/viewProps" Target="viewProps.xml" /><Relationship Id="rId17" Type="http://schemas.openxmlformats.org/officeDocument/2006/relationships/presProps" Target="presProps.xml" /><Relationship Id="rId1" Type="http://schemas.openxmlformats.org/officeDocument/2006/relationships/slideMaster" Target="slideMasters/slideMaster1.xml" /><Relationship Id="rId20" Type="http://schemas.openxmlformats.org/officeDocument/2006/relationships/tableStyles" Target="tableStyles.xml" /><Relationship Id="rId1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07 Leadershipbriefing</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UIAO Modernization Program</a:t>
            </a:r>
          </a:p>
        </p:txBody>
      </p:sp>
      <p:sp>
        <p:nvSpPr>
          <p:cNvPr id="4" name="Date Placeholder 3"/>
          <p:cNvSpPr>
            <a:spLocks noGrp="1"/>
          </p:cNvSpPr>
          <p:nvPr>
            <p:ph idx="10" sz="half" type="dt"/>
          </p:nvPr>
        </p:nvSpPr>
        <p:spPr/>
        <p:txBody>
          <a:bodyPr/>
          <a:lstStyle/>
          <a:p>
            <a:pPr lvl="0" indent="0" marL="0">
              <a:buNone/>
            </a:pPr>
            <a:r>
              <a:rPr/>
              <a:t>April 3,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Leadership Briefing — Unified Identity-Addressing-Overlay Architecture (UIAO)</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 Title Page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Field</a:t>
                      </a:r>
                    </a:p>
                  </a:txBody>
                  <a:tcPr/>
                </a:tc>
                <a:tc>
                  <a:txBody>
                    <a:bodyPr/>
                    <a:lstStyle/>
                    <a:p>
                      <a:pPr lvl="0" indent="0" marL="0">
                        <a:buNone/>
                      </a:pPr>
                      <a:r>
                        <a:rPr/>
                        <a:t>Value</a:t>
                      </a:r>
                    </a:p>
                  </a:txBody>
                  <a:tcPr/>
                </a:tc>
              </a:tr>
              <a:tr h="0">
                <a:tc>
                  <a:txBody>
                    <a:bodyPr/>
                    <a:lstStyle/>
                    <a:p>
                      <a:pPr lvl="0" indent="0" marL="0">
                        <a:buNone/>
                      </a:pPr>
                      <a:r>
                        <a:rPr b="1"/>
                        <a:t>Format</a:t>
                      </a:r>
                    </a:p>
                  </a:txBody>
                </a:tc>
                <a:tc>
                  <a:txBody>
                    <a:bodyPr/>
                    <a:lstStyle/>
                    <a:p>
                      <a:pPr lvl="0" indent="0" marL="0">
                        <a:buNone/>
                      </a:pPr>
                      <a:r>
                        <a:rPr/>
                        <a:t>Executive Slide-Deck (Markdown)</a:t>
                      </a:r>
                    </a:p>
                  </a:txBody>
                </a:tc>
              </a:tr>
              <a:tr h="0">
                <a:tc>
                  <a:txBody>
                    <a:bodyPr/>
                    <a:lstStyle/>
                    <a:p>
                      <a:pPr lvl="0" indent="0" marL="0">
                        <a:buNone/>
                      </a:pPr>
                      <a:r>
                        <a:rPr b="1"/>
                        <a:t>Version</a:t>
                      </a:r>
                    </a:p>
                  </a:txBody>
                </a:tc>
                <a:tc>
                  <a:txBody>
                    <a:bodyPr/>
                    <a:lstStyle/>
                    <a:p>
                      <a:pPr lvl="0" indent="0" marL="0">
                        <a:buNone/>
                      </a:pPr>
                      <a:r>
                        <a:rPr/>
                        <a:t>1.0</a:t>
                      </a:r>
                    </a:p>
                  </a:txBody>
                </a:tc>
              </a:tr>
              <a:tr h="0">
                <a:tc>
                  <a:txBody>
                    <a:bodyPr/>
                    <a:lstStyle/>
                    <a:p>
                      <a:pPr lvl="0" indent="0" marL="0">
                        <a:buNone/>
                      </a:pPr>
                      <a:r>
                        <a:rPr b="1"/>
                        <a:t>Date</a:t>
                      </a:r>
                    </a:p>
                  </a:txBody>
                </a:tc>
                <a:tc>
                  <a:txBody>
                    <a:bodyPr/>
                    <a:lstStyle/>
                    <a:p>
                      <a:pPr lvl="0" indent="0" marL="0">
                        <a:buNone/>
                      </a:pPr>
                      <a:r>
                        <a:rPr/>
                        <a:t>March 2026</a:t>
                      </a:r>
                    </a:p>
                  </a:txBody>
                </a:tc>
              </a:tr>
              <a:tr h="0">
                <a:tc>
                  <a:txBody>
                    <a:bodyPr/>
                    <a:lstStyle/>
                    <a:p>
                      <a:pPr lvl="0" indent="0" marL="0">
                        <a:buNone/>
                      </a:pPr>
                      <a:r>
                        <a:rPr b="1"/>
                        <a:t>Classification</a:t>
                      </a:r>
                    </a:p>
                  </a:txBody>
                </a:tc>
                <a:tc>
                  <a:txBody>
                    <a:bodyPr/>
                    <a:lstStyle/>
                    <a:p>
                      <a:pPr lvl="0" indent="0" marL="0">
                        <a:buNone/>
                      </a:pPr>
                      <a:r>
                        <a:rPr/>
                        <a:t>CUI/FOUO</a:t>
                      </a:r>
                    </a:p>
                  </a:txBody>
                </a:tc>
              </a:tr>
              <a:tr h="0">
                <a:tc>
                  <a:txBody>
                    <a:bodyPr/>
                    <a:lstStyle/>
                    <a:p>
                      <a:pPr lvl="0" indent="0" marL="0">
                        <a:buNone/>
                      </a:pPr>
                      <a:r>
                        <a:rPr b="1"/>
                        <a:t>Source Planes</a:t>
                      </a:r>
                    </a:p>
                  </a:txBody>
                </a:tc>
                <a:tc>
                  <a:txBody>
                    <a:bodyPr/>
                    <a:lstStyle/>
                    <a:p>
                      <a:pPr lvl="0" indent="0" marL="0">
                        <a:buNone/>
                      </a:pPr>
                      <a:r>
                        <a:rPr/>
                        <a:t>Identity, Network, Addressing, Telemetry, Security, Management</a:t>
                      </a:r>
                    </a:p>
                  </a:txBody>
                </a:tc>
              </a:tr>
              <a:tr h="0">
                <a:tc>
                  <a:txBody>
                    <a:bodyPr/>
                    <a:lstStyle/>
                    <a:p>
                      <a:pPr lvl="0" indent="0" marL="0">
                        <a:buNone/>
                      </a:pPr>
                      <a:r>
                        <a:rPr b="1"/>
                        <a:t>Document Type</a:t>
                      </a:r>
                    </a:p>
                  </a:txBody>
                </a:tc>
                <a:tc>
                  <a:txBody>
                    <a:bodyPr/>
                    <a:lstStyle/>
                    <a:p>
                      <a:pPr lvl="0" indent="0" marL="0">
                        <a:buNone/>
                      </a:pPr>
                      <a:r>
                        <a:rPr/>
                        <a:t>Leadership Briefing (01_Canon)</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Purpose</a:t>
            </a:r>
          </a:p>
        </p:txBody>
      </p:sp>
      <p:sp>
        <p:nvSpPr>
          <p:cNvPr id="3" name="Content Placeholder 2"/>
          <p:cNvSpPr>
            <a:spLocks noGrp="1"/>
          </p:cNvSpPr>
          <p:nvPr>
            <p:ph idx="1"/>
          </p:nvPr>
        </p:nvSpPr>
        <p:spPr/>
        <p:txBody>
          <a:bodyPr/>
          <a:lstStyle/>
          <a:p>
            <a:pPr lvl="0" indent="0" marL="0">
              <a:buNone/>
            </a:pPr>
            <a:r>
              <a:rPr/>
              <a:t>This document provides an executive-level briefing on the Unified Identity-Addressing-Overlay Architecture (UIAO). It is designed for CIOs, CISOs, CTOs, PMOs, and mission executives who need to understand the modernization program at a glance. The briefing is structured as a slide-deck narrative and covers program overview, challenges, vision, architecture, compliance alignment, governance, timeline, and outcomes.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 Scope</a:t>
            </a:r>
          </a:p>
        </p:txBody>
      </p:sp>
      <p:sp>
        <p:nvSpPr>
          <p:cNvPr id="3" name="Content Placeholder 2"/>
          <p:cNvSpPr>
            <a:spLocks noGrp="1"/>
          </p:cNvSpPr>
          <p:nvPr>
            <p:ph idx="1"/>
          </p:nvPr>
        </p:nvSpPr>
        <p:spPr/>
        <p:txBody>
          <a:bodyPr/>
          <a:lstStyle/>
          <a:p>
            <a:pPr lvl="0" indent="0" marL="0">
              <a:spcBef>
                <a:spcPts val="3000"/>
              </a:spcBef>
              <a:buNone/>
            </a:pPr>
            <a:r>
              <a:rPr b="1"/>
              <a:t>Included</a:t>
            </a:r>
          </a:p>
          <a:p>
            <a:pPr lvl="0"/>
            <a:r>
              <a:rPr/>
              <a:t>Program overview and strategic goal</a:t>
            </a:r>
          </a:p>
          <a:p>
            <a:pPr lvl="0"/>
            <a:r>
              <a:rPr/>
              <a:t>Current state challenges and mission impact</a:t>
            </a:r>
          </a:p>
          <a:p>
            <a:pPr lvl="0"/>
            <a:r>
              <a:rPr/>
              <a:t>End-state vision and guiding principles</a:t>
            </a:r>
          </a:p>
          <a:p>
            <a:pPr lvl="0"/>
            <a:r>
              <a:rPr/>
              <a:t>Six Control Planes and Eight Core Concepts</a:t>
            </a:r>
          </a:p>
          <a:p>
            <a:pPr lvl="0"/>
            <a:r>
              <a:rPr/>
              <a:t>Frozen state analysis</a:t>
            </a:r>
          </a:p>
          <a:p>
            <a:pPr lvl="0"/>
            <a:r>
              <a:rPr/>
              <a:t>Program outcomes</a:t>
            </a:r>
          </a:p>
          <a:p>
            <a:pPr lvl="0"/>
            <a:r>
              <a:rPr/>
              <a:t>Runtime model</a:t>
            </a:r>
          </a:p>
          <a:p>
            <a:pPr lvl="0"/>
            <a:r>
              <a:rPr/>
              <a:t>Compliance alignment (FedRAMP 20x, TIC 3.0, NIST 800-63)</a:t>
            </a:r>
          </a:p>
          <a:p>
            <a:pPr lvl="0"/>
            <a:r>
              <a:rPr/>
              <a:t>Governance and drift controls</a:t>
            </a:r>
          </a:p>
          <a:p>
            <a:pPr lvl="0"/>
            <a:r>
              <a:rPr/>
              <a:t>Modernization timeline summary</a:t>
            </a:r>
          </a:p>
          <a:p>
            <a:pPr lvl="0"/>
            <a:r>
              <a:rPr/>
              <a:t>Executive summary</a:t>
            </a:r>
          </a:p>
          <a:p>
            <a:pPr lvl="0" indent="0" marL="0">
              <a:spcBef>
                <a:spcPts val="3000"/>
              </a:spcBef>
              <a:buNone/>
            </a:pPr>
            <a:r>
              <a:rPr b="1"/>
              <a:t>Excluded</a:t>
            </a:r>
          </a:p>
          <a:p>
            <a:pPr lvl="0"/>
            <a:r>
              <a:rPr/>
              <a:t>Detailed technical implementation procedures</a:t>
            </a:r>
          </a:p>
          <a:p>
            <a:pPr lvl="0"/>
            <a:r>
              <a:rPr/>
              <a:t>Vendor procurement or licensing details</a:t>
            </a:r>
          </a:p>
          <a:p>
            <a:pPr lvl="0"/>
            <a:r>
              <a:rPr/>
              <a:t>Operational runbooks or playbooks</a:t>
            </a:r>
          </a:p>
          <a:p>
            <a:pPr lvl="0"/>
            <a:r>
              <a:rPr/>
              <a:t>Per-device or per-endpoint configuration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 Control Plane Alignment</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Plane</a:t>
                      </a:r>
                    </a:p>
                  </a:txBody>
                  <a:tcPr/>
                </a:tc>
                <a:tc>
                  <a:txBody>
                    <a:bodyPr/>
                    <a:lstStyle/>
                    <a:p>
                      <a:pPr lvl="0" indent="0" marL="0">
                        <a:buNone/>
                      </a:pPr>
                      <a:r>
                        <a:rPr/>
                        <a:t>Strategic Role</a:t>
                      </a:r>
                    </a:p>
                  </a:txBody>
                  <a:tcPr/>
                </a:tc>
              </a:tr>
              <a:tr h="0">
                <a:tc>
                  <a:txBody>
                    <a:bodyPr/>
                    <a:lstStyle/>
                    <a:p>
                      <a:pPr lvl="0" indent="0" marL="0">
                        <a:buNone/>
                      </a:pPr>
                      <a:r>
                        <a:rPr/>
                        <a:t>Identity</a:t>
                      </a:r>
                    </a:p>
                  </a:txBody>
                </a:tc>
                <a:tc>
                  <a:txBody>
                    <a:bodyPr/>
                    <a:lstStyle/>
                    <a:p>
                      <a:pPr lvl="0" indent="0" marL="0">
                        <a:buNone/>
                      </a:pPr>
                      <a:r>
                        <a:rPr/>
                        <a:t>Entra ID, ICAM governance, Conditional Access, PIM, lifecycle automation</a:t>
                      </a:r>
                    </a:p>
                  </a:txBody>
                </a:tc>
              </a:tr>
              <a:tr h="0">
                <a:tc>
                  <a:txBody>
                    <a:bodyPr/>
                    <a:lstStyle/>
                    <a:p>
                      <a:pPr lvl="0" indent="0" marL="0">
                        <a:buNone/>
                      </a:pPr>
                      <a:r>
                        <a:rPr/>
                        <a:t>Network</a:t>
                      </a:r>
                    </a:p>
                  </a:txBody>
                </a:tc>
                <a:tc>
                  <a:txBody>
                    <a:bodyPr/>
                    <a:lstStyle/>
                    <a:p>
                      <a:pPr lvl="0" indent="0" marL="0">
                        <a:buNone/>
                      </a:pPr>
                      <a:r>
                        <a:rPr/>
                        <a:t>Cisco Catalyst SD-WAN, Cloud OnRamp for M365, INR integration, identity-aware segmentation</a:t>
                      </a:r>
                    </a:p>
                  </a:txBody>
                </a:tc>
              </a:tr>
              <a:tr h="0">
                <a:tc>
                  <a:txBody>
                    <a:bodyPr/>
                    <a:lstStyle/>
                    <a:p>
                      <a:pPr lvl="0" indent="0" marL="0">
                        <a:buNone/>
                      </a:pPr>
                      <a:r>
                        <a:rPr/>
                        <a:t>Addressing</a:t>
                      </a:r>
                    </a:p>
                  </a:txBody>
                </a:tc>
                <a:tc>
                  <a:txBody>
                    <a:bodyPr/>
                    <a:lstStyle/>
                    <a:p>
                      <a:pPr lvl="0" indent="0" marL="0">
                        <a:buNone/>
                      </a:pPr>
                      <a:r>
                        <a:rPr/>
                        <a:t>InfoBlox IPAM, DNS/DHCP modernization, cloud IPAM reconciliation</a:t>
                      </a:r>
                    </a:p>
                  </a:txBody>
                </a:tc>
              </a:tr>
              <a:tr h="0">
                <a:tc>
                  <a:txBody>
                    <a:bodyPr/>
                    <a:lstStyle/>
                    <a:p>
                      <a:pPr lvl="0" indent="0" marL="0">
                        <a:buNone/>
                      </a:pPr>
                      <a:r>
                        <a:rPr/>
                        <a:t>Telemetry</a:t>
                      </a:r>
                    </a:p>
                  </a:txBody>
                </a:tc>
                <a:tc>
                  <a:txBody>
                    <a:bodyPr/>
                    <a:lstStyle/>
                    <a:p>
                      <a:pPr lvl="0" indent="0" marL="0">
                        <a:buNone/>
                      </a:pPr>
                      <a:r>
                        <a:rPr/>
                        <a:t>M365 Network Telemetry, SD-WAN telemetry, endpoint telemetry, DNS telemetry, CDM/CLAW, SIEM ingestion</a:t>
                      </a:r>
                    </a:p>
                  </a:txBody>
                </a:tc>
              </a:tr>
              <a:tr h="0">
                <a:tc>
                  <a:txBody>
                    <a:bodyPr/>
                    <a:lstStyle/>
                    <a:p>
                      <a:pPr lvl="0" indent="0" marL="0">
                        <a:buNone/>
                      </a:pPr>
                      <a:r>
                        <a:rPr/>
                        <a:t>Security</a:t>
                      </a:r>
                    </a:p>
                  </a:txBody>
                </a:tc>
                <a:tc>
                  <a:txBody>
                    <a:bodyPr/>
                    <a:lstStyle/>
                    <a:p>
                      <a:pPr lvl="0" indent="0" marL="0">
                        <a:buNone/>
                      </a:pPr>
                      <a:r>
                        <a:rPr/>
                        <a:t>TIC 3.0 Cloud + Branch, Zero Trust, FedRAMP alignment, NIST 800-63, ICAM governance</a:t>
                      </a:r>
                    </a:p>
                  </a:txBody>
                </a:tc>
              </a:tr>
              <a:tr h="0">
                <a:tc>
                  <a:txBody>
                    <a:bodyPr/>
                    <a:lstStyle/>
                    <a:p>
                      <a:pPr lvl="0" indent="0" marL="0">
                        <a:buNone/>
                      </a:pPr>
                      <a:r>
                        <a:rPr/>
                        <a:t>Management</a:t>
                      </a:r>
                    </a:p>
                  </a:txBody>
                </a:tc>
                <a:tc>
                  <a:txBody>
                    <a:bodyPr/>
                    <a:lstStyle/>
                    <a:p>
                      <a:pPr lvl="0" indent="0" marL="0">
                        <a:buNone/>
                      </a:pPr>
                      <a:r>
                        <a:rPr/>
                        <a:t>ServiceNow (CMDB, change, drift detection), Intune (device trust, compliance, configuration)</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5. Core Concepts</a:t>
            </a:r>
          </a:p>
        </p:txBody>
      </p:sp>
      <p:sp>
        <p:nvSpPr>
          <p:cNvPr id="3" name="Content Placeholder 2"/>
          <p:cNvSpPr>
            <a:spLocks noGrp="1"/>
          </p:cNvSpPr>
          <p:nvPr>
            <p:ph idx="1"/>
          </p:nvPr>
        </p:nvSpPr>
        <p:spPr/>
        <p:txBody>
          <a:bodyPr/>
          <a:lstStyle/>
          <a:p>
            <a:pPr lvl="0" indent="0" marL="0">
              <a:buNone/>
            </a:pPr>
            <a:r>
              <a:rPr/>
              <a:t>The Eight Core Concepts govern the UIAO architecture:</a:t>
            </a:r>
          </a:p>
          <a:p>
            <a:pPr lvl="0" indent="-342900" marL="342900">
              <a:buAutoNum type="arabicPeriod"/>
            </a:pPr>
            <a:r>
              <a:rPr b="1"/>
              <a:t>Single Source of Truth (SSOT)</a:t>
            </a:r>
            <a:r>
              <a:rPr/>
              <a:t> — UIAO operates on the principle that every claim has one authoritative origin. All other representations are pointers, not copies. This ensures provenance, prevents drift, and enables federated truth resolution across boundaries.</a:t>
            </a:r>
          </a:p>
          <a:p>
            <a:pPr lvl="0" indent="-342900" marL="342900">
              <a:buAutoNum type="arabicPeriod"/>
            </a:pPr>
            <a:r>
              <a:rPr b="1"/>
              <a:t>Conversation as the atomic unit</a:t>
            </a:r>
            <a:r>
              <a:rPr/>
              <a:t> — Every interaction binds identity, certificates, addressing, path, QoS, and telemetry.</a:t>
            </a:r>
          </a:p>
          <a:p>
            <a:pPr lvl="0" indent="-342900" marL="342900">
              <a:buAutoNum type="arabicPeriod"/>
            </a:pPr>
            <a:r>
              <a:rPr b="1"/>
              <a:t>Identity as the root namespace</a:t>
            </a:r>
            <a:r>
              <a:rPr/>
              <a:t> — Every IP, certificate, subnet, policy, and telemetry event is derived from identity.</a:t>
            </a:r>
          </a:p>
          <a:p>
            <a:pPr lvl="0" indent="-342900" marL="342900">
              <a:buAutoNum type="arabicPeriod"/>
            </a:pPr>
            <a:r>
              <a:rPr b="1"/>
              <a:t>Deterministic addressing</a:t>
            </a:r>
            <a:r>
              <a:rPr/>
              <a:t> — Addressing is identity-derived and policy-driven.</a:t>
            </a:r>
          </a:p>
          <a:p>
            <a:pPr lvl="0" indent="-342900" marL="342900">
              <a:buAutoNum type="arabicPeriod"/>
            </a:pPr>
            <a:r>
              <a:rPr b="1"/>
              <a:t>Certificate-anchored overlay</a:t>
            </a:r>
            <a:r>
              <a:rPr/>
              <a:t> — mTLS anchors tunnels, services, and trust relationships.</a:t>
            </a:r>
          </a:p>
          <a:p>
            <a:pPr lvl="0" indent="-342900" marL="342900">
              <a:buAutoNum type="arabicPeriod"/>
            </a:pPr>
            <a:r>
              <a:rPr b="1"/>
              <a:t>Telemetry as control</a:t>
            </a:r>
            <a:r>
              <a:rPr/>
              <a:t> — Telemetry is a real-time control input, not passive reporting.</a:t>
            </a:r>
          </a:p>
          <a:p>
            <a:pPr lvl="0" indent="-342900" marL="342900">
              <a:buAutoNum type="arabicPeriod"/>
            </a:pPr>
            <a:r>
              <a:rPr b="1"/>
              <a:t>Embedded governance and automation</a:t>
            </a:r>
            <a:r>
              <a:rPr/>
              <a:t> — Governance is executed through orchestrated workflows, not manual tickets.</a:t>
            </a:r>
          </a:p>
          <a:p>
            <a:pPr lvl="0" indent="-342900" marL="342900">
              <a:buAutoNum type="arabicPeriod"/>
            </a:pPr>
            <a:r>
              <a:rPr b="1"/>
              <a:t>Public service first</a:t>
            </a:r>
            <a:r>
              <a:rPr/>
              <a:t> — Citizen experience, accessibility, and privacy are top-level design constraints.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6. Architecture Model</a:t>
            </a:r>
          </a:p>
        </p:txBody>
      </p:sp>
      <p:sp>
        <p:nvSpPr>
          <p:cNvPr id="4" name="Text Placeholder 3"/>
          <p:cNvSpPr>
            <a:spLocks noGrp="1"/>
          </p:cNvSpPr>
          <p:nvPr>
            <p:ph idx="2" sz="half" type="body"/>
          </p:nvPr>
        </p:nvSpPr>
        <p:spPr/>
        <p:txBody>
          <a:bodyPr/>
          <a:lstStyle/>
          <a:p>
            <a:pPr lvl="0" indent="0" marL="0">
              <a:spcBef>
                <a:spcPts val="3000"/>
              </a:spcBef>
              <a:buNone/>
            </a:pPr>
            <a:r>
              <a:rPr b="1"/>
              <a:t>Slide 1 — Program Overview</a:t>
            </a:r>
          </a:p>
          <a:p>
            <a:pPr lvl="0" indent="0" marL="0">
              <a:buNone/>
            </a:pPr>
            <a:r>
              <a:rPr/>
              <a:t>Unified Identity-Addressing-Overlay Architecture (UIAO) is a coordinated modernization effort across:</a:t>
            </a:r>
          </a:p>
          <a:p>
            <a:pPr lvl="0"/>
            <a:r>
              <a:rPr b="1"/>
              <a:t>Microsoft Entra ID</a:t>
            </a:r>
            <a:r>
              <a:rPr/>
              <a:t> — Identity Control Plane</a:t>
            </a:r>
          </a:p>
          <a:p>
            <a:pPr lvl="0"/>
            <a:r>
              <a:rPr b="1"/>
              <a:t>ICAM (NIST 800-63, OMB M-19-17)</a:t>
            </a:r>
            <a:r>
              <a:rPr/>
              <a:t> — Governance Backbone</a:t>
            </a:r>
          </a:p>
          <a:p>
            <a:pPr lvl="0"/>
            <a:r>
              <a:rPr b="1"/>
              <a:t>InfoBlox IPAM</a:t>
            </a:r>
            <a:r>
              <a:rPr/>
              <a:t> — Addressing Control Plane</a:t>
            </a:r>
          </a:p>
          <a:p>
            <a:pPr lvl="0"/>
            <a:r>
              <a:rPr b="1"/>
              <a:t>Cisco Catalyst SD-WAN</a:t>
            </a:r>
            <a:r>
              <a:rPr/>
              <a:t> — Network Control Plane</a:t>
            </a:r>
          </a:p>
          <a:p>
            <a:pPr lvl="0"/>
            <a:r>
              <a:rPr b="1"/>
              <a:t>Cloud Telemetry + Location Services</a:t>
            </a:r>
            <a:r>
              <a:rPr/>
              <a:t> — Telemetry Control Plane</a:t>
            </a:r>
          </a:p>
          <a:p>
            <a:pPr lvl="0"/>
            <a:r>
              <a:rPr b="1"/>
              <a:t>TIC 3.0 Cloud + Branch</a:t>
            </a:r>
            <a:r>
              <a:rPr/>
              <a:t> — Security and Compliance Plane</a:t>
            </a:r>
          </a:p>
          <a:p>
            <a:pPr lvl="0" indent="0" marL="0">
              <a:buNone/>
            </a:pPr>
            <a:r>
              <a:rPr b="1"/>
              <a:t>Strategic Goal:</a:t>
            </a:r>
            <a:r>
              <a:rPr/>
              <a:t> Deliver a drop-in overlay that restores cross-service telemetry and identity correlation in FedRAMP Moderate environments where native platforms cannot.</a:t>
            </a:r>
          </a:p>
          <a:p>
            <a:pPr lvl="0" indent="0" marL="0">
              <a:spcBef>
                <a:spcPts val="3000"/>
              </a:spcBef>
              <a:buNone/>
            </a:pPr>
            <a:r>
              <a:rPr b="1"/>
              <a:t>Slide 2 — Why Modernization Is Required</a:t>
            </a:r>
          </a:p>
          <a:p>
            <a:pPr lvl="0" indent="0" marL="0">
              <a:spcBef>
                <a:spcPts val="3000"/>
              </a:spcBef>
              <a:buNone/>
            </a:pPr>
            <a:r>
              <a:rPr b="1"/>
              <a:t>Current State Challenges</a:t>
            </a:r>
          </a:p>
          <a:p>
            <a:pPr lvl="0"/>
            <a:r>
              <a:rPr/>
              <a:t>TIC 2.0 hairpin bottlenecks</a:t>
            </a:r>
          </a:p>
          <a:p>
            <a:pPr lvl="0"/>
            <a:r>
              <a:rPr/>
              <a:t>AD-centric identity with limited governance</a:t>
            </a:r>
          </a:p>
          <a:p>
            <a:pPr lvl="0"/>
            <a:r>
              <a:rPr/>
              <a:t>Fragmented IPAM across cloud and on-prem</a:t>
            </a:r>
          </a:p>
          <a:p>
            <a:pPr lvl="0"/>
            <a:r>
              <a:rPr/>
              <a:t>Limited telemetry visibility</a:t>
            </a:r>
          </a:p>
          <a:p>
            <a:pPr lvl="0"/>
            <a:r>
              <a:rPr/>
              <a:t>No INR or E911 readiness</a:t>
            </a:r>
          </a:p>
          <a:p>
            <a:pPr lvl="0"/>
            <a:r>
              <a:rPr/>
              <a:t>Inconsistent Zero Trust enforcement</a:t>
            </a:r>
          </a:p>
          <a:p>
            <a:pPr lvl="0" indent="0" marL="0">
              <a:spcBef>
                <a:spcPts val="3000"/>
              </a:spcBef>
              <a:buNone/>
            </a:pPr>
            <a:r>
              <a:rPr b="1"/>
              <a:t>Mission Impact</a:t>
            </a:r>
          </a:p>
          <a:p>
            <a:pPr lvl="0"/>
            <a:r>
              <a:rPr/>
              <a:t>Poor M365 performance</a:t>
            </a:r>
          </a:p>
          <a:p>
            <a:pPr lvl="0"/>
            <a:r>
              <a:rPr/>
              <a:t>Increased cyber risk</a:t>
            </a:r>
          </a:p>
          <a:p>
            <a:pPr lvl="0"/>
            <a:r>
              <a:rPr/>
              <a:t>Compliance gaps (TIC 3.0, FedRAMP 20x, SCuBA)</a:t>
            </a:r>
          </a:p>
          <a:p>
            <a:pPr lvl="0"/>
            <a:r>
              <a:rPr/>
              <a:t>Operational inefficiencies</a:t>
            </a:r>
          </a:p>
          <a:p>
            <a:pPr lvl="0"/>
            <a:r>
              <a:rPr/>
              <a:t>Slower mission execution</a:t>
            </a:r>
          </a:p>
          <a:p>
            <a:pPr lvl="0" indent="0" marL="0">
              <a:spcBef>
                <a:spcPts val="3000"/>
              </a:spcBef>
              <a:buNone/>
            </a:pPr>
            <a:r>
              <a:rPr b="1"/>
              <a:t>Slide 3 — Program Vision</a:t>
            </a:r>
          </a:p>
          <a:p>
            <a:pPr lvl="0" indent="0" marL="0">
              <a:buNone/>
            </a:pPr>
            <a:r>
              <a:rPr b="1"/>
              <a:t>End State:</a:t>
            </a:r>
            <a:r>
              <a:rPr/>
              <a:t> A FedRAMP Moderate environment with restored cross-service telemetry and deterministic identity correlation – delivered as a drop-in overlay.</a:t>
            </a:r>
          </a:p>
          <a:p>
            <a:pPr lvl="0" indent="0" marL="0">
              <a:buNone/>
            </a:pPr>
            <a:r>
              <a:rPr b="1"/>
              <a:t>Guiding Principles:</a:t>
            </a:r>
          </a:p>
          <a:p>
            <a:pPr lvl="0"/>
            <a:r>
              <a:rPr/>
              <a:t>Zero Trust by default</a:t>
            </a:r>
          </a:p>
          <a:p>
            <a:pPr lvl="0"/>
            <a:r>
              <a:rPr/>
              <a:t>Identity as the new perimeter</a:t>
            </a:r>
          </a:p>
          <a:p>
            <a:pPr lvl="0"/>
            <a:r>
              <a:rPr/>
              <a:t>Telemetry as the truth source</a:t>
            </a:r>
          </a:p>
          <a:p>
            <a:pPr lvl="0"/>
            <a:r>
              <a:rPr/>
              <a:t>Cloud-first routing</a:t>
            </a:r>
          </a:p>
          <a:p>
            <a:pPr lvl="0"/>
            <a:r>
              <a:rPr/>
              <a:t>Incremental modernization (no big-bang)</a:t>
            </a:r>
          </a:p>
          <a:p>
            <a:pPr lvl="0"/>
            <a:r>
              <a:rPr/>
              <a:t>FedRAMP-aligned controls</a:t>
            </a:r>
          </a:p>
          <a:p>
            <a:pPr lvl="0"/>
            <a:r>
              <a:rPr/>
              <a:t>Modular, extensible architecture</a:t>
            </a:r>
          </a:p>
          <a:p>
            <a:pPr lvl="0" indent="0" marL="0">
              <a:buNone/>
            </a:pPr>
            <a:r>
              <a:rPr b="1"/>
              <a:t>Design Principle:</a:t>
            </a:r>
            <a:r>
              <a:rPr/>
              <a:t> If it degrades the citizen interaction, it does not ship.</a:t>
            </a:r>
          </a:p>
          <a:p>
            <a:pPr lvl="0" indent="0" marL="0">
              <a:spcBef>
                <a:spcPts val="3000"/>
              </a:spcBef>
              <a:buNone/>
            </a:pPr>
            <a:r>
              <a:rPr b="1"/>
              <a:t>Slide 4 — The Six Control Planes</a:t>
            </a:r>
          </a:p>
          <a:p>
            <a:pPr lvl="0" indent="0" marL="0">
              <a:spcBef>
                <a:spcPts val="3000"/>
              </a:spcBef>
              <a:buNone/>
            </a:pPr>
            <a:r>
              <a:rPr b="1"/>
              <a:t>Identity Control Plane</a:t>
            </a:r>
          </a:p>
          <a:p>
            <a:pPr lvl="0"/>
            <a:r>
              <a:rPr/>
              <a:t>Entra ID</a:t>
            </a:r>
          </a:p>
          <a:p>
            <a:pPr lvl="0"/>
            <a:r>
              <a:rPr/>
              <a:t>ICAM governance</a:t>
            </a:r>
          </a:p>
          <a:p>
            <a:pPr lvl="0"/>
            <a:r>
              <a:rPr/>
              <a:t>Conditional Access</a:t>
            </a:r>
          </a:p>
          <a:p>
            <a:pPr lvl="0"/>
            <a:r>
              <a:rPr/>
              <a:t>PIM</a:t>
            </a:r>
          </a:p>
          <a:p>
            <a:pPr lvl="0"/>
            <a:r>
              <a:rPr/>
              <a:t>Lifecycle automation</a:t>
            </a:r>
          </a:p>
          <a:p>
            <a:pPr lvl="0" indent="0" marL="0">
              <a:spcBef>
                <a:spcPts val="3000"/>
              </a:spcBef>
              <a:buNone/>
            </a:pPr>
            <a:r>
              <a:rPr b="1"/>
              <a:t>Network Control Plane</a:t>
            </a:r>
          </a:p>
          <a:p>
            <a:pPr lvl="0"/>
            <a:r>
              <a:rPr/>
              <a:t>Cisco Catalyst SD-WAN</a:t>
            </a:r>
          </a:p>
          <a:p>
            <a:pPr lvl="0"/>
            <a:r>
              <a:rPr/>
              <a:t>Cloud OnRamp for M365</a:t>
            </a:r>
          </a:p>
          <a:p>
            <a:pPr lvl="0"/>
            <a:r>
              <a:rPr/>
              <a:t>INR integration</a:t>
            </a:r>
          </a:p>
          <a:p>
            <a:pPr lvl="0"/>
            <a:r>
              <a:rPr/>
              <a:t>Identity-aware segmentation</a:t>
            </a:r>
          </a:p>
          <a:p>
            <a:pPr lvl="0" indent="0" marL="0">
              <a:spcBef>
                <a:spcPts val="3000"/>
              </a:spcBef>
              <a:buNone/>
            </a:pPr>
            <a:r>
              <a:rPr b="1"/>
              <a:t>Addressing Control Plane</a:t>
            </a:r>
          </a:p>
          <a:p>
            <a:pPr lvl="0"/>
            <a:r>
              <a:rPr/>
              <a:t>InfoBlox IPAM</a:t>
            </a:r>
          </a:p>
          <a:p>
            <a:pPr lvl="0"/>
            <a:r>
              <a:rPr/>
              <a:t>DNS/DHCP modernization</a:t>
            </a:r>
          </a:p>
          <a:p>
            <a:pPr lvl="0"/>
            <a:r>
              <a:rPr/>
              <a:t>Cloud IPAM reconciliation</a:t>
            </a:r>
          </a:p>
          <a:p>
            <a:pPr lvl="0" indent="0" marL="0">
              <a:spcBef>
                <a:spcPts val="3000"/>
              </a:spcBef>
              <a:buNone/>
            </a:pPr>
            <a:r>
              <a:rPr b="1"/>
              <a:t>Telemetry and Location Control Plane</a:t>
            </a:r>
          </a:p>
          <a:p>
            <a:pPr lvl="0"/>
            <a:r>
              <a:rPr/>
              <a:t>M365 Network Telemetry</a:t>
            </a:r>
          </a:p>
          <a:p>
            <a:pPr lvl="0"/>
            <a:r>
              <a:rPr/>
              <a:t>SD-WAN telemetry</a:t>
            </a:r>
          </a:p>
          <a:p>
            <a:pPr lvl="0"/>
            <a:r>
              <a:rPr/>
              <a:t>Endpoint telemetry (Defender/Intune)</a:t>
            </a:r>
          </a:p>
          <a:p>
            <a:pPr lvl="0"/>
            <a:r>
              <a:rPr/>
              <a:t>DNS telemetry</a:t>
            </a:r>
          </a:p>
          <a:p>
            <a:pPr lvl="0"/>
            <a:r>
              <a:rPr/>
              <a:t>CDM/CLAW reporting</a:t>
            </a:r>
          </a:p>
          <a:p>
            <a:pPr lvl="0"/>
            <a:r>
              <a:rPr/>
              <a:t>SIEM ingestion</a:t>
            </a:r>
          </a:p>
          <a:p>
            <a:pPr lvl="0" indent="0" marL="0">
              <a:spcBef>
                <a:spcPts val="3000"/>
              </a:spcBef>
              <a:buNone/>
            </a:pPr>
            <a:r>
              <a:rPr b="1"/>
              <a:t>Security and Compliance Plane</a:t>
            </a:r>
          </a:p>
          <a:p>
            <a:pPr lvl="0"/>
            <a:r>
              <a:rPr/>
              <a:t>TIC 3.0 Cloud + Branch</a:t>
            </a:r>
          </a:p>
          <a:p>
            <a:pPr lvl="0"/>
            <a:r>
              <a:rPr/>
              <a:t>Zero Trust</a:t>
            </a:r>
          </a:p>
          <a:p>
            <a:pPr lvl="0"/>
            <a:r>
              <a:rPr/>
              <a:t>FedRAMP alignment</a:t>
            </a:r>
          </a:p>
          <a:p>
            <a:pPr lvl="0"/>
            <a:r>
              <a:rPr/>
              <a:t>NIST 800-63</a:t>
            </a:r>
          </a:p>
          <a:p>
            <a:pPr lvl="0"/>
            <a:r>
              <a:rPr/>
              <a:t>ICAM governance</a:t>
            </a:r>
          </a:p>
          <a:p>
            <a:pPr lvl="0" indent="0" marL="0">
              <a:spcBef>
                <a:spcPts val="3000"/>
              </a:spcBef>
              <a:buNone/>
            </a:pPr>
            <a:r>
              <a:rPr b="1"/>
              <a:t>Management Plane</a:t>
            </a:r>
          </a:p>
          <a:p>
            <a:pPr lvl="0"/>
            <a:r>
              <a:rPr/>
              <a:t>ServiceNow (CMDB, change, drift detection)</a:t>
            </a:r>
          </a:p>
          <a:p>
            <a:pPr lvl="0"/>
            <a:r>
              <a:rPr/>
              <a:t>Intune (device trust, compliance, configuration)</a:t>
            </a:r>
          </a:p>
          <a:p>
            <a:pPr lvl="0" indent="0" marL="0">
              <a:spcBef>
                <a:spcPts val="3000"/>
              </a:spcBef>
              <a:buNone/>
            </a:pPr>
            <a:r>
              <a:rPr b="1"/>
              <a:t>Slide 5 — Frozen State Analysis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Domain</a:t>
                      </a:r>
                    </a:p>
                  </a:txBody>
                  <a:tcPr/>
                </a:tc>
                <a:tc>
                  <a:txBody>
                    <a:bodyPr/>
                    <a:lstStyle/>
                    <a:p>
                      <a:pPr lvl="0" indent="0" marL="0">
                        <a:buNone/>
                      </a:pPr>
                      <a:r>
                        <a:rPr/>
                        <a:t>Current State</a:t>
                      </a:r>
                    </a:p>
                  </a:txBody>
                  <a:tcPr/>
                </a:tc>
                <a:tc>
                  <a:txBody>
                    <a:bodyPr/>
                    <a:lstStyle/>
                    <a:p>
                      <a:pPr lvl="0" indent="0" marL="0">
                        <a:buNone/>
                      </a:pPr>
                      <a:r>
                        <a:rPr/>
                        <a:t>Gap</a:t>
                      </a:r>
                    </a:p>
                  </a:txBody>
                  <a:tcPr/>
                </a:tc>
              </a:tr>
              <a:tr h="0">
                <a:tc>
                  <a:txBody>
                    <a:bodyPr/>
                    <a:lstStyle/>
                    <a:p>
                      <a:pPr lvl="0" indent="0" marL="0">
                        <a:buNone/>
                      </a:pPr>
                      <a:r>
                        <a:rPr/>
                        <a:t>Identity</a:t>
                      </a:r>
                    </a:p>
                  </a:txBody>
                </a:tc>
                <a:tc>
                  <a:txBody>
                    <a:bodyPr/>
                    <a:lstStyle/>
                    <a:p>
                      <a:pPr lvl="0" indent="0" marL="0">
                        <a:buNone/>
                      </a:pPr>
                      <a:r>
                        <a:rPr/>
                        <a:t>On-prem AD, siloed</a:t>
                      </a:r>
                    </a:p>
                  </a:txBody>
                </a:tc>
                <a:tc>
                  <a:txBody>
                    <a:bodyPr/>
                    <a:lstStyle/>
                    <a:p>
                      <a:pPr lvl="0" indent="0" marL="0">
                        <a:buNone/>
                      </a:pPr>
                      <a:r>
                        <a:rPr/>
                        <a:t>No unified identity graph</a:t>
                      </a:r>
                    </a:p>
                  </a:txBody>
                </a:tc>
              </a:tr>
              <a:tr h="0">
                <a:tc>
                  <a:txBody>
                    <a:bodyPr/>
                    <a:lstStyle/>
                    <a:p>
                      <a:pPr lvl="0" indent="0" marL="0">
                        <a:buNone/>
                      </a:pPr>
                      <a:r>
                        <a:rPr/>
                        <a:t>Addressing</a:t>
                      </a:r>
                    </a:p>
                  </a:txBody>
                </a:tc>
                <a:tc>
                  <a:txBody>
                    <a:bodyPr/>
                    <a:lstStyle/>
                    <a:p>
                      <a:pPr lvl="0" indent="0" marL="0">
                        <a:buNone/>
                      </a:pPr>
                      <a:r>
                        <a:rPr/>
                        <a:t>Static spreadsheets</a:t>
                      </a:r>
                    </a:p>
                  </a:txBody>
                </a:tc>
                <a:tc>
                  <a:txBody>
                    <a:bodyPr/>
                    <a:lstStyle/>
                    <a:p>
                      <a:pPr lvl="0" indent="0" marL="0">
                        <a:buNone/>
                      </a:pPr>
                      <a:r>
                        <a:rPr/>
                        <a:t>No identity-to-address binding</a:t>
                      </a:r>
                    </a:p>
                  </a:txBody>
                </a:tc>
              </a:tr>
              <a:tr h="0">
                <a:tc>
                  <a:txBody>
                    <a:bodyPr/>
                    <a:lstStyle/>
                    <a:p>
                      <a:pPr lvl="0" indent="0" marL="0">
                        <a:buNone/>
                      </a:pPr>
                      <a:r>
                        <a:rPr/>
                        <a:t>Network Security</a:t>
                      </a:r>
                    </a:p>
                  </a:txBody>
                </a:tc>
                <a:tc>
                  <a:txBody>
                    <a:bodyPr/>
                    <a:lstStyle/>
                    <a:p>
                      <a:pPr lvl="0" indent="0" marL="0">
                        <a:buNone/>
                      </a:pPr>
                      <a:r>
                        <a:rPr/>
                        <a:t>L3/L4 firewalls</a:t>
                      </a:r>
                    </a:p>
                  </a:txBody>
                </a:tc>
                <a:tc>
                  <a:txBody>
                    <a:bodyPr/>
                    <a:lstStyle/>
                    <a:p>
                      <a:pPr lvl="0" indent="0" marL="0">
                        <a:buNone/>
                      </a:pPr>
                      <a:r>
                        <a:rPr/>
                        <a:t>No identity-aware segmentation</a:t>
                      </a:r>
                    </a:p>
                  </a:txBody>
                </a:tc>
              </a:tr>
              <a:tr h="0">
                <a:tc>
                  <a:txBody>
                    <a:bodyPr/>
                    <a:lstStyle/>
                    <a:p>
                      <a:pPr lvl="0" indent="0" marL="0">
                        <a:buNone/>
                      </a:pPr>
                      <a:r>
                        <a:rPr/>
                        <a:t>Endpoint</a:t>
                      </a:r>
                    </a:p>
                  </a:txBody>
                </a:tc>
                <a:tc>
                  <a:txBody>
                    <a:bodyPr/>
                    <a:lstStyle/>
                    <a:p>
                      <a:pPr lvl="0" indent="0" marL="0">
                        <a:buNone/>
                      </a:pPr>
                      <a:r>
                        <a:rPr/>
                        <a:t>Mixed tooling</a:t>
                      </a:r>
                    </a:p>
                  </a:txBody>
                </a:tc>
                <a:tc>
                  <a:txBody>
                    <a:bodyPr/>
                    <a:lstStyle/>
                    <a:p>
                      <a:pPr lvl="0" indent="0" marL="0">
                        <a:buNone/>
                      </a:pPr>
                      <a:r>
                        <a:rPr/>
                        <a:t>No unified posture signal</a:t>
                      </a:r>
                    </a:p>
                  </a:txBody>
                </a:tc>
              </a:tr>
              <a:tr h="0">
                <a:tc>
                  <a:txBody>
                    <a:bodyPr/>
                    <a:lstStyle/>
                    <a:p>
                      <a:pPr lvl="0" indent="0" marL="0">
                        <a:buNone/>
                      </a:pPr>
                      <a:r>
                        <a:rPr/>
                        <a:t>App Delivery</a:t>
                      </a:r>
                    </a:p>
                  </a:txBody>
                </a:tc>
                <a:tc>
                  <a:txBody>
                    <a:bodyPr/>
                    <a:lstStyle/>
                    <a:p>
                      <a:pPr lvl="0" indent="0" marL="0">
                        <a:buNone/>
                      </a:pPr>
                      <a:r>
                        <a:rPr/>
                        <a:t>Local auth</a:t>
                      </a:r>
                    </a:p>
                  </a:txBody>
                </a:tc>
                <a:tc>
                  <a:txBody>
                    <a:bodyPr/>
                    <a:lstStyle/>
                    <a:p>
                      <a:pPr lvl="0" indent="0" marL="0">
                        <a:buNone/>
                      </a:pPr>
                      <a:r>
                        <a:rPr/>
                        <a:t>No workload identity</a:t>
                      </a:r>
                    </a:p>
                  </a:txBody>
                </a:tc>
              </a:tr>
              <a:tr h="0">
                <a:tc>
                  <a:txBody>
                    <a:bodyPr/>
                    <a:lstStyle/>
                    <a:p>
                      <a:pPr lvl="0" indent="0" marL="0">
                        <a:buNone/>
                      </a:pPr>
                      <a:r>
                        <a:rPr/>
                        <a:t>Telemetry</a:t>
                      </a:r>
                    </a:p>
                  </a:txBody>
                </a:tc>
                <a:tc>
                  <a:txBody>
                    <a:bodyPr/>
                    <a:lstStyle/>
                    <a:p>
                      <a:pPr lvl="0" indent="0" marL="0">
                        <a:buNone/>
                      </a:pPr>
                      <a:r>
                        <a:rPr/>
                        <a:t>Siloed logs</a:t>
                      </a:r>
                    </a:p>
                  </a:txBody>
                </a:tc>
                <a:tc>
                  <a:txBody>
                    <a:bodyPr/>
                    <a:lstStyle/>
                    <a:p>
                      <a:pPr lvl="0" indent="0" marL="0">
                        <a:buNone/>
                      </a:pPr>
                      <a:r>
                        <a:rPr/>
                        <a:t>No conversation-level correlation</a:t>
                      </a:r>
                    </a:p>
                  </a:txBody>
                </a:tc>
              </a:tr>
              <a:tr h="0">
                <a:tc>
                  <a:txBody>
                    <a:bodyPr/>
                    <a:lstStyle/>
                    <a:p>
                      <a:pPr lvl="0" indent="0" marL="0">
                        <a:buNone/>
                      </a:pPr>
                      <a:r>
                        <a:rPr/>
                        <a:t>Governance</a:t>
                      </a:r>
                    </a:p>
                  </a:txBody>
                </a:tc>
                <a:tc>
                  <a:txBody>
                    <a:bodyPr/>
                    <a:lstStyle/>
                    <a:p>
                      <a:pPr lvl="0" indent="0" marL="0">
                        <a:buNone/>
                      </a:pPr>
                      <a:r>
                        <a:rPr/>
                        <a:t>Email/tickets</a:t>
                      </a:r>
                    </a:p>
                  </a:txBody>
                </a:tc>
                <a:tc>
                  <a:txBody>
                    <a:bodyPr/>
                    <a:lstStyle/>
                    <a:p>
                      <a:pPr lvl="0" indent="0" marL="0">
                        <a:buNone/>
                      </a:pPr>
                      <a:r>
                        <a:rPr/>
                        <a:t>No automated enforcement</a:t>
                      </a:r>
                    </a:p>
                  </a:txBody>
                </a:tc>
              </a:tr>
              <a:tr h="0">
                <a:tc>
                  <a:txBody>
                    <a:bodyPr/>
                    <a:lstStyle/>
                    <a:p>
                      <a:pPr lvl="0" indent="0" marL="0">
                        <a:buNone/>
                      </a:pPr>
                      <a:r>
                        <a:rPr/>
                        <a:t>Data Protection</a:t>
                      </a:r>
                    </a:p>
                  </a:txBody>
                </a:tc>
                <a:tc>
                  <a:txBody>
                    <a:bodyPr/>
                    <a:lstStyle/>
                    <a:p>
                      <a:pPr lvl="0" indent="0" marL="0">
                        <a:buNone/>
                      </a:pPr>
                      <a:r>
                        <a:rPr/>
                        <a:t>Manual classification</a:t>
                      </a:r>
                    </a:p>
                  </a:txBody>
                </a:tc>
                <a:tc>
                  <a:txBody>
                    <a:bodyPr/>
                    <a:lstStyle/>
                    <a:p>
                      <a:pPr lvl="0" indent="0" marL="0">
                        <a:buNone/>
                      </a:pPr>
                      <a:r>
                        <a:rPr/>
                        <a:t>No data-aware routing</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6 — Program Outcomes</a:t>
            </a:r>
          </a:p>
          <a:p>
            <a:pPr lvl="0"/>
            <a:r>
              <a:rPr/>
              <a:t>Reduced latency and improved M365 performance</a:t>
            </a:r>
          </a:p>
          <a:p>
            <a:pPr lvl="0"/>
            <a:r>
              <a:rPr/>
              <a:t>Stronger identity governance and compliance</a:t>
            </a:r>
          </a:p>
          <a:p>
            <a:pPr lvl="0"/>
            <a:r>
              <a:rPr/>
              <a:t>Accurate addressing and location inference</a:t>
            </a:r>
          </a:p>
          <a:p>
            <a:pPr lvl="0"/>
            <a:r>
              <a:rPr/>
              <a:t>Real-time telemetry for routing and security</a:t>
            </a:r>
          </a:p>
          <a:p>
            <a:pPr lvl="0"/>
            <a:r>
              <a:rPr/>
              <a:t>TIC 3.0 compliance across cloud and branch</a:t>
            </a:r>
          </a:p>
          <a:p>
            <a:pPr lvl="0"/>
            <a:r>
              <a:rPr/>
              <a:t>A drop-in overlay delivering cross-service telemetry and identity correlation where native platforms cannot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7. Runtime Model</a:t>
            </a:r>
          </a:p>
        </p:txBody>
      </p:sp>
      <p:sp>
        <p:nvSpPr>
          <p:cNvPr id="3" name="Content Placeholder 2"/>
          <p:cNvSpPr>
            <a:spLocks noGrp="1"/>
          </p:cNvSpPr>
          <p:nvPr>
            <p:ph idx="1"/>
          </p:nvPr>
        </p:nvSpPr>
        <p:spPr/>
        <p:txBody>
          <a:bodyPr/>
          <a:lstStyle/>
          <a:p>
            <a:pPr lvl="0" indent="0" marL="0">
              <a:spcBef>
                <a:spcPts val="3000"/>
              </a:spcBef>
              <a:buNone/>
            </a:pPr>
            <a:r>
              <a:rPr b="1"/>
              <a:t>Conversation Flow</a:t>
            </a:r>
          </a:p>
          <a:p>
            <a:pPr lvl="0" indent="-342900" marL="342900">
              <a:buAutoNum type="arabicPeriod"/>
            </a:pPr>
            <a:r>
              <a:rPr/>
              <a:t>Identity initiates</a:t>
            </a:r>
          </a:p>
          <a:p>
            <a:pPr lvl="0" indent="-342900" marL="342900">
              <a:buAutoNum type="arabicPeriod"/>
            </a:pPr>
            <a:r>
              <a:rPr/>
              <a:t>Addressing binds</a:t>
            </a:r>
          </a:p>
          <a:p>
            <a:pPr lvl="0" indent="-342900" marL="342900">
              <a:buAutoNum type="arabicPeriod"/>
            </a:pPr>
            <a:r>
              <a:rPr/>
              <a:t>Certificates authenticate</a:t>
            </a:r>
          </a:p>
          <a:p>
            <a:pPr lvl="0" indent="-342900" marL="342900">
              <a:buAutoNum type="arabicPeriod"/>
            </a:pPr>
            <a:r>
              <a:rPr/>
              <a:t>Overlay establishes path</a:t>
            </a:r>
          </a:p>
          <a:p>
            <a:pPr lvl="0" indent="-342900" marL="342900">
              <a:buAutoNum type="arabicPeriod"/>
            </a:pPr>
            <a:r>
              <a:rPr/>
              <a:t>Telemetry validates</a:t>
            </a:r>
          </a:p>
          <a:p>
            <a:pPr lvl="0" indent="-342900" marL="342900">
              <a:buAutoNum type="arabicPeriod"/>
            </a:pPr>
            <a:r>
              <a:rPr/>
              <a:t>Policy evaluates continuously</a:t>
            </a:r>
          </a:p>
          <a:p>
            <a:pPr lvl="0" indent="0" marL="0">
              <a:spcBef>
                <a:spcPts val="3000"/>
              </a:spcBef>
              <a:buNone/>
            </a:pPr>
            <a:r>
              <a:rPr b="1"/>
              <a:t>Determinism</a:t>
            </a:r>
          </a:p>
          <a:p>
            <a:pPr lvl="0" indent="0" marL="0">
              <a:buNone/>
            </a:pPr>
            <a:r>
              <a:rPr/>
              <a:t>Given identical identity, boundary, telemetry, and assurance inputs, the system produces identical decisions across clouds and agencies.</a:t>
            </a:r>
          </a:p>
          <a:p>
            <a:pPr lvl="0" indent="0" marL="0">
              <a:spcBef>
                <a:spcPts val="3000"/>
              </a:spcBef>
              <a:buNone/>
            </a:pPr>
            <a:r>
              <a:rPr b="1"/>
              <a:t>Continuous Evaluation</a:t>
            </a:r>
          </a:p>
          <a:p>
            <a:pPr lvl="0" indent="0" marL="0">
              <a:buNone/>
            </a:pPr>
            <a:r>
              <a:rPr/>
              <a:t>Telemetry continuously informs routing, access, segmentation, and compliance posture.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8. Compliance Mapping</a:t>
            </a:r>
          </a:p>
        </p:txBody>
      </p:sp>
      <p:sp>
        <p:nvSpPr>
          <p:cNvPr id="3" name="Content Placeholder 2"/>
          <p:cNvSpPr>
            <a:spLocks noGrp="1"/>
          </p:cNvSpPr>
          <p:nvPr>
            <p:ph idx="1"/>
          </p:nvPr>
        </p:nvSpPr>
        <p:spPr/>
        <p:txBody>
          <a:bodyPr/>
          <a:lstStyle/>
          <a:p>
            <a:pPr lvl="0" indent="0" marL="0">
              <a:spcBef>
                <a:spcPts val="3000"/>
              </a:spcBef>
              <a:buNone/>
            </a:pPr>
            <a:r>
              <a:rPr b="1"/>
              <a:t>FedRAMP 20x</a:t>
            </a:r>
          </a:p>
          <a:p>
            <a:pPr lvl="0"/>
            <a:r>
              <a:rPr/>
              <a:t>Class C (Moderate)</a:t>
            </a:r>
          </a:p>
          <a:p>
            <a:pPr lvl="0"/>
            <a:r>
              <a:rPr/>
              <a:t>Telemetry-based validation</a:t>
            </a:r>
          </a:p>
          <a:p>
            <a:pPr lvl="0"/>
            <a:r>
              <a:rPr/>
              <a:t>OSCAL machine-readability</a:t>
            </a:r>
          </a:p>
          <a:p>
            <a:pPr lvl="0"/>
            <a:r>
              <a:rPr/>
              <a:t>Automated evidence generation</a:t>
            </a:r>
          </a:p>
          <a:p>
            <a:pPr lvl="0" indent="0" marL="0">
              <a:spcBef>
                <a:spcPts val="3000"/>
              </a:spcBef>
              <a:buNone/>
            </a:pPr>
            <a:r>
              <a:rPr b="1"/>
              <a:t>TIC 3.0</a:t>
            </a:r>
          </a:p>
          <a:p>
            <a:pPr lvl="0"/>
            <a:r>
              <a:rPr/>
              <a:t>Cloud Use Case</a:t>
            </a:r>
          </a:p>
          <a:p>
            <a:pPr lvl="0"/>
            <a:r>
              <a:rPr/>
              <a:t>Branch Use Case</a:t>
            </a:r>
          </a:p>
          <a:p>
            <a:pPr lvl="0"/>
            <a:r>
              <a:rPr/>
              <a:t>Identity-centric segmentation</a:t>
            </a:r>
          </a:p>
          <a:p>
            <a:pPr lvl="0" indent="0" marL="0">
              <a:spcBef>
                <a:spcPts val="3000"/>
              </a:spcBef>
              <a:buNone/>
            </a:pPr>
            <a:r>
              <a:rPr b="1"/>
              <a:t>NIST 800-63</a:t>
            </a:r>
          </a:p>
          <a:p>
            <a:pPr lvl="0"/>
            <a:r>
              <a:rPr/>
              <a:t>Identity assurance</a:t>
            </a:r>
          </a:p>
          <a:p>
            <a:pPr lvl="0"/>
            <a:r>
              <a:rPr/>
              <a:t>Authentication modernization</a:t>
            </a:r>
          </a:p>
          <a:p>
            <a:pPr lvl="0"/>
            <a:r>
              <a:rPr/>
              <a:t>ICAM governance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9. Dependencies and Sequencing</a:t>
            </a:r>
          </a:p>
        </p:txBody>
      </p:sp>
      <p:sp>
        <p:nvSpPr>
          <p:cNvPr id="4" name="Text Placeholder 3"/>
          <p:cNvSpPr>
            <a:spLocks noGrp="1"/>
          </p:cNvSpPr>
          <p:nvPr>
            <p:ph idx="2" sz="half" type="body"/>
          </p:nvPr>
        </p:nvSpPr>
        <p:spPr/>
        <p:txBody>
          <a:bodyPr/>
          <a:lstStyle/>
          <a:p>
            <a:pPr lvl="0" indent="0" marL="0">
              <a:spcBef>
                <a:spcPts val="3000"/>
              </a:spcBef>
              <a:buNone/>
            </a:pPr>
            <a:r>
              <a:rPr b="1"/>
              <a:t>Upstream Dependencies</a:t>
            </a:r>
          </a:p>
          <a:p>
            <a:pPr lvl="0"/>
            <a:r>
              <a:rPr>
                <a:latin typeface="Courier"/>
              </a:rPr>
              <a:t>00_ControlPlaneArchitecture.md</a:t>
            </a:r>
            <a:r>
              <a:rPr/>
              <a:t> — defines the six planes referenced throughout</a:t>
            </a:r>
          </a:p>
          <a:p>
            <a:pPr lvl="0"/>
            <a:r>
              <a:rPr>
                <a:latin typeface="Courier"/>
              </a:rPr>
              <a:t>01_UnifiedArchitecture.md</a:t>
            </a:r>
            <a:r>
              <a:rPr/>
              <a:t> — provides the unified architecture model</a:t>
            </a:r>
          </a:p>
          <a:p>
            <a:pPr lvl="0"/>
            <a:r>
              <a:rPr>
                <a:latin typeface="Courier"/>
              </a:rPr>
              <a:t>06_ProgramVision.md</a:t>
            </a:r>
            <a:r>
              <a:rPr/>
              <a:t> — establishes strategic intent and guiding principles</a:t>
            </a:r>
          </a:p>
          <a:p>
            <a:pPr lvl="0" indent="0" marL="0">
              <a:spcBef>
                <a:spcPts val="3000"/>
              </a:spcBef>
              <a:buNone/>
            </a:pPr>
            <a:r>
              <a:rPr b="1"/>
              <a:t>Downstream Dependencies</a:t>
            </a:r>
          </a:p>
          <a:p>
            <a:pPr lvl="0"/>
            <a:r>
              <a:rPr>
                <a:latin typeface="Courier"/>
              </a:rPr>
              <a:t>08_ModernizationTimeline.md</a:t>
            </a:r>
            <a:r>
              <a:rPr/>
              <a:t> — expands the timeline summary in Slide 11</a:t>
            </a:r>
          </a:p>
          <a:p>
            <a:pPr lvl="0"/>
            <a:r>
              <a:rPr>
                <a:latin typeface="Courier"/>
              </a:rPr>
              <a:t>09_CrosswalkIndex.md</a:t>
            </a:r>
            <a:r>
              <a:rPr/>
              <a:t> — indexes control mappings referenced in compliance alignment</a:t>
            </a:r>
          </a:p>
          <a:p>
            <a:pPr lvl="0" indent="0" marL="0">
              <a:spcBef>
                <a:spcPts val="3000"/>
              </a:spcBef>
              <a:buNone/>
            </a:pPr>
            <a:r>
              <a:rPr b="1"/>
              <a:t>Modernization Timeline (Summary)</a:t>
            </a:r>
          </a:p>
          <a:p>
            <a:pPr lvl="0" indent="0" marL="0">
              <a:buNone/>
            </a:pPr>
            <a:r>
              <a:rPr/>
              <a:t>Aligned to Workstreams A-D:</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Month</a:t>
                      </a:r>
                    </a:p>
                  </a:txBody>
                  <a:tcPr/>
                </a:tc>
                <a:tc>
                  <a:txBody>
                    <a:bodyPr/>
                    <a:lstStyle/>
                    <a:p>
                      <a:pPr lvl="0" indent="0" marL="0">
                        <a:buNone/>
                      </a:pPr>
                      <a:r>
                        <a:rPr/>
                        <a:t>Milestone</a:t>
                      </a:r>
                    </a:p>
                  </a:txBody>
                  <a:tcPr/>
                </a:tc>
              </a:tr>
              <a:tr h="0">
                <a:tc>
                  <a:txBody>
                    <a:bodyPr/>
                    <a:lstStyle/>
                    <a:p>
                      <a:pPr lvl="0" indent="0" marL="0">
                        <a:buNone/>
                      </a:pPr>
                      <a:r>
                        <a:rPr/>
                        <a:t>Month 1</a:t>
                      </a:r>
                    </a:p>
                  </a:txBody>
                </a:tc>
                <a:tc>
                  <a:txBody>
                    <a:bodyPr/>
                    <a:lstStyle/>
                    <a:p>
                      <a:pPr lvl="0" indent="0" marL="0">
                        <a:buNone/>
                      </a:pPr>
                      <a:r>
                        <a:rPr/>
                        <a:t>Identity, SD-WAN, IPAM, Telemetry HLDs</a:t>
                      </a:r>
                    </a:p>
                  </a:txBody>
                </a:tc>
              </a:tr>
              <a:tr h="0">
                <a:tc>
                  <a:txBody>
                    <a:bodyPr/>
                    <a:lstStyle/>
                    <a:p>
                      <a:pPr lvl="0" indent="0" marL="0">
                        <a:buNone/>
                      </a:pPr>
                      <a:r>
                        <a:rPr/>
                        <a:t>Month 2</a:t>
                      </a:r>
                    </a:p>
                  </a:txBody>
                </a:tc>
                <a:tc>
                  <a:txBody>
                    <a:bodyPr/>
                    <a:lstStyle/>
                    <a:p>
                      <a:pPr lvl="0" indent="0" marL="0">
                        <a:buNone/>
                      </a:pPr>
                      <a:r>
                        <a:rPr/>
                        <a:t>Conditional Access, LLDs, DNS/DHCP, Location Services</a:t>
                      </a:r>
                    </a:p>
                  </a:txBody>
                </a:tc>
              </a:tr>
              <a:tr h="0">
                <a:tc>
                  <a:txBody>
                    <a:bodyPr/>
                    <a:lstStyle/>
                    <a:p>
                      <a:pPr lvl="0" indent="0" marL="0">
                        <a:buNone/>
                      </a:pPr>
                      <a:r>
                        <a:rPr/>
                        <a:t>Month 3</a:t>
                      </a:r>
                    </a:p>
                  </a:txBody>
                </a:tc>
                <a:tc>
                  <a:txBody>
                    <a:bodyPr/>
                    <a:lstStyle/>
                    <a:p>
                      <a:pPr lvl="0" indent="0" marL="0">
                        <a:buNone/>
                      </a:pPr>
                      <a:r>
                        <a:rPr/>
                        <a:t>MFA/SSPR, DIA pilots, Cloud IPAM, E911</a:t>
                      </a:r>
                    </a:p>
                  </a:txBody>
                </a:tc>
              </a:tr>
              <a:tr h="0">
                <a:tc>
                  <a:txBody>
                    <a:bodyPr/>
                    <a:lstStyle/>
                    <a:p>
                      <a:pPr lvl="0" indent="0" marL="0">
                        <a:buNone/>
                      </a:pPr>
                      <a:r>
                        <a:rPr/>
                        <a:t>Month 4</a:t>
                      </a:r>
                    </a:p>
                  </a:txBody>
                </a:tc>
                <a:tc>
                  <a:txBody>
                    <a:bodyPr/>
                    <a:lstStyle/>
                    <a:p>
                      <a:pPr lvl="0" indent="0" marL="0">
                        <a:buNone/>
                      </a:pPr>
                      <a:r>
                        <a:rPr/>
                        <a:t>Segmentation, Telemetry export, IPAM integrations</a:t>
                      </a:r>
                    </a:p>
                  </a:txBody>
                </a:tc>
              </a:tr>
              <a:tr h="0">
                <a:tc>
                  <a:txBody>
                    <a:bodyPr/>
                    <a:lstStyle/>
                    <a:p>
                      <a:pPr lvl="0" indent="0" marL="0">
                        <a:buNone/>
                      </a:pPr>
                      <a:r>
                        <a:rPr/>
                        <a:t>Month 5</a:t>
                      </a:r>
                    </a:p>
                  </a:txBody>
                </a:tc>
                <a:tc>
                  <a:txBody>
                    <a:bodyPr/>
                    <a:lstStyle/>
                    <a:p>
                      <a:pPr lvl="0" indent="0" marL="0">
                        <a:buNone/>
                      </a:pPr>
                      <a:r>
                        <a:rPr/>
                        <a:t>ICAM governance, Identity-aware routing, TIC 3.0 Cloud</a:t>
                      </a:r>
                    </a:p>
                  </a:txBody>
                </a:tc>
              </a:tr>
              <a:tr h="0">
                <a:tc>
                  <a:txBody>
                    <a:bodyPr/>
                    <a:lstStyle/>
                    <a:p>
                      <a:pPr lvl="0" indent="0" marL="0">
                        <a:buNone/>
                      </a:pPr>
                      <a:r>
                        <a:rPr/>
                        <a:t>Month 6</a:t>
                      </a:r>
                    </a:p>
                  </a:txBody>
                </a:tc>
                <a:tc>
                  <a:txBody>
                    <a:bodyPr/>
                    <a:lstStyle/>
                    <a:p>
                      <a:pPr lvl="0" indent="0" marL="0">
                        <a:buNone/>
                      </a:pPr>
                      <a:r>
                        <a:rPr/>
                        <a:t>INR readiness, IPAM automation, TIC 3.0 Branch, CDM/CLAW</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10. Governance and Drift Controls</a:t>
            </a:r>
          </a:p>
        </p:txBody>
      </p:sp>
      <p:sp>
        <p:nvSpPr>
          <p:cNvPr id="3" name="Content Placeholder 2"/>
          <p:cNvSpPr>
            <a:spLocks noGrp="1"/>
          </p:cNvSpPr>
          <p:nvPr>
            <p:ph idx="1"/>
          </p:nvPr>
        </p:nvSpPr>
        <p:spPr/>
        <p:txBody>
          <a:bodyPr/>
          <a:lstStyle/>
          <a:p>
            <a:pPr lvl="0" indent="0" marL="0">
              <a:spcBef>
                <a:spcPts val="3000"/>
              </a:spcBef>
              <a:buNone/>
            </a:pPr>
            <a:r>
              <a:rPr b="1"/>
              <a:t>Source of Authority</a:t>
            </a:r>
          </a:p>
          <a:p>
            <a:pPr lvl="0"/>
            <a:r>
              <a:rPr/>
              <a:t>HR — identity lifecycle</a:t>
            </a:r>
          </a:p>
          <a:p>
            <a:pPr lvl="0"/>
            <a:r>
              <a:rPr/>
              <a:t>Network architecture — addressing</a:t>
            </a:r>
          </a:p>
          <a:p>
            <a:pPr lvl="0"/>
            <a:r>
              <a:rPr/>
              <a:t>PKI — certificate trust</a:t>
            </a:r>
          </a:p>
          <a:p>
            <a:pPr lvl="0"/>
            <a:r>
              <a:rPr/>
              <a:t>System owners — configuration baselines</a:t>
            </a:r>
          </a:p>
          <a:p>
            <a:pPr lvl="0" indent="0" marL="0">
              <a:spcBef>
                <a:spcPts val="3000"/>
              </a:spcBef>
              <a:buNone/>
            </a:pPr>
            <a:r>
              <a:rPr b="1"/>
              <a:t>Drift Detection</a:t>
            </a:r>
          </a:p>
          <a:p>
            <a:pPr lvl="0"/>
            <a:r>
              <a:rPr/>
              <a:t>CMDB reconciliation</a:t>
            </a:r>
          </a:p>
          <a:p>
            <a:pPr lvl="0"/>
            <a:r>
              <a:rPr/>
              <a:t>Intune compliance</a:t>
            </a:r>
          </a:p>
          <a:p>
            <a:pPr lvl="0"/>
            <a:r>
              <a:rPr/>
              <a:t>SD-WAN overlay validation</a:t>
            </a:r>
          </a:p>
          <a:p>
            <a:pPr lvl="0"/>
            <a:r>
              <a:rPr/>
              <a:t>IPAM reconciliation</a:t>
            </a:r>
          </a:p>
          <a:p>
            <a:pPr lvl="0" indent="0" marL="0">
              <a:spcBef>
                <a:spcPts val="3000"/>
              </a:spcBef>
              <a:buNone/>
            </a:pPr>
            <a:r>
              <a:rPr b="1"/>
              <a:t>Remediation Workflow</a:t>
            </a:r>
          </a:p>
          <a:p>
            <a:pPr lvl="0"/>
            <a:r>
              <a:rPr/>
              <a:t>Automated ServiceNow change</a:t>
            </a:r>
          </a:p>
          <a:p>
            <a:pPr lvl="0"/>
            <a:r>
              <a:rPr/>
              <a:t>Conditional Access enforcement</a:t>
            </a:r>
          </a:p>
          <a:p>
            <a:pPr lvl="0"/>
            <a:r>
              <a:rPr/>
              <a:t>Certificate renewal</a:t>
            </a:r>
          </a:p>
          <a:p>
            <a:pPr lvl="0"/>
            <a:r>
              <a:rPr/>
              <a:t>IPAM correction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11. Appendices</a:t>
            </a:r>
          </a:p>
        </p:txBody>
      </p:sp>
      <p:sp>
        <p:nvSpPr>
          <p:cNvPr id="3" name="Content Placeholder 2"/>
          <p:cNvSpPr>
            <a:spLocks noGrp="1"/>
          </p:cNvSpPr>
          <p:nvPr>
            <p:ph idx="1"/>
          </p:nvPr>
        </p:nvSpPr>
        <p:spPr/>
        <p:txBody>
          <a:bodyPr/>
          <a:lstStyle/>
          <a:p>
            <a:pPr lvl="0" indent="0" marL="0">
              <a:spcBef>
                <a:spcPts val="3000"/>
              </a:spcBef>
              <a:buNone/>
            </a:pPr>
            <a:r>
              <a:rPr b="1"/>
              <a:t>Appendix A: Definitions</a:t>
            </a:r>
          </a:p>
          <a:p>
            <a:pPr lvl="0" indent="0" marL="0">
              <a:buNone/>
            </a:pPr>
            <a:r>
              <a:rPr i="1"/>
              <a:t>See </a:t>
            </a:r>
            <a:r>
              <a:rPr i="1">
                <a:latin typeface="Courier"/>
              </a:rPr>
              <a:t>docs/glossary.md</a:t>
            </a:r>
          </a:p>
          <a:p>
            <a:pPr lvl="0" indent="0" marL="0">
              <a:spcBef>
                <a:spcPts val="3000"/>
              </a:spcBef>
              <a:buNone/>
            </a:pPr>
            <a:r>
              <a:rPr b="1"/>
              <a:t>Appendix B: Tables</a:t>
            </a:r>
          </a:p>
          <a:p>
            <a:pPr lvl="0" indent="0" marL="0">
              <a:buNone/>
            </a:pPr>
            <a:r>
              <a:rPr i="1"/>
              <a:t>Control Plane Alignment table is in Section 4. Frozen State Analysis is in Section 6.5. Timeline is in Section 9.</a:t>
            </a:r>
          </a:p>
          <a:p>
            <a:pPr lvl="0" indent="0" marL="0">
              <a:spcBef>
                <a:spcPts val="3000"/>
              </a:spcBef>
              <a:buNone/>
            </a:pPr>
            <a:r>
              <a:rPr b="1"/>
              <a:t>Appendix C: Diagram References</a:t>
            </a:r>
          </a:p>
          <a:p>
            <a:pPr lvl="0" indent="0" marL="0">
              <a:buNone/>
            </a:pPr>
            <a:r>
              <a:rPr i="1"/>
              <a:t>See </a:t>
            </a:r>
            <a:r>
              <a:rPr i="1">
                <a:latin typeface="Courier"/>
              </a:rPr>
              <a:t>docs/images/</a:t>
            </a:r>
            <a:r>
              <a:rPr i="1"/>
              <a:t> for all referenced architecture diagrams.</a:t>
            </a:r>
          </a:p>
          <a:p>
            <a:pPr lvl="0" indent="0" marL="0">
              <a:spcBef>
                <a:spcPts val="3000"/>
              </a:spcBef>
              <a:buNone/>
            </a:pPr>
            <a:r>
              <a:rPr b="1"/>
              <a:t>Appendix D: Evidence Sources</a:t>
            </a:r>
          </a:p>
          <a:p>
            <a:pPr lvl="0" indent="0" marL="0">
              <a:buNone/>
            </a:pPr>
            <a:r>
              <a:rPr i="1"/>
              <a:t>See </a:t>
            </a:r>
            <a:r>
              <a:rPr i="1">
                <a:latin typeface="Courier"/>
              </a:rPr>
              <a:t>data/parameters.yml</a:t>
            </a:r>
            <a:r>
              <a:rPr i="1"/>
              <a:t> and control-library entries for evidence source catalogs.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12. Revision History</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Version</a:t>
                      </a:r>
                    </a:p>
                  </a:txBody>
                  <a:tcPr/>
                </a:tc>
                <a:tc>
                  <a:txBody>
                    <a:bodyPr/>
                    <a:lstStyle/>
                    <a:p>
                      <a:pPr lvl="0" indent="0" marL="0">
                        <a:buNone/>
                      </a:pPr>
                      <a:r>
                        <a:rPr/>
                        <a:t>Date</a:t>
                      </a:r>
                    </a:p>
                  </a:txBody>
                  <a:tcPr/>
                </a:tc>
                <a:tc>
                  <a:txBody>
                    <a:bodyPr/>
                    <a:lstStyle/>
                    <a:p>
                      <a:pPr lvl="0" indent="0" marL="0">
                        <a:buNone/>
                      </a:pPr>
                      <a:r>
                        <a:rPr/>
                        <a:t>Author</a:t>
                      </a:r>
                    </a:p>
                  </a:txBody>
                  <a:tcPr/>
                </a:tc>
                <a:tc>
                  <a:txBody>
                    <a:bodyPr/>
                    <a:lstStyle/>
                    <a:p>
                      <a:pPr lvl="0" indent="0" marL="0">
                        <a:buNone/>
                      </a:pPr>
                      <a:r>
                        <a:rPr/>
                        <a:t>Summary</a:t>
                      </a:r>
                    </a:p>
                  </a:txBody>
                  <a:tcPr/>
                </a:tc>
              </a:tr>
              <a:tr h="0">
                <a:tc>
                  <a:txBody>
                    <a:bodyPr/>
                    <a:lstStyle/>
                    <a:p>
                      <a:pPr lvl="0" indent="0" marL="0">
                        <a:buNone/>
                      </a:pPr>
                      <a:r>
                        <a:rPr/>
                        <a:t>1.0</a:t>
                      </a:r>
                    </a:p>
                  </a:txBody>
                </a:tc>
                <a:tc>
                  <a:txBody>
                    <a:bodyPr/>
                    <a:lstStyle/>
                    <a:p>
                      <a:pPr lvl="0" indent="0" marL="0">
                        <a:buNone/>
                      </a:pPr>
                      <a:r>
                        <a:rPr/>
                        <a:t>2026-03</a:t>
                      </a:r>
                    </a:p>
                  </a:txBody>
                </a:tc>
                <a:tc>
                  <a:txBody>
                    <a:bodyPr/>
                    <a:lstStyle/>
                    <a:p>
                      <a:pPr lvl="0" indent="0" marL="0">
                        <a:buNone/>
                      </a:pPr>
                      <a:r>
                        <a:rPr/>
                        <a:t>UIAO Canon Engine</a:t>
                      </a:r>
                    </a:p>
                  </a:txBody>
                </a:tc>
                <a:tc>
                  <a:txBody>
                    <a:bodyPr/>
                    <a:lstStyle/>
                    <a:p>
                      <a:pPr lvl="0" indent="0" marL="0">
                        <a:buNone/>
                      </a:pPr>
                      <a:r>
                        <a:rPr/>
                        <a:t>Initial canonical release</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07 Leadershipbriefing</dc:title>
  <dc:creator>UIAO Modernization Program</dc:creator>
  <cp:keywords/>
  <dcterms:created xsi:type="dcterms:W3CDTF">2026-04-03T14:32:25Z</dcterms:created>
  <dcterms:modified xsi:type="dcterms:W3CDTF">2026-04-03T14:32:25Z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rossref">
    <vt:lpwstr/>
  </property>
  <property fmtid="{D5CDD505-2E9C-101B-9397-08002B2CF9AE}" pid="6" name="date">
    <vt:lpwstr>April 3, 2026</vt:lpwstr>
  </property>
  <property fmtid="{D5CDD505-2E9C-101B-9397-08002B2CF9AE}" pid="7" name="date-format">
    <vt:lpwstr>MMMM D, YYYY</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mermaid">
    <vt:lpwstr/>
  </property>
  <property fmtid="{D5CDD505-2E9C-101B-9397-08002B2CF9AE}" pid="13" name="toc-title">
    <vt:lpwstr>Table of contents</vt:lpwstr>
  </property>
</Properties>
</file>