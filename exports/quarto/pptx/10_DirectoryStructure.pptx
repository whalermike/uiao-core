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10 Directorystructure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UIAO Modernization Program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March 31,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UIAO Canonical Directory Structure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1. Title Page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Value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Version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March 2026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Classification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CUI/FOUO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Source Planes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Identity, Network, Addressing, Telemetry, Security, Management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Document Type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Repository Structure (02_Appendices)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2. 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document defines the authoritative directory structure for the Unified Identity-Addressing-Overlay (UIAO) repository. It establishes the canonical layout, naming conventions, numbering rules, and document placement required to maintain a deterministic, drift-resistant, self-navigating modernization canon.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3.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Included</a:t>
            </a:r>
          </a:p>
          <a:p>
            <a:pPr lvl="0"/>
            <a:r>
              <a:rPr/>
              <a:t>Canonical folder structure</a:t>
            </a:r>
          </a:p>
          <a:p>
            <a:pPr lvl="0"/>
            <a:r>
              <a:rPr/>
              <a:t>Naming conventions</a:t>
            </a:r>
          </a:p>
          <a:p>
            <a:pPr lvl="0"/>
            <a:r>
              <a:rPr/>
              <a:t>Numbering rules</a:t>
            </a:r>
          </a:p>
          <a:p>
            <a:pPr lvl="0"/>
            <a:r>
              <a:rPr/>
              <a:t>Document placement rules</a:t>
            </a:r>
          </a:p>
          <a:p>
            <a:pPr lvl="0"/>
            <a:r>
              <a:rPr/>
              <a:t>Cross-reference expectations</a:t>
            </a:r>
          </a:p>
          <a:p>
            <a:pPr lvl="0"/>
            <a:r>
              <a:rPr/>
              <a:t>Governance and drift-control requirements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Excluded</a:t>
            </a:r>
          </a:p>
          <a:p>
            <a:pPr lvl="0"/>
            <a:r>
              <a:rPr/>
              <a:t>GitHub Actions workflows</a:t>
            </a:r>
          </a:p>
          <a:p>
            <a:pPr lvl="0"/>
            <a:r>
              <a:rPr/>
              <a:t>Build pipelines</a:t>
            </a:r>
          </a:p>
          <a:p>
            <a:pPr lvl="0"/>
            <a:r>
              <a:rPr/>
              <a:t>Export automation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4. Control Plane Alignment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supports all six UIAO control planes: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 Role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Identity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Root namespace for identity-aligned documents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Network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SD-WAN, segmentation, routing artifacts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Addressing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IPAM, DNS/DHCP, deterministic addressing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 and Location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Telemetry, INR, E911, SIEM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Security and 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FedRAMP, TIC 3.0, SCuBA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CMDB, Intune, drift detection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plane has a predictable location in the repository.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5. Core Concepts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operationalizes the Seven Core Concepts:</a:t>
            </a:r>
          </a:p>
          <a:p>
            <a:pPr lvl="0" indent="-342900" marL="342900">
              <a:buAutoNum type="arabicPeriod"/>
            </a:pPr>
            <a:r>
              <a:rPr b="1"/>
              <a:t>Conversation as the atomic unit</a:t>
            </a:r>
            <a:r>
              <a:rPr/>
              <a:t> — Document relationships reflect runtime flow</a:t>
            </a:r>
          </a:p>
          <a:p>
            <a:pPr lvl="0" indent="-342900" marL="342900">
              <a:buAutoNum type="arabicPeriod"/>
            </a:pPr>
            <a:r>
              <a:rPr b="1"/>
              <a:t>Identity as the root namespace</a:t>
            </a:r>
            <a:r>
              <a:rPr/>
              <a:t> — Identity documents appear first</a:t>
            </a:r>
          </a:p>
          <a:p>
            <a:pPr lvl="0" indent="-342900" marL="342900">
              <a:buAutoNum type="arabicPeriod"/>
            </a:pPr>
            <a:r>
              <a:rPr b="1"/>
              <a:t>Deterministic addressing</a:t>
            </a:r>
            <a:r>
              <a:rPr/>
              <a:t> — Numbering is deterministic and stable</a:t>
            </a:r>
          </a:p>
          <a:p>
            <a:pPr lvl="0" indent="-342900" marL="342900">
              <a:buAutoNum type="arabicPeriod"/>
            </a:pPr>
            <a:r>
              <a:rPr b="1"/>
              <a:t>Certificate-anchored overlay</a:t>
            </a:r>
            <a:r>
              <a:rPr/>
              <a:t> — Security documents grouped consistently</a:t>
            </a:r>
          </a:p>
          <a:p>
            <a:pPr lvl="0" indent="-342900" marL="342900">
              <a:buAutoNum type="arabicPeriod"/>
            </a:pPr>
            <a:r>
              <a:rPr b="1"/>
              <a:t>Telemetry as control</a:t>
            </a:r>
            <a:r>
              <a:rPr/>
              <a:t> — Telemetry documents grouped under compliance</a:t>
            </a:r>
          </a:p>
          <a:p>
            <a:pPr lvl="0" indent="-342900" marL="342900">
              <a:buAutoNum type="arabicPeriod"/>
            </a:pPr>
            <a:r>
              <a:rPr b="1"/>
              <a:t>Embedded governance and automation</a:t>
            </a:r>
            <a:r>
              <a:rPr/>
              <a:t> — Structure supports automation</a:t>
            </a:r>
          </a:p>
          <a:p>
            <a:pPr lvl="0" indent="-342900" marL="342900">
              <a:buAutoNum type="arabicPeriod"/>
            </a:pPr>
            <a:r>
              <a:rPr b="1"/>
              <a:t>Public service first</a:t>
            </a:r>
            <a:r>
              <a:rPr/>
              <a:t> — Clear, accessible, predictable layout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6. Architecture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6.1 Canonical Directory Layout</a:t>
            </a:r>
          </a:p>
          <a:p>
            <a:pPr lvl="0" indent="0" marL="0">
              <a:buNone/>
            </a:pPr>
            <a:r>
              <a:rPr/>
              <a:t>The UIAO repository uses a 12-document canon organized into four phases:</a:t>
            </a:r>
          </a:p>
          <a:p>
            <a:pPr lvl="0" indent="0">
              <a:buNone/>
            </a:pPr>
            <a:r>
              <a:rPr>
                <a:latin typeface="Courier"/>
              </a:rPr>
              <a:t>/docs
   00_ControlPlaneArchitecture.md
   01_UnifiedArchitecture.md
   02_CanonSpecification.md
   03_FedRAMP20x_Crosswalk.md
   04_FedRAMP20x_Phase2_Summary.md
   05_ManagementStack.md
   06_ProgramVision.md
   07_LeadershipBriefing.md
   08_ModernizationTimeline.md
   09_CrosswalkIndex.md
   10_DirectoryStructure.md
   11_GlossaryAndDefinitions.md</a:t>
            </a:r>
          </a:p>
          <a:p>
            <a:pPr lvl="0" indent="0" marL="0">
              <a:buNone/>
            </a:pPr>
            <a:r>
              <a:rPr/>
              <a:t>This structure is deterministic and must not be altered.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6.2 Numbering Rules</a:t>
            </a:r>
          </a:p>
          <a:p>
            <a:pPr lvl="0" indent="0" marL="0">
              <a:buNone/>
            </a:pPr>
            <a:r>
              <a:rPr b="1"/>
              <a:t>Rule 1 — Two-Digit Prefix</a:t>
            </a:r>
          </a:p>
          <a:p>
            <a:pPr lvl="0" indent="0" marL="0">
              <a:buNone/>
            </a:pPr>
            <a:r>
              <a:rPr/>
              <a:t>Every document begins with a two-digit prefix:</a:t>
            </a:r>
          </a:p>
          <a:p>
            <a:pPr lvl="0"/>
            <a:r>
              <a:rPr/>
              <a:t>00-02: Foundational Architecture</a:t>
            </a:r>
          </a:p>
          <a:p>
            <a:pPr lvl="0"/>
            <a:r>
              <a:rPr/>
              <a:t>03-05: Compliance and Governance</a:t>
            </a:r>
          </a:p>
          <a:p>
            <a:pPr lvl="0"/>
            <a:r>
              <a:rPr/>
              <a:t>06-08: Program and Leadership</a:t>
            </a:r>
          </a:p>
          <a:p>
            <a:pPr lvl="0"/>
            <a:r>
              <a:rPr/>
              <a:t>09-11: Index and Metadata</a:t>
            </a:r>
          </a:p>
          <a:p>
            <a:pPr lvl="0" indent="0" marL="0">
              <a:buNone/>
            </a:pPr>
            <a:r>
              <a:rPr b="1"/>
              <a:t>Rule 2 — No Gaps</a:t>
            </a:r>
          </a:p>
          <a:p>
            <a:pPr lvl="0" indent="0" marL="0">
              <a:buNone/>
            </a:pPr>
            <a:r>
              <a:rPr/>
              <a:t>Numbers must remain contiguous. If a document is removed, its number is retired permanently.</a:t>
            </a:r>
          </a:p>
          <a:p>
            <a:pPr lvl="0" indent="0" marL="0">
              <a:buNone/>
            </a:pPr>
            <a:r>
              <a:rPr b="1"/>
              <a:t>Rule 3 — No Renumbering</a:t>
            </a:r>
          </a:p>
          <a:p>
            <a:pPr lvl="0" indent="0" marL="0">
              <a:buNone/>
            </a:pPr>
            <a:r>
              <a:rPr/>
              <a:t>Once assigned, a number is immutable.</a:t>
            </a:r>
          </a:p>
          <a:p>
            <a:pPr lvl="0" indent="0" marL="0">
              <a:buNone/>
            </a:pPr>
            <a:r>
              <a:rPr b="1"/>
              <a:t>Rule 4 — Appendices Use Suffixes</a:t>
            </a:r>
          </a:p>
          <a:p>
            <a:pPr lvl="0" indent="0" marL="0">
              <a:buNone/>
            </a:pPr>
            <a:r>
              <a:rPr/>
              <a:t>Appendices follow the pattern:</a:t>
            </a:r>
          </a:p>
          <a:p>
            <a:pPr lvl="0"/>
            <a:r>
              <a:rPr>
                <a:latin typeface="Courier"/>
              </a:rPr>
              <a:t>A_*.md</a:t>
            </a:r>
          </a:p>
          <a:p>
            <a:pPr lvl="0"/>
            <a:r>
              <a:rPr>
                <a:latin typeface="Courier"/>
              </a:rPr>
              <a:t>B_*.md</a:t>
            </a:r>
          </a:p>
          <a:p>
            <a:pPr lvl="0"/>
            <a:r>
              <a:rPr>
                <a:latin typeface="Courier"/>
              </a:rPr>
              <a:t>C_*.md</a:t>
            </a:r>
          </a:p>
          <a:p>
            <a:pPr lvl="0" indent="0" marL="0">
              <a:buNone/>
            </a:pPr>
            <a:r>
              <a:rPr b="1"/>
              <a:t>Rule 5 — No Nested Directories for Canon Documents</a:t>
            </a:r>
          </a:p>
          <a:p>
            <a:pPr lvl="0" indent="0" marL="0">
              <a:buNone/>
            </a:pPr>
            <a:r>
              <a:rPr/>
              <a:t>All 12 canonical documents live directly under </a:t>
            </a:r>
            <a:r>
              <a:rPr>
                <a:latin typeface="Courier"/>
              </a:rPr>
              <a:t>/docs</a:t>
            </a:r>
            <a:r>
              <a:rPr/>
              <a:t>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7. Runtime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directory structure mirrors the UIAO runtime model: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7.1 Conversation Flow to Document Flow</a:t>
            </a:r>
          </a:p>
          <a:p>
            <a:pPr lvl="0" indent="0" marL="0">
              <a:buNone/>
            </a:pPr>
            <a:r>
              <a:rPr/>
              <a:t>Identity - Addressing - Certificates - Overlay - Telemetry - Policy</a:t>
            </a:r>
          </a:p>
          <a:p>
            <a:pPr lvl="0" indent="0" marL="0">
              <a:buNone/>
            </a:pPr>
            <a:r>
              <a:rPr/>
              <a:t>maps to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7.2 Deterministic Navigation</a:t>
            </a:r>
          </a:p>
          <a:p>
            <a:pPr lvl="0" indent="0" marL="0">
              <a:buNone/>
            </a:pPr>
            <a:r>
              <a:rPr/>
              <a:t>Given the number, the document’s role is always known.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7.3 Continuous Evaluation</a:t>
            </a:r>
          </a:p>
          <a:p>
            <a:pPr lvl="0" indent="0" marL="0">
              <a:buNone/>
            </a:pPr>
            <a:r>
              <a:rPr/>
              <a:t>Crosswalks and governance documents (03-05, 09-11) support continuous monitoring.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8. Directory Structure (Canonical Table)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Number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ControlPlaneArchitecture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Defines the six control planes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UnifiedArchitecture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Cross-plane architectural model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CanonSpecification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Architecture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Doctrinal modernization canon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FedRAMP20x_Crosswalk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Full FedRAMP 20x mapping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FedRAMP20x_Phase2_Summary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Compliance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Modernization-focused summary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ManagementStack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ServiceNow + Intune control plane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ProgramVision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Strategic modernization vision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LeadershipBriefing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Executive slide-deck narrative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ModernizationTimeline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Leadership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PMO-ready sequencing plan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CrosswalkIndex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Master index of all crosswalks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DirectoryStructure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This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GlossaryAndDefinitions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Index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Canonical glossary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9. Dependencies and Sequencing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Upstream Dependencies</a:t>
            </a:r>
          </a:p>
          <a:p>
            <a:pPr lvl="0"/>
            <a:r>
              <a:rPr/>
              <a:t>Identity modernization</a:t>
            </a:r>
          </a:p>
          <a:p>
            <a:pPr lvl="0"/>
            <a:r>
              <a:rPr/>
              <a:t>IPAM modernization</a:t>
            </a:r>
          </a:p>
          <a:p>
            <a:pPr lvl="0"/>
            <a:r>
              <a:rPr/>
              <a:t>SD-WAN overlay deployment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Downstream Dependencies</a:t>
            </a:r>
          </a:p>
          <a:p>
            <a:pPr lvl="0"/>
            <a:r>
              <a:rPr/>
              <a:t>Automation pipelines</a:t>
            </a:r>
          </a:p>
          <a:p>
            <a:pPr lvl="0"/>
            <a:r>
              <a:rPr/>
              <a:t>Crosswalk generation</a:t>
            </a:r>
          </a:p>
          <a:p>
            <a:pPr lvl="0"/>
            <a:r>
              <a:rPr/>
              <a:t>Leadership reporting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Critical Path</a:t>
            </a:r>
          </a:p>
          <a:p>
            <a:pPr lvl="0" indent="0" marL="0">
              <a:buNone/>
            </a:pPr>
            <a:r>
              <a:rPr/>
              <a:t>00 - 01 - 02 - 03 - 04 - 05 - 06 - 07 - 08 - 09 - 10 - 11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10. Governance and Drift Controls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Source of Authority</a:t>
            </a:r>
          </a:p>
          <a:p>
            <a:pPr lvl="0"/>
            <a:r>
              <a:rPr/>
              <a:t>HR — identity lifecycle</a:t>
            </a:r>
          </a:p>
          <a:p>
            <a:pPr lvl="0"/>
            <a:r>
              <a:rPr/>
              <a:t>Network architecture — addressing</a:t>
            </a:r>
          </a:p>
          <a:p>
            <a:pPr lvl="0"/>
            <a:r>
              <a:rPr/>
              <a:t>PKI — certificate trust</a:t>
            </a:r>
          </a:p>
          <a:p>
            <a:pPr lvl="0"/>
            <a:r>
              <a:rPr/>
              <a:t>System owners — configuration baselines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Drift Detection</a:t>
            </a:r>
          </a:p>
          <a:p>
            <a:pPr lvl="0"/>
            <a:r>
              <a:rPr/>
              <a:t>CMDB reconciliation</a:t>
            </a:r>
          </a:p>
          <a:p>
            <a:pPr lvl="0"/>
            <a:r>
              <a:rPr/>
              <a:t>Intune compliance</a:t>
            </a:r>
          </a:p>
          <a:p>
            <a:pPr lvl="0"/>
            <a:r>
              <a:rPr/>
              <a:t>SD-WAN overlay validation</a:t>
            </a:r>
          </a:p>
          <a:p>
            <a:pPr lvl="0"/>
            <a:r>
              <a:rPr/>
              <a:t>IPAM reconciliation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Repository Drift Controls</a:t>
            </a:r>
          </a:p>
          <a:p>
            <a:pPr lvl="0"/>
            <a:r>
              <a:rPr/>
              <a:t>No renumbering</a:t>
            </a:r>
          </a:p>
          <a:p>
            <a:pPr lvl="0"/>
            <a:r>
              <a:rPr/>
              <a:t>No renaming</a:t>
            </a:r>
          </a:p>
          <a:p>
            <a:pPr lvl="0"/>
            <a:r>
              <a:rPr/>
              <a:t>No relocation</a:t>
            </a:r>
          </a:p>
          <a:p>
            <a:pPr lvl="0"/>
            <a:r>
              <a:rPr/>
              <a:t>No duplication</a:t>
            </a:r>
          </a:p>
          <a:p>
            <a:pPr lvl="0"/>
            <a:r>
              <a:rPr/>
              <a:t>No cross-document redefinition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Remediation Workflow</a:t>
            </a:r>
          </a:p>
          <a:p>
            <a:pPr lvl="0"/>
            <a:r>
              <a:rPr/>
              <a:t>GitHub PR review</a:t>
            </a:r>
          </a:p>
          <a:p>
            <a:pPr lvl="0"/>
            <a:r>
              <a:rPr/>
              <a:t>Canon steward approval</a:t>
            </a:r>
          </a:p>
          <a:p>
            <a:pPr lvl="0"/>
            <a:r>
              <a:rPr/>
              <a:t>Automated structure validation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11. Appendices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Appendix A: Definitions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docs/glossary.md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B: Tables</a:t>
            </a:r>
          </a:p>
          <a:p>
            <a:pPr lvl="0" indent="0" marL="0">
              <a:buNone/>
            </a:pPr>
            <a:r>
              <a:rPr i="1"/>
              <a:t>Directory Structure canonical table is in Section 8.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Appendix C: Evidence Sources</a:t>
            </a:r>
          </a:p>
          <a:p>
            <a:pPr lvl="0" indent="0" marL="0">
              <a:buNone/>
            </a:pPr>
            <a:r>
              <a:rPr i="1"/>
              <a:t>See </a:t>
            </a:r>
            <a:r>
              <a:rPr i="1">
                <a:latin typeface="Courier"/>
              </a:rPr>
              <a:t>data/parameters.yml</a:t>
            </a:r>
            <a:r>
              <a:rPr i="1"/>
              <a:t> and control-library entries for evidence source catalogs.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12. Revision History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Version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Author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2026-03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UIAO Canon 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Initial canonical release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10 Directorystructure</dc:title>
  <dc:creator>UIAO Modernization Program</dc:creator>
  <cp:keywords/>
  <dcterms:created xsi:type="dcterms:W3CDTF">2026-03-31T17:38:03Z</dcterms:created>
  <dcterms:modified xsi:type="dcterms:W3CDTF">2026-03-31T17:38:03Z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rossref">
    <vt:lpwstr/>
  </property>
  <property fmtid="{D5CDD505-2E9C-101B-9397-08002B2CF9AE}" pid="6" name="date">
    <vt:lpwstr>March 31, 2026</vt:lpwstr>
  </property>
  <property fmtid="{D5CDD505-2E9C-101B-9397-08002B2CF9AE}" pid="7" name="date-format">
    <vt:lpwstr>MMMM D, YYYY</vt:lpwstr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mermaid">
    <vt:lpwstr/>
  </property>
  <property fmtid="{D5CDD505-2E9C-101B-9397-08002B2CF9AE}" pid="13" name="toc-title">
    <vt:lpwstr>Table of contents</vt:lpwstr>
  </property>
</Properties>
</file>