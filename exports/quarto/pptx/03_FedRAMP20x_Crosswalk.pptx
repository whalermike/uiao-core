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2" Type="http://schemas.openxmlformats.org/officeDocument/2006/relationships/viewProps" Target="viewProps.xml" /><Relationship Id="rId21" Type="http://schemas.openxmlformats.org/officeDocument/2006/relationships/presProps" Target="presProps.xml" /><Relationship Id="rId1" Type="http://schemas.openxmlformats.org/officeDocument/2006/relationships/slideMaster" Target="slideMasters/slideMaster1.xml" /><Relationship Id="rId24" Type="http://schemas.openxmlformats.org/officeDocument/2006/relationships/tableStyles" Target="tableStyles.xml" /><Relationship Id="rId23"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03 Fedramp20X Crosswalk</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UIAO Modernization Program</a:t>
            </a:r>
          </a:p>
        </p:txBody>
      </p:sp>
      <p:sp>
        <p:nvSpPr>
          <p:cNvPr id="4" name="Date Placeholder 3"/>
          <p:cNvSpPr>
            <a:spLocks noGrp="1"/>
          </p:cNvSpPr>
          <p:nvPr>
            <p:ph idx="10" sz="half" type="dt"/>
          </p:nvPr>
        </p:nvSpPr>
        <p:spPr/>
        <p:txBody>
          <a:bodyPr/>
          <a:lstStyle/>
          <a:p>
            <a:pPr lvl="0" indent="0" marL="0">
              <a:buNone/>
            </a:pPr>
            <a:r>
              <a:rPr/>
              <a:t>April 3,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UIAO FedRAMP 20x Compliance Crosswalk</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Field</a:t>
                      </a:r>
                    </a:p>
                  </a:txBody>
                  <a:tcPr/>
                </a:tc>
                <a:tc>
                  <a:txBody>
                    <a:bodyPr/>
                    <a:lstStyle/>
                    <a:p>
                      <a:pPr lvl="0" indent="0" marL="0">
                        <a:buNone/>
                      </a:pPr>
                      <a:r>
                        <a:rPr/>
                        <a:t>Value</a:t>
                      </a:r>
                    </a:p>
                  </a:txBody>
                  <a:tcPr/>
                </a:tc>
              </a:tr>
              <a:tr h="0">
                <a:tc>
                  <a:txBody>
                    <a:bodyPr/>
                    <a:lstStyle/>
                    <a:p>
                      <a:pPr lvl="0" indent="0" marL="0">
                        <a:buNone/>
                      </a:pPr>
                      <a:r>
                        <a:rPr/>
                        <a:t>Version</a:t>
                      </a:r>
                    </a:p>
                  </a:txBody>
                </a:tc>
                <a:tc>
                  <a:txBody>
                    <a:bodyPr/>
                    <a:lstStyle/>
                    <a:p>
                      <a:pPr lvl="0" indent="0" marL="0">
                        <a:buNone/>
                      </a:pPr>
                      <a:r>
                        <a:rPr/>
                        <a:t>1.0</a:t>
                      </a:r>
                    </a:p>
                  </a:txBody>
                </a:tc>
              </a:tr>
              <a:tr h="0">
                <a:tc>
                  <a:txBody>
                    <a:bodyPr/>
                    <a:lstStyle/>
                    <a:p>
                      <a:pPr lvl="0" indent="0" marL="0">
                        <a:buNone/>
                      </a:pPr>
                      <a:r>
                        <a:rPr/>
                        <a:t>Date</a:t>
                      </a:r>
                    </a:p>
                  </a:txBody>
                </a:tc>
                <a:tc>
                  <a:txBody>
                    <a:bodyPr/>
                    <a:lstStyle/>
                    <a:p>
                      <a:pPr lvl="0" indent="0" marL="0">
                        <a:buNone/>
                      </a:pPr>
                      <a:r>
                        <a:rPr/>
                        <a:t>2026-03</a:t>
                      </a:r>
                    </a:p>
                  </a:txBody>
                </a:tc>
              </a:tr>
              <a:tr h="0">
                <a:tc>
                  <a:txBody>
                    <a:bodyPr/>
                    <a:lstStyle/>
                    <a:p>
                      <a:pPr lvl="0" indent="0" marL="0">
                        <a:buNone/>
                      </a:pPr>
                      <a:r>
                        <a:rPr/>
                        <a:t>Classification</a:t>
                      </a:r>
                    </a:p>
                  </a:txBody>
                </a:tc>
                <a:tc>
                  <a:txBody>
                    <a:bodyPr/>
                    <a:lstStyle/>
                    <a:p>
                      <a:pPr lvl="0" indent="0" marL="0">
                        <a:buNone/>
                      </a:pPr>
                      <a:r>
                        <a:rPr/>
                        <a:t>CUI/FOUO</a:t>
                      </a:r>
                    </a:p>
                  </a:txBody>
                </a:tc>
              </a:tr>
              <a:tr h="0">
                <a:tc>
                  <a:txBody>
                    <a:bodyPr/>
                    <a:lstStyle/>
                    <a:p>
                      <a:pPr lvl="0" indent="0" marL="0">
                        <a:buNone/>
                      </a:pPr>
                      <a:r>
                        <a:rPr/>
                        <a:t>Source Plane(s)</a:t>
                      </a:r>
                    </a:p>
                  </a:txBody>
                </a:tc>
                <a:tc>
                  <a:txBody>
                    <a:bodyPr/>
                    <a:lstStyle/>
                    <a:p>
                      <a:pPr lvl="0" indent="0" marL="0">
                        <a:buNone/>
                      </a:pPr>
                      <a:r>
                        <a:rPr/>
                        <a:t>Identity, Network, Addressing, Telemetry, Security, Management</a:t>
                      </a:r>
                    </a:p>
                  </a:txBody>
                </a:tc>
              </a:tr>
              <a:tr h="0">
                <a:tc>
                  <a:txBody>
                    <a:bodyPr/>
                    <a:lstStyle/>
                    <a:p>
                      <a:pPr lvl="0" indent="0" marL="0">
                        <a:buNone/>
                      </a:pPr>
                      <a:r>
                        <a:rPr/>
                        <a:t>Document Type</a:t>
                      </a:r>
                    </a:p>
                  </a:txBody>
                </a:tc>
                <a:tc>
                  <a:txBody>
                    <a:bodyPr/>
                    <a:lstStyle/>
                    <a:p>
                      <a:pPr lvl="0" indent="0" marL="0">
                        <a:buNone/>
                      </a:pPr>
                      <a:r>
                        <a:rPr/>
                        <a:t>Compliance Crosswalk (02_Appendices)</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2. Purpose</a:t>
            </a:r>
          </a:p>
        </p:txBody>
      </p:sp>
      <p:sp>
        <p:nvSpPr>
          <p:cNvPr id="3" name="Content Placeholder 2"/>
          <p:cNvSpPr>
            <a:spLocks noGrp="1"/>
          </p:cNvSpPr>
          <p:nvPr>
            <p:ph idx="1"/>
          </p:nvPr>
        </p:nvSpPr>
        <p:spPr/>
        <p:txBody>
          <a:bodyPr/>
          <a:lstStyle/>
          <a:p>
            <a:pPr lvl="0" indent="0" marL="0">
              <a:buNone/>
            </a:pPr>
            <a:r>
              <a:rPr/>
              <a:t>This document provides the authoritative FedRAMP 20x compliance crosswalk for the Unified Identity-Addressing-Overlay (UIAO) architecture. It maps UIAO’s core concepts, control planes, and runtime model to the NIST SP 800-53 Rev 5 controls required for a FedRAMP Moderate (Class C) authorization under the 20x telemetry-based validation framework.</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3. Scope</a:t>
            </a:r>
          </a:p>
        </p:txBody>
      </p:sp>
      <p:sp>
        <p:nvSpPr>
          <p:cNvPr id="3" name="Content Placeholder 2"/>
          <p:cNvSpPr>
            <a:spLocks noGrp="1"/>
          </p:cNvSpPr>
          <p:nvPr>
            <p:ph idx="1"/>
          </p:nvPr>
        </p:nvSpPr>
        <p:spPr/>
        <p:txBody>
          <a:bodyPr/>
          <a:lstStyle/>
          <a:p>
            <a:pPr lvl="0" indent="0" marL="0">
              <a:spcBef>
                <a:spcPts val="3000"/>
              </a:spcBef>
              <a:buNone/>
            </a:pPr>
            <a:r>
              <a:rPr b="1"/>
              <a:t>Included</a:t>
            </a:r>
          </a:p>
          <a:p>
            <a:pPr lvl="0"/>
            <a:r>
              <a:rPr/>
              <a:t>Mapping of UIAO concepts to NIST 800-53 Rev 5 controls</a:t>
            </a:r>
          </a:p>
          <a:p>
            <a:pPr lvl="0"/>
            <a:r>
              <a:rPr/>
              <a:t>KSI (Key Security Indicator) alignment</a:t>
            </a:r>
          </a:p>
          <a:p>
            <a:pPr lvl="0"/>
            <a:r>
              <a:rPr/>
              <a:t>Evidence sources for telemetry-based validation</a:t>
            </a:r>
          </a:p>
          <a:p>
            <a:pPr lvl="0"/>
            <a:r>
              <a:rPr/>
              <a:t>Mandatory 2026 infrastructure requirements</a:t>
            </a:r>
          </a:p>
          <a:p>
            <a:pPr lvl="0"/>
            <a:r>
              <a:rPr/>
              <a:t>Audit anchors and continuous monitoring expectations</a:t>
            </a:r>
          </a:p>
          <a:p>
            <a:pPr lvl="0" indent="0" marL="0">
              <a:spcBef>
                <a:spcPts val="3000"/>
              </a:spcBef>
              <a:buNone/>
            </a:pPr>
            <a:r>
              <a:rPr b="1"/>
              <a:t>Excluded</a:t>
            </a:r>
          </a:p>
          <a:p>
            <a:pPr lvl="0"/>
            <a:r>
              <a:rPr/>
              <a:t>Implementation-specific configurations</a:t>
            </a:r>
          </a:p>
          <a:p>
            <a:pPr lvl="0"/>
            <a:r>
              <a:rPr/>
              <a:t>Vendor deployment guides</a:t>
            </a:r>
          </a:p>
          <a:p>
            <a:pPr lvl="0"/>
            <a:r>
              <a:rPr/>
              <a:t>Project plan sequencing (covered in modernization timeline)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4. Control Plane Alignment</a:t>
            </a:r>
          </a:p>
        </p:txBody>
      </p:sp>
      <p:sp>
        <p:nvSpPr>
          <p:cNvPr id="4" name="Text Placeholder 3"/>
          <p:cNvSpPr>
            <a:spLocks noGrp="1"/>
          </p:cNvSpPr>
          <p:nvPr>
            <p:ph idx="2" sz="half" type="body"/>
          </p:nvPr>
        </p:nvSpPr>
        <p:spPr/>
        <p:txBody>
          <a:bodyPr/>
          <a:lstStyle/>
          <a:p>
            <a:pPr lvl="0" indent="0" marL="0">
              <a:buNone/>
            </a:pPr>
            <a:r>
              <a:rPr/>
              <a:t>This crosswalk spans all six UIAO control planes: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Plane</a:t>
                      </a:r>
                    </a:p>
                  </a:txBody>
                  <a:tcPr/>
                </a:tc>
                <a:tc>
                  <a:txBody>
                    <a:bodyPr/>
                    <a:lstStyle/>
                    <a:p>
                      <a:pPr lvl="0" indent="0" marL="0">
                        <a:buNone/>
                      </a:pPr>
                      <a:r>
                        <a:rPr/>
                        <a:t>Compliance Role</a:t>
                      </a:r>
                    </a:p>
                  </a:txBody>
                  <a:tcPr/>
                </a:tc>
              </a:tr>
              <a:tr h="0">
                <a:tc>
                  <a:txBody>
                    <a:bodyPr/>
                    <a:lstStyle/>
                    <a:p>
                      <a:pPr lvl="0" indent="0" marL="0">
                        <a:buNone/>
                      </a:pPr>
                      <a:r>
                        <a:rPr/>
                        <a:t>Identity</a:t>
                      </a:r>
                    </a:p>
                  </a:txBody>
                </a:tc>
                <a:tc>
                  <a:txBody>
                    <a:bodyPr/>
                    <a:lstStyle/>
                    <a:p>
                      <a:pPr lvl="0" indent="0" marL="0">
                        <a:buNone/>
                      </a:pPr>
                      <a:r>
                        <a:rPr/>
                        <a:t>Identity assurance, MFA, lifecycle governance</a:t>
                      </a:r>
                    </a:p>
                  </a:txBody>
                </a:tc>
              </a:tr>
              <a:tr h="0">
                <a:tc>
                  <a:txBody>
                    <a:bodyPr/>
                    <a:lstStyle/>
                    <a:p>
                      <a:pPr lvl="0" indent="0" marL="0">
                        <a:buNone/>
                      </a:pPr>
                      <a:r>
                        <a:rPr/>
                        <a:t>Network</a:t>
                      </a:r>
                    </a:p>
                  </a:txBody>
                </a:tc>
                <a:tc>
                  <a:txBody>
                    <a:bodyPr/>
                    <a:lstStyle/>
                    <a:p>
                      <a:pPr lvl="0" indent="0" marL="0">
                        <a:buNone/>
                      </a:pPr>
                      <a:r>
                        <a:rPr/>
                        <a:t>Segmentation, routing, overlay security</a:t>
                      </a:r>
                    </a:p>
                  </a:txBody>
                </a:tc>
              </a:tr>
              <a:tr h="0">
                <a:tc>
                  <a:txBody>
                    <a:bodyPr/>
                    <a:lstStyle/>
                    <a:p>
                      <a:pPr lvl="0" indent="0" marL="0">
                        <a:buNone/>
                      </a:pPr>
                      <a:r>
                        <a:rPr/>
                        <a:t>Addressing</a:t>
                      </a:r>
                    </a:p>
                  </a:txBody>
                </a:tc>
                <a:tc>
                  <a:txBody>
                    <a:bodyPr/>
                    <a:lstStyle/>
                    <a:p>
                      <a:pPr lvl="0" indent="0" marL="0">
                        <a:buNone/>
                      </a:pPr>
                      <a:r>
                        <a:rPr/>
                        <a:t>Deterministic IPAM, DNS/DHCP integrity</a:t>
                      </a:r>
                    </a:p>
                  </a:txBody>
                </a:tc>
              </a:tr>
              <a:tr h="0">
                <a:tc>
                  <a:txBody>
                    <a:bodyPr/>
                    <a:lstStyle/>
                    <a:p>
                      <a:pPr lvl="0" indent="0" marL="0">
                        <a:buNone/>
                      </a:pPr>
                      <a:r>
                        <a:rPr/>
                        <a:t>Telemetry &amp; Location</a:t>
                      </a:r>
                    </a:p>
                  </a:txBody>
                </a:tc>
                <a:tc>
                  <a:txBody>
                    <a:bodyPr/>
                    <a:lstStyle/>
                    <a:p>
                      <a:pPr lvl="0" indent="0" marL="0">
                        <a:buNone/>
                      </a:pPr>
                      <a:r>
                        <a:rPr/>
                        <a:t>Continuous monitoring, KSI generation</a:t>
                      </a:r>
                    </a:p>
                  </a:txBody>
                </a:tc>
              </a:tr>
              <a:tr h="0">
                <a:tc>
                  <a:txBody>
                    <a:bodyPr/>
                    <a:lstStyle/>
                    <a:p>
                      <a:pPr lvl="0" indent="0" marL="0">
                        <a:buNone/>
                      </a:pPr>
                      <a:r>
                        <a:rPr/>
                        <a:t>Security &amp; Compliance</a:t>
                      </a:r>
                    </a:p>
                  </a:txBody>
                </a:tc>
                <a:tc>
                  <a:txBody>
                    <a:bodyPr/>
                    <a:lstStyle/>
                    <a:p>
                      <a:pPr lvl="0" indent="0" marL="0">
                        <a:buNone/>
                      </a:pPr>
                      <a:r>
                        <a:rPr/>
                        <a:t>Zero Trust enforcement, FedRAMP alignment</a:t>
                      </a:r>
                    </a:p>
                  </a:txBody>
                </a:tc>
              </a:tr>
              <a:tr h="0">
                <a:tc>
                  <a:txBody>
                    <a:bodyPr/>
                    <a:lstStyle/>
                    <a:p>
                      <a:pPr lvl="0" indent="0" marL="0">
                        <a:buNone/>
                      </a:pPr>
                      <a:r>
                        <a:rPr/>
                        <a:t>Management</a:t>
                      </a:r>
                    </a:p>
                  </a:txBody>
                </a:tc>
                <a:tc>
                  <a:txBody>
                    <a:bodyPr/>
                    <a:lstStyle/>
                    <a:p>
                      <a:pPr lvl="0" indent="0" marL="0">
                        <a:buNone/>
                      </a:pPr>
                      <a:r>
                        <a:rPr/>
                        <a:t>CMDB, drift detection, remediation workflows</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Each plane contributes evidence to FedRAMP 20x telemetry validation.</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5. Core Concepts</a:t>
            </a:r>
          </a:p>
        </p:txBody>
      </p:sp>
      <p:sp>
        <p:nvSpPr>
          <p:cNvPr id="3" name="Content Placeholder 2"/>
          <p:cNvSpPr>
            <a:spLocks noGrp="1"/>
          </p:cNvSpPr>
          <p:nvPr>
            <p:ph idx="1"/>
          </p:nvPr>
        </p:nvSpPr>
        <p:spPr/>
        <p:txBody>
          <a:bodyPr/>
          <a:lstStyle/>
          <a:p>
            <a:pPr lvl="0" indent="0" marL="0">
              <a:buNone/>
            </a:pPr>
            <a:r>
              <a:rPr/>
              <a:t>The crosswalk maps the Eight Core Concepts to NIST controls:</a:t>
            </a:r>
          </a:p>
          <a:p>
            <a:pPr lvl="0" indent="-342900" marL="342900">
              <a:buAutoNum type="arabicPeriod"/>
            </a:pPr>
            <a:r>
              <a:rPr b="1"/>
              <a:t>Single Source of Truth (SSOT)</a:t>
            </a:r>
            <a:r>
              <a:rPr/>
              <a:t> — UIAO operates on the principle that every claim has one authoritative origin. All other representations are pointers, not copies. This ensures provenance, prevents drift, and enables federated truth resolution across boundaries.</a:t>
            </a:r>
          </a:p>
          <a:p>
            <a:pPr lvl="0" indent="-342900" marL="342900">
              <a:buAutoNum type="arabicPeriod"/>
            </a:pPr>
            <a:r>
              <a:rPr/>
              <a:t>Conversation as the atomic unit → AC-4, SI-4</a:t>
            </a:r>
          </a:p>
          <a:p>
            <a:pPr lvl="0" indent="-342900" marL="342900">
              <a:buAutoNum type="arabicPeriod"/>
            </a:pPr>
            <a:r>
              <a:rPr/>
              <a:t>Identity as the root namespace → IA-2, AC-2</a:t>
            </a:r>
          </a:p>
          <a:p>
            <a:pPr lvl="0" indent="-342900" marL="342900">
              <a:buAutoNum type="arabicPeriod"/>
            </a:pPr>
            <a:r>
              <a:rPr/>
              <a:t>Deterministic addressing → CM-8, AC-4</a:t>
            </a:r>
          </a:p>
          <a:p>
            <a:pPr lvl="0" indent="-342900" marL="342900">
              <a:buAutoNum type="arabicPeriod"/>
            </a:pPr>
            <a:r>
              <a:rPr/>
              <a:t>Certificate-anchored overlay → SC-8, IA-5</a:t>
            </a:r>
          </a:p>
          <a:p>
            <a:pPr lvl="0" indent="-342900" marL="342900">
              <a:buAutoNum type="arabicPeriod"/>
            </a:pPr>
            <a:r>
              <a:rPr/>
              <a:t>Telemetry as control → CA-7, SI-4</a:t>
            </a:r>
          </a:p>
          <a:p>
            <a:pPr lvl="0" indent="-342900" marL="342900">
              <a:buAutoNum type="arabicPeriod"/>
            </a:pPr>
            <a:r>
              <a:rPr/>
              <a:t>Embedded governance &amp; automation → CM-2, CM-3</a:t>
            </a:r>
          </a:p>
          <a:p>
            <a:pPr lvl="0" indent="-342900" marL="342900">
              <a:buAutoNum type="arabicPeriod"/>
            </a:pPr>
            <a:r>
              <a:rPr/>
              <a:t>Public service first → PT-2 (privacy and minimization)</a:t>
            </a:r>
          </a:p>
          <a:p>
            <a:pPr lvl="0" indent="0" marL="0">
              <a:buNone/>
            </a:pPr>
            <a:r>
              <a:rPr/>
              <a:t>These mappings are frozen and must appear identically across all UIAO compliance documents.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6. Architecture Model</a:t>
            </a:r>
          </a:p>
        </p:txBody>
      </p:sp>
      <p:sp>
        <p:nvSpPr>
          <p:cNvPr id="4" name="Text Placeholder 3"/>
          <p:cNvSpPr>
            <a:spLocks noGrp="1"/>
          </p:cNvSpPr>
          <p:nvPr>
            <p:ph idx="2" sz="half" type="body"/>
          </p:nvPr>
        </p:nvSpPr>
        <p:spPr/>
        <p:txBody>
          <a:bodyPr/>
          <a:lstStyle/>
          <a:p>
            <a:pPr lvl="0" indent="0" marL="0">
              <a:spcBef>
                <a:spcPts val="3000"/>
              </a:spcBef>
              <a:buNone/>
            </a:pPr>
            <a:r>
              <a:rPr b="1"/>
              <a:t>6.1 FedRAMP 20x Overview</a:t>
            </a:r>
          </a:p>
          <a:p>
            <a:pPr lvl="0" indent="0" marL="0">
              <a:buNone/>
            </a:pPr>
            <a:r>
              <a:rPr/>
              <a:t>FedRAMP 20x replaces narrative-based compliance with telemetry-based validation, requiring:</a:t>
            </a:r>
          </a:p>
          <a:p>
            <a:pPr lvl="0"/>
            <a:r>
              <a:rPr/>
              <a:t>Machine-readable OSCAL packages</a:t>
            </a:r>
          </a:p>
          <a:p>
            <a:pPr lvl="0"/>
            <a:r>
              <a:rPr/>
              <a:t>Real-time Key Security Indicators (KSIs)</a:t>
            </a:r>
          </a:p>
          <a:p>
            <a:pPr lvl="0"/>
            <a:r>
              <a:rPr/>
              <a:t>Automated evidence generation</a:t>
            </a:r>
          </a:p>
          <a:p>
            <a:pPr lvl="0"/>
            <a:r>
              <a:rPr/>
              <a:t>Continuous monitoring (CA-7)</a:t>
            </a:r>
          </a:p>
          <a:p>
            <a:pPr lvl="0"/>
            <a:r>
              <a:rPr/>
              <a:t>Identity-anchored access control</a:t>
            </a:r>
          </a:p>
          <a:p>
            <a:pPr lvl="0"/>
            <a:r>
              <a:rPr/>
              <a:t>Deterministic asset inventory</a:t>
            </a:r>
          </a:p>
          <a:p>
            <a:pPr lvl="0" indent="0" marL="0">
              <a:buNone/>
            </a:pPr>
            <a:r>
              <a:rPr/>
              <a:t>UIAO is designed explicitly to satisfy these requirements.</a:t>
            </a:r>
          </a:p>
          <a:p>
            <a:pPr lvl="0" indent="0" marL="0">
              <a:spcBef>
                <a:spcPts val="3000"/>
              </a:spcBef>
              <a:buNone/>
            </a:pPr>
            <a:r>
              <a:rPr b="1"/>
              <a:t>6.2 Fundamental Concept Mapping</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UIAO Concept</a:t>
                      </a:r>
                    </a:p>
                  </a:txBody>
                  <a:tcPr/>
                </a:tc>
                <a:tc>
                  <a:txBody>
                    <a:bodyPr/>
                    <a:lstStyle/>
                    <a:p>
                      <a:pPr lvl="0" indent="0" marL="0">
                        <a:buNone/>
                      </a:pPr>
                      <a:r>
                        <a:rPr/>
                        <a:t>NIST Control</a:t>
                      </a:r>
                    </a:p>
                  </a:txBody>
                  <a:tcPr/>
                </a:tc>
                <a:tc>
                  <a:txBody>
                    <a:bodyPr/>
                    <a:lstStyle/>
                    <a:p>
                      <a:pPr lvl="0" indent="0" marL="0">
                        <a:buNone/>
                      </a:pPr>
                      <a:r>
                        <a:rPr/>
                        <a:t>KSI Category</a:t>
                      </a:r>
                    </a:p>
                  </a:txBody>
                  <a:tcPr/>
                </a:tc>
                <a:tc>
                  <a:txBody>
                    <a:bodyPr/>
                    <a:lstStyle/>
                    <a:p>
                      <a:pPr lvl="0" indent="0" marL="0">
                        <a:buNone/>
                      </a:pPr>
                      <a:r>
                        <a:rPr/>
                        <a:t>Evidence Source</a:t>
                      </a:r>
                    </a:p>
                  </a:txBody>
                  <a:tcPr/>
                </a:tc>
              </a:tr>
              <a:tr h="0">
                <a:tc>
                  <a:txBody>
                    <a:bodyPr/>
                    <a:lstStyle/>
                    <a:p>
                      <a:pPr lvl="0" indent="0" marL="0">
                        <a:buNone/>
                      </a:pPr>
                      <a:r>
                        <a:rPr/>
                        <a:t>Conversation as Atomic Unit</a:t>
                      </a:r>
                    </a:p>
                  </a:txBody>
                </a:tc>
                <a:tc>
                  <a:txBody>
                    <a:bodyPr/>
                    <a:lstStyle/>
                    <a:p>
                      <a:pPr lvl="0" indent="0" marL="0">
                        <a:buNone/>
                      </a:pPr>
                      <a:r>
                        <a:rPr/>
                        <a:t>AC-4</a:t>
                      </a:r>
                    </a:p>
                  </a:txBody>
                </a:tc>
                <a:tc>
                  <a:txBody>
                    <a:bodyPr/>
                    <a:lstStyle/>
                    <a:p>
                      <a:pPr lvl="0" indent="0" marL="0">
                        <a:buNone/>
                      </a:pPr>
                      <a:r>
                        <a:rPr/>
                        <a:t>KSI-CNA</a:t>
                      </a:r>
                    </a:p>
                  </a:txBody>
                </a:tc>
                <a:tc>
                  <a:txBody>
                    <a:bodyPr/>
                    <a:lstStyle/>
                    <a:p>
                      <a:pPr lvl="0" indent="0" marL="0">
                        <a:buNone/>
                      </a:pPr>
                      <a:r>
                        <a:rPr/>
                        <a:t>SD-WAN flow telemetry</a:t>
                      </a:r>
                    </a:p>
                  </a:txBody>
                </a:tc>
              </a:tr>
              <a:tr h="0">
                <a:tc>
                  <a:txBody>
                    <a:bodyPr/>
                    <a:lstStyle/>
                    <a:p>
                      <a:pPr lvl="0" indent="0" marL="0">
                        <a:buNone/>
                      </a:pPr>
                      <a:r>
                        <a:rPr/>
                        <a:t>Identity as Root Namespace</a:t>
                      </a:r>
                    </a:p>
                  </a:txBody>
                </a:tc>
                <a:tc>
                  <a:txBody>
                    <a:bodyPr/>
                    <a:lstStyle/>
                    <a:p>
                      <a:pPr lvl="0" indent="0" marL="0">
                        <a:buNone/>
                      </a:pPr>
                      <a:r>
                        <a:rPr/>
                        <a:t>IA-2 / AC-2</a:t>
                      </a:r>
                    </a:p>
                  </a:txBody>
                </a:tc>
                <a:tc>
                  <a:txBody>
                    <a:bodyPr/>
                    <a:lstStyle/>
                    <a:p>
                      <a:pPr lvl="0" indent="0" marL="0">
                        <a:buNone/>
                      </a:pPr>
                      <a:r>
                        <a:rPr/>
                        <a:t>KSI-IAM</a:t>
                      </a:r>
                    </a:p>
                  </a:txBody>
                </a:tc>
                <a:tc>
                  <a:txBody>
                    <a:bodyPr/>
                    <a:lstStyle/>
                    <a:p>
                      <a:pPr lvl="0" indent="0" marL="0">
                        <a:buNone/>
                      </a:pPr>
                      <a:r>
                        <a:rPr/>
                        <a:t>Entra ID &amp; CyberArk logs</a:t>
                      </a:r>
                    </a:p>
                  </a:txBody>
                </a:tc>
              </a:tr>
              <a:tr h="0">
                <a:tc>
                  <a:txBody>
                    <a:bodyPr/>
                    <a:lstStyle/>
                    <a:p>
                      <a:pPr lvl="0" indent="0" marL="0">
                        <a:buNone/>
                      </a:pPr>
                      <a:r>
                        <a:rPr/>
                        <a:t>Deterministic Addressing</a:t>
                      </a:r>
                    </a:p>
                  </a:txBody>
                </a:tc>
                <a:tc>
                  <a:txBody>
                    <a:bodyPr/>
                    <a:lstStyle/>
                    <a:p>
                      <a:pPr lvl="0" indent="0" marL="0">
                        <a:buNone/>
                      </a:pPr>
                      <a:r>
                        <a:rPr/>
                        <a:t>CM-8 / AC-4</a:t>
                      </a:r>
                    </a:p>
                  </a:txBody>
                </a:tc>
                <a:tc>
                  <a:txBody>
                    <a:bodyPr/>
                    <a:lstStyle/>
                    <a:p>
                      <a:pPr lvl="0" indent="0" marL="0">
                        <a:buNone/>
                      </a:pPr>
                      <a:r>
                        <a:rPr/>
                        <a:t>KSI-PIY</a:t>
                      </a:r>
                    </a:p>
                  </a:txBody>
                </a:tc>
                <a:tc>
                  <a:txBody>
                    <a:bodyPr/>
                    <a:lstStyle/>
                    <a:p>
                      <a:pPr lvl="0" indent="0" marL="0">
                        <a:buNone/>
                      </a:pPr>
                      <a:r>
                        <a:rPr/>
                        <a:t>Infoblox BloxOne DDI API</a:t>
                      </a:r>
                    </a:p>
                  </a:txBody>
                </a:tc>
              </a:tr>
              <a:tr h="0">
                <a:tc>
                  <a:txBody>
                    <a:bodyPr/>
                    <a:lstStyle/>
                    <a:p>
                      <a:pPr lvl="0" indent="0" marL="0">
                        <a:buNone/>
                      </a:pPr>
                      <a:r>
                        <a:rPr/>
                        <a:t>Certificate-Anchored Overlay</a:t>
                      </a:r>
                    </a:p>
                  </a:txBody>
                </a:tc>
                <a:tc>
                  <a:txBody>
                    <a:bodyPr/>
                    <a:lstStyle/>
                    <a:p>
                      <a:pPr lvl="0" indent="0" marL="0">
                        <a:buNone/>
                      </a:pPr>
                      <a:r>
                        <a:rPr/>
                        <a:t>SC-8 / IA-5</a:t>
                      </a:r>
                    </a:p>
                  </a:txBody>
                </a:tc>
                <a:tc>
                  <a:txBody>
                    <a:bodyPr/>
                    <a:lstStyle/>
                    <a:p>
                      <a:pPr lvl="0" indent="0" marL="0">
                        <a:buNone/>
                      </a:pPr>
                      <a:r>
                        <a:rPr/>
                        <a:t>KSI-SVC</a:t>
                      </a:r>
                    </a:p>
                  </a:txBody>
                </a:tc>
                <a:tc>
                  <a:txBody>
                    <a:bodyPr/>
                    <a:lstStyle/>
                    <a:p>
                      <a:pPr lvl="0" indent="0" marL="0">
                        <a:buNone/>
                      </a:pPr>
                      <a:r>
                        <a:rPr/>
                        <a:t>SD-WAN mTLS configuration</a:t>
                      </a:r>
                    </a:p>
                  </a:txBody>
                </a:tc>
              </a:tr>
              <a:tr h="0">
                <a:tc>
                  <a:txBody>
                    <a:bodyPr/>
                    <a:lstStyle/>
                    <a:p>
                      <a:pPr lvl="0" indent="0" marL="0">
                        <a:buNone/>
                      </a:pPr>
                      <a:r>
                        <a:rPr/>
                        <a:t>Telemetry as Control</a:t>
                      </a:r>
                    </a:p>
                  </a:txBody>
                </a:tc>
                <a:tc>
                  <a:txBody>
                    <a:bodyPr/>
                    <a:lstStyle/>
                    <a:p>
                      <a:pPr lvl="0" indent="0" marL="0">
                        <a:buNone/>
                      </a:pPr>
                      <a:r>
                        <a:rPr/>
                        <a:t>CA-7 / SI-4</a:t>
                      </a:r>
                    </a:p>
                  </a:txBody>
                </a:tc>
                <a:tc>
                  <a:txBody>
                    <a:bodyPr/>
                    <a:lstStyle/>
                    <a:p>
                      <a:pPr lvl="0" indent="0" marL="0">
                        <a:buNone/>
                      </a:pPr>
                      <a:r>
                        <a:rPr/>
                        <a:t>KSI-MLA</a:t>
                      </a:r>
                    </a:p>
                  </a:txBody>
                </a:tc>
                <a:tc>
                  <a:txBody>
                    <a:bodyPr/>
                    <a:lstStyle/>
                    <a:p>
                      <a:pPr lvl="0" indent="0" marL="0">
                        <a:buNone/>
                      </a:pPr>
                      <a:r>
                        <a:rPr/>
                        <a:t>M365 &amp; SD-WAN telemetry</a:t>
                      </a:r>
                    </a:p>
                  </a:txBody>
                </a:tc>
              </a:tr>
              <a:tr h="0">
                <a:tc>
                  <a:txBody>
                    <a:bodyPr/>
                    <a:lstStyle/>
                    <a:p>
                      <a:pPr lvl="0" indent="0" marL="0">
                        <a:buNone/>
                      </a:pPr>
                      <a:r>
                        <a:rPr/>
                        <a:t>Embedded Governance</a:t>
                      </a:r>
                    </a:p>
                  </a:txBody>
                </a:tc>
                <a:tc>
                  <a:txBody>
                    <a:bodyPr/>
                    <a:lstStyle/>
                    <a:p>
                      <a:pPr lvl="0" indent="0" marL="0">
                        <a:buNone/>
                      </a:pPr>
                      <a:r>
                        <a:rPr/>
                        <a:t>CM-2</a:t>
                      </a:r>
                    </a:p>
                  </a:txBody>
                </a:tc>
                <a:tc>
                  <a:txBody>
                    <a:bodyPr/>
                    <a:lstStyle/>
                    <a:p>
                      <a:pPr lvl="0" indent="0" marL="0">
                        <a:buNone/>
                      </a:pPr>
                      <a:r>
                        <a:rPr/>
                        <a:t>KSI-CMT</a:t>
                      </a:r>
                    </a:p>
                  </a:txBody>
                </a:tc>
                <a:tc>
                  <a:txBody>
                    <a:bodyPr/>
                    <a:lstStyle/>
                    <a:p>
                      <a:pPr lvl="0" indent="0" marL="0">
                        <a:buNone/>
                      </a:pPr>
                      <a:r>
                        <a:rPr/>
                        <a:t>GitHub YAML baseline</a:t>
                      </a:r>
                    </a:p>
                  </a:txBody>
                </a:tc>
              </a:tr>
              <a:tr h="0">
                <a:tc>
                  <a:txBody>
                    <a:bodyPr/>
                    <a:lstStyle/>
                    <a:p>
                      <a:pPr lvl="0" indent="0" marL="0">
                        <a:buNone/>
                      </a:pPr>
                      <a:r>
                        <a:rPr/>
                        <a:t>Public Service First</a:t>
                      </a:r>
                    </a:p>
                  </a:txBody>
                </a:tc>
                <a:tc>
                  <a:txBody>
                    <a:bodyPr/>
                    <a:lstStyle/>
                    <a:p>
                      <a:pPr lvl="0" indent="0" marL="0">
                        <a:buNone/>
                      </a:pPr>
                      <a:r>
                        <a:rPr/>
                        <a:t>PT-2</a:t>
                      </a:r>
                    </a:p>
                  </a:txBody>
                </a:tc>
                <a:tc>
                  <a:txBody>
                    <a:bodyPr/>
                    <a:lstStyle/>
                    <a:p>
                      <a:pPr lvl="0" indent="0" marL="0">
                        <a:buNone/>
                      </a:pPr>
                      <a:r>
                        <a:rPr/>
                        <a:t>KSI-CED</a:t>
                      </a:r>
                    </a:p>
                  </a:txBody>
                </a:tc>
                <a:tc>
                  <a:txBody>
                    <a:bodyPr/>
                    <a:lstStyle/>
                    <a:p>
                      <a:pPr lvl="0" indent="0" marL="0">
                        <a:buNone/>
                      </a:pPr>
                      <a:r>
                        <a:rPr/>
                        <a:t>Identity &amp; overlay minimization</a:t>
                      </a:r>
                    </a:p>
                  </a:txBody>
                </a:tc>
              </a:tr>
            </a:tbl>
          </a:graphicData>
        </a:graphic>
      </p:graphicFrame>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These mappings are canonical and must not be altered.</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7. Runtime Model</a:t>
            </a:r>
          </a:p>
        </p:txBody>
      </p:sp>
      <p:sp>
        <p:nvSpPr>
          <p:cNvPr id="3" name="Content Placeholder 2"/>
          <p:cNvSpPr>
            <a:spLocks noGrp="1"/>
          </p:cNvSpPr>
          <p:nvPr>
            <p:ph idx="1"/>
          </p:nvPr>
        </p:nvSpPr>
        <p:spPr/>
        <p:txBody>
          <a:bodyPr/>
          <a:lstStyle/>
          <a:p>
            <a:pPr lvl="0" indent="0" marL="0">
              <a:buNone/>
            </a:pPr>
            <a:r>
              <a:rPr/>
              <a:t>UIAO’s runtime model directly supports FedRAMP 20x telemetry validation.</a:t>
            </a:r>
          </a:p>
          <a:p>
            <a:pPr lvl="0" indent="0" marL="0">
              <a:spcBef>
                <a:spcPts val="3000"/>
              </a:spcBef>
              <a:buNone/>
            </a:pPr>
            <a:r>
              <a:rPr b="1"/>
              <a:t>7.1 Conversation-Level Telemetry</a:t>
            </a:r>
          </a:p>
          <a:p>
            <a:pPr lvl="0" indent="0" marL="0">
              <a:buNone/>
            </a:pPr>
            <a:r>
              <a:rPr/>
              <a:t>Every conversation produces:</a:t>
            </a:r>
          </a:p>
          <a:p>
            <a:pPr lvl="0"/>
            <a:r>
              <a:rPr/>
              <a:t>Identity metadata</a:t>
            </a:r>
          </a:p>
          <a:p>
            <a:pPr lvl="0"/>
            <a:r>
              <a:rPr/>
              <a:t>Addressing metadata</a:t>
            </a:r>
          </a:p>
          <a:p>
            <a:pPr lvl="0"/>
            <a:r>
              <a:rPr/>
              <a:t>Certificate metadata</a:t>
            </a:r>
          </a:p>
          <a:p>
            <a:pPr lvl="0"/>
            <a:r>
              <a:rPr/>
              <a:t>Path and QoS telemetry</a:t>
            </a:r>
          </a:p>
          <a:p>
            <a:pPr lvl="0"/>
            <a:r>
              <a:rPr/>
              <a:t>Security and assurance signals</a:t>
            </a:r>
          </a:p>
          <a:p>
            <a:pPr lvl="0" indent="0" marL="0">
              <a:spcBef>
                <a:spcPts val="3000"/>
              </a:spcBef>
              <a:buNone/>
            </a:pPr>
            <a:r>
              <a:rPr b="1"/>
              <a:t>7.2 Deterministic Evidence</a:t>
            </a:r>
          </a:p>
          <a:p>
            <a:pPr lvl="0" indent="0" marL="0">
              <a:buNone/>
            </a:pPr>
            <a:r>
              <a:rPr/>
              <a:t>Given identical inputs, UIAO produces identical telemetry outputs — enabling reproducible compliance.</a:t>
            </a:r>
          </a:p>
          <a:p>
            <a:pPr lvl="0" indent="0" marL="0">
              <a:spcBef>
                <a:spcPts val="3000"/>
              </a:spcBef>
              <a:buNone/>
            </a:pPr>
            <a:r>
              <a:rPr b="1"/>
              <a:t>7.3 Continuous Monitoring</a:t>
            </a:r>
          </a:p>
          <a:p>
            <a:pPr lvl="0" indent="0" marL="0">
              <a:buNone/>
            </a:pPr>
            <a:r>
              <a:rPr/>
              <a:t>Telemetry feeds:</a:t>
            </a:r>
          </a:p>
          <a:p>
            <a:pPr lvl="0"/>
            <a:r>
              <a:rPr/>
              <a:t>CA-7 continuous monitoring</a:t>
            </a:r>
          </a:p>
          <a:p>
            <a:pPr lvl="0"/>
            <a:r>
              <a:rPr/>
              <a:t>SI-4 anomaly detection</a:t>
            </a:r>
          </a:p>
          <a:p>
            <a:pPr lvl="0"/>
            <a:r>
              <a:rPr/>
              <a:t>AC-4 segmentation enforcement</a:t>
            </a:r>
          </a:p>
          <a:p>
            <a:pPr lvl="0"/>
            <a:r>
              <a:rPr/>
              <a:t>SC-8 certificate validation</a:t>
            </a:r>
          </a:p>
          <a:p>
            <a:pPr lvl="0" indent="0" marL="0">
              <a:buNone/>
            </a:pPr>
            <a:r>
              <a:rPr/>
              <a:t>This satisfies FedRAMP’s requirement for machine-generated evidence.</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8. Compliance Mapping</a:t>
            </a:r>
          </a:p>
        </p:txBody>
      </p:sp>
      <p:sp>
        <p:nvSpPr>
          <p:cNvPr id="4" name="Text Placeholder 3"/>
          <p:cNvSpPr>
            <a:spLocks noGrp="1"/>
          </p:cNvSpPr>
          <p:nvPr>
            <p:ph idx="2" sz="half" type="body"/>
          </p:nvPr>
        </p:nvSpPr>
        <p:spPr/>
        <p:txBody>
          <a:bodyPr/>
          <a:lstStyle/>
          <a:p>
            <a:pPr lvl="0" indent="0" marL="0">
              <a:spcBef>
                <a:spcPts val="3000"/>
              </a:spcBef>
              <a:buNone/>
            </a:pPr>
            <a:r>
              <a:rPr b="1"/>
              <a:t>8.1 Mandatory 2026 Infrastructure Requirements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ID</a:t>
                      </a:r>
                    </a:p>
                  </a:txBody>
                  <a:tcPr/>
                </a:tc>
                <a:tc>
                  <a:txBody>
                    <a:bodyPr/>
                    <a:lstStyle/>
                    <a:p>
                      <a:pPr lvl="0" indent="0" marL="0">
                        <a:buNone/>
                      </a:pPr>
                      <a:r>
                        <a:rPr/>
                        <a:t>Requirement</a:t>
                      </a:r>
                    </a:p>
                  </a:txBody>
                  <a:tcPr/>
                </a:tc>
                <a:tc>
                  <a:txBody>
                    <a:bodyPr/>
                    <a:lstStyle/>
                    <a:p>
                      <a:pPr lvl="0" indent="0" marL="0">
                        <a:buNone/>
                      </a:pPr>
                      <a:r>
                        <a:rPr/>
                        <a:t>Status</a:t>
                      </a:r>
                    </a:p>
                  </a:txBody>
                  <a:tcPr/>
                </a:tc>
                <a:tc>
                  <a:txBody>
                    <a:bodyPr/>
                    <a:lstStyle/>
                    <a:p>
                      <a:pPr lvl="0" indent="0" marL="0">
                        <a:buNone/>
                      </a:pPr>
                      <a:r>
                        <a:rPr/>
                        <a:t>Deadline</a:t>
                      </a:r>
                    </a:p>
                  </a:txBody>
                  <a:tcPr/>
                </a:tc>
              </a:tr>
              <a:tr h="0">
                <a:tc>
                  <a:txBody>
                    <a:bodyPr/>
                    <a:lstStyle/>
                    <a:p>
                      <a:pPr lvl="0" indent="0" marL="0">
                        <a:buNone/>
                      </a:pPr>
                      <a:r>
                        <a:rPr/>
                        <a:t>NTC-0003</a:t>
                      </a:r>
                    </a:p>
                  </a:txBody>
                </a:tc>
                <a:tc>
                  <a:txBody>
                    <a:bodyPr/>
                    <a:lstStyle/>
                    <a:p>
                      <a:pPr lvl="0" indent="0" marL="0">
                        <a:buNone/>
                      </a:pPr>
                      <a:r>
                        <a:rPr/>
                        <a:t>Automated Security Inbox</a:t>
                      </a:r>
                    </a:p>
                  </a:txBody>
                </a:tc>
                <a:tc>
                  <a:txBody>
                    <a:bodyPr/>
                    <a:lstStyle/>
                    <a:p>
                      <a:pPr lvl="0" indent="0" marL="0">
                        <a:buNone/>
                      </a:pPr>
                      <a:r>
                        <a:rPr/>
                        <a:t>Required</a:t>
                      </a:r>
                    </a:p>
                  </a:txBody>
                </a:tc>
                <a:tc>
                  <a:txBody>
                    <a:bodyPr/>
                    <a:lstStyle/>
                    <a:p>
                      <a:pPr lvl="0" indent="0" marL="0">
                        <a:buNone/>
                      </a:pPr>
                      <a:r>
                        <a:rPr/>
                        <a:t>2026-01-05</a:t>
                      </a:r>
                    </a:p>
                  </a:txBody>
                </a:tc>
              </a:tr>
              <a:tr h="0">
                <a:tc>
                  <a:txBody>
                    <a:bodyPr/>
                    <a:lstStyle/>
                    <a:p>
                      <a:pPr lvl="0" indent="0" marL="0">
                        <a:buNone/>
                      </a:pPr>
                      <a:r>
                        <a:rPr/>
                        <a:t>RFC-0024</a:t>
                      </a:r>
                    </a:p>
                  </a:txBody>
                </a:tc>
                <a:tc>
                  <a:txBody>
                    <a:bodyPr/>
                    <a:lstStyle/>
                    <a:p>
                      <a:pPr lvl="0" indent="0" marL="0">
                        <a:buNone/>
                      </a:pPr>
                      <a:r>
                        <a:rPr/>
                        <a:t>OSCAL Machine-Readability</a:t>
                      </a:r>
                    </a:p>
                  </a:txBody>
                </a:tc>
                <a:tc>
                  <a:txBody>
                    <a:bodyPr/>
                    <a:lstStyle/>
                    <a:p>
                      <a:pPr lvl="0" indent="0" marL="0">
                        <a:buNone/>
                      </a:pPr>
                      <a:r>
                        <a:rPr/>
                        <a:t>Required</a:t>
                      </a:r>
                    </a:p>
                  </a:txBody>
                </a:tc>
                <a:tc>
                  <a:txBody>
                    <a:bodyPr/>
                    <a:lstStyle/>
                    <a:p>
                      <a:pPr lvl="0" indent="0" marL="0">
                        <a:buNone/>
                      </a:pPr>
                      <a:r>
                        <a:rPr/>
                        <a:t>2026-09-30</a:t>
                      </a:r>
                    </a:p>
                  </a:txBody>
                </a:tc>
              </a:tr>
              <a:tr h="0">
                <a:tc>
                  <a:txBody>
                    <a:bodyPr/>
                    <a:lstStyle/>
                    <a:p>
                      <a:pPr lvl="0" indent="0" marL="0">
                        <a:buNone/>
                      </a:pPr>
                      <a:r>
                        <a:rPr/>
                        <a:t>M-24-15</a:t>
                      </a:r>
                    </a:p>
                  </a:txBody>
                </a:tc>
                <a:tc>
                  <a:txBody>
                    <a:bodyPr/>
                    <a:lstStyle/>
                    <a:p>
                      <a:pPr lvl="0" indent="0" marL="0">
                        <a:buNone/>
                      </a:pPr>
                      <a:r>
                        <a:rPr/>
                        <a:t>Phishing-Resistant MFA</a:t>
                      </a:r>
                    </a:p>
                  </a:txBody>
                </a:tc>
                <a:tc>
                  <a:txBody>
                    <a:bodyPr/>
                    <a:lstStyle/>
                    <a:p>
                      <a:pPr lvl="0" indent="0" marL="0">
                        <a:buNone/>
                      </a:pPr>
                      <a:r>
                        <a:rPr/>
                        <a:t>Required</a:t>
                      </a:r>
                    </a:p>
                  </a:txBody>
                </a:tc>
                <a:tc>
                  <a:txBody>
                    <a:bodyPr/>
                    <a:lstStyle/>
                    <a:p>
                      <a:pPr lvl="0" indent="0" marL="0">
                        <a:buNone/>
                      </a:pPr>
                      <a:r>
                        <a:rPr/>
                        <a:t>2026-09-30</a:t>
                      </a:r>
                    </a:p>
                  </a:txBody>
                </a:tc>
              </a:tr>
            </a:tbl>
          </a:graphicData>
        </a:graphic>
      </p:graphicFrame>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UIAO satisfies all three through Entra ID, SD-WAN telemetry, and GitHub-based governance.</a:t>
            </a:r>
          </a:p>
          <a:p>
            <a:pPr lvl="0" indent="0" marL="0">
              <a:spcBef>
                <a:spcPts val="3000"/>
              </a:spcBef>
              <a:buNone/>
            </a:pPr>
            <a:r>
              <a:rPr b="1"/>
              <a:t>8.2 Audit Anchor Summary</a:t>
            </a:r>
          </a:p>
          <a:p>
            <a:pPr lvl="0" indent="0" marL="0">
              <a:buNone/>
            </a:pPr>
            <a:r>
              <a:rPr/>
              <a:t>UIAO provides continuous telemetry via:</a:t>
            </a:r>
          </a:p>
          <a:p>
            <a:pPr lvl="0"/>
            <a:r>
              <a:rPr b="1"/>
              <a:t>Identity Pillar:</a:t>
            </a:r>
            <a:r>
              <a:rPr/>
              <a:t> Entra ID MFA, PIV/FIDO2</a:t>
            </a:r>
          </a:p>
          <a:p>
            <a:pPr lvl="0"/>
            <a:r>
              <a:rPr b="1"/>
              <a:t>Addressing Pillar:</a:t>
            </a:r>
            <a:r>
              <a:rPr/>
              <a:t> Infoblox deterministic IPAM</a:t>
            </a:r>
          </a:p>
          <a:p>
            <a:pPr lvl="0"/>
            <a:r>
              <a:rPr b="1"/>
              <a:t>Overlay Pillar:</a:t>
            </a:r>
            <a:r>
              <a:rPr/>
              <a:t> SD-WAN mTLS service chain</a:t>
            </a:r>
          </a:p>
          <a:p>
            <a:pPr lvl="0"/>
            <a:r>
              <a:rPr b="1"/>
              <a:t>Telemetry Pillar:</a:t>
            </a:r>
            <a:r>
              <a:rPr/>
              <a:t> M365, SD-WAN, DNS, endpoint signals</a:t>
            </a:r>
          </a:p>
          <a:p>
            <a:pPr lvl="0" indent="0" marL="0">
              <a:buNone/>
            </a:pPr>
            <a:r>
              <a:rPr/>
              <a:t>These anchors form the evidence base for FedRAMP 20x.</a:t>
            </a:r>
          </a:p>
          <a:p>
            <a:pPr lvl="0" indent="0" marL="0">
              <a:spcBef>
                <a:spcPts val="3000"/>
              </a:spcBef>
              <a:buNone/>
            </a:pPr>
            <a:r>
              <a:rPr b="1"/>
              <a:t>8.3 KSI Definitions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KSI</a:t>
                      </a:r>
                    </a:p>
                  </a:txBody>
                  <a:tcPr/>
                </a:tc>
                <a:tc>
                  <a:txBody>
                    <a:bodyPr/>
                    <a:lstStyle/>
                    <a:p>
                      <a:pPr lvl="0" indent="0" marL="0">
                        <a:buNone/>
                      </a:pPr>
                      <a:r>
                        <a:rPr/>
                        <a:t>Description</a:t>
                      </a:r>
                    </a:p>
                  </a:txBody>
                  <a:tcPr/>
                </a:tc>
              </a:tr>
              <a:tr h="0">
                <a:tc>
                  <a:txBody>
                    <a:bodyPr/>
                    <a:lstStyle/>
                    <a:p>
                      <a:pPr lvl="0" indent="0" marL="0">
                        <a:buNone/>
                      </a:pPr>
                      <a:r>
                        <a:rPr/>
                        <a:t>KSI-IAM</a:t>
                      </a:r>
                    </a:p>
                  </a:txBody>
                </a:tc>
                <a:tc>
                  <a:txBody>
                    <a:bodyPr/>
                    <a:lstStyle/>
                    <a:p>
                      <a:pPr lvl="0" indent="0" marL="0">
                        <a:buNone/>
                      </a:pPr>
                      <a:r>
                        <a:rPr/>
                        <a:t>Identity authentication logs (Entra ID)</a:t>
                      </a:r>
                    </a:p>
                  </a:txBody>
                </a:tc>
              </a:tr>
              <a:tr h="0">
                <a:tc>
                  <a:txBody>
                    <a:bodyPr/>
                    <a:lstStyle/>
                    <a:p>
                      <a:pPr lvl="0" indent="0" marL="0">
                        <a:buNone/>
                      </a:pPr>
                      <a:r>
                        <a:rPr/>
                        <a:t>KSI-PIY</a:t>
                      </a:r>
                    </a:p>
                  </a:txBody>
                </a:tc>
                <a:tc>
                  <a:txBody>
                    <a:bodyPr/>
                    <a:lstStyle/>
                    <a:p>
                      <a:pPr lvl="0" indent="0" marL="0">
                        <a:buNone/>
                      </a:pPr>
                      <a:r>
                        <a:rPr/>
                        <a:t>Deterministic asset inventory (Infoblox)</a:t>
                      </a:r>
                    </a:p>
                  </a:txBody>
                </a:tc>
              </a:tr>
              <a:tr h="0">
                <a:tc>
                  <a:txBody>
                    <a:bodyPr/>
                    <a:lstStyle/>
                    <a:p>
                      <a:pPr lvl="0" indent="0" marL="0">
                        <a:buNone/>
                      </a:pPr>
                      <a:r>
                        <a:rPr/>
                        <a:t>KSI-MLA</a:t>
                      </a:r>
                    </a:p>
                  </a:txBody>
                </a:tc>
                <a:tc>
                  <a:txBody>
                    <a:bodyPr/>
                    <a:lstStyle/>
                    <a:p>
                      <a:pPr lvl="0" indent="0" marL="0">
                        <a:buNone/>
                      </a:pPr>
                      <a:r>
                        <a:rPr/>
                        <a:t>Network health &amp; path telemetry</a:t>
                      </a:r>
                    </a:p>
                  </a:txBody>
                </a:tc>
              </a:tr>
              <a:tr h="0">
                <a:tc>
                  <a:txBody>
                    <a:bodyPr/>
                    <a:lstStyle/>
                    <a:p>
                      <a:pPr lvl="0" indent="0" marL="0">
                        <a:buNone/>
                      </a:pPr>
                      <a:r>
                        <a:rPr/>
                        <a:t>KSI-SVC</a:t>
                      </a:r>
                    </a:p>
                  </a:txBody>
                </a:tc>
                <a:tc>
                  <a:txBody>
                    <a:bodyPr/>
                    <a:lstStyle/>
                    <a:p>
                      <a:pPr lvl="0" indent="0" marL="0">
                        <a:buNone/>
                      </a:pPr>
                      <a:r>
                        <a:rPr/>
                        <a:t>Certificate enforcement (mTLS)</a:t>
                      </a:r>
                    </a:p>
                  </a:txBody>
                </a:tc>
              </a:tr>
              <a:tr h="0">
                <a:tc>
                  <a:txBody>
                    <a:bodyPr/>
                    <a:lstStyle/>
                    <a:p>
                      <a:pPr lvl="0" indent="0" marL="0">
                        <a:buNone/>
                      </a:pPr>
                      <a:r>
                        <a:rPr/>
                        <a:t>KSI-CMT</a:t>
                      </a:r>
                    </a:p>
                  </a:txBody>
                </a:tc>
                <a:tc>
                  <a:txBody>
                    <a:bodyPr/>
                    <a:lstStyle/>
                    <a:p>
                      <a:pPr lvl="0" indent="0" marL="0">
                        <a:buNone/>
                      </a:pPr>
                      <a:r>
                        <a:rPr/>
                        <a:t>Baseline drift detection (GitHub YAML)</a:t>
                      </a:r>
                    </a:p>
                  </a:txBody>
                </a:tc>
              </a:tr>
              <a:tr h="0">
                <a:tc>
                  <a:txBody>
                    <a:bodyPr/>
                    <a:lstStyle/>
                    <a:p>
                      <a:pPr lvl="0" indent="0" marL="0">
                        <a:buNone/>
                      </a:pPr>
                      <a:r>
                        <a:rPr/>
                        <a:t>KSI-CNA</a:t>
                      </a:r>
                    </a:p>
                  </a:txBody>
                </a:tc>
                <a:tc>
                  <a:txBody>
                    <a:bodyPr/>
                    <a:lstStyle/>
                    <a:p>
                      <a:pPr lvl="0" indent="0" marL="0">
                        <a:buNone/>
                      </a:pPr>
                      <a:r>
                        <a:rPr/>
                        <a:t>Packet-level identity metadata</a:t>
                      </a:r>
                    </a:p>
                  </a:txBody>
                </a:tc>
              </a:tr>
              <a:tr h="0">
                <a:tc>
                  <a:txBody>
                    <a:bodyPr/>
                    <a:lstStyle/>
                    <a:p>
                      <a:pPr lvl="0" indent="0" marL="0">
                        <a:buNone/>
                      </a:pPr>
                      <a:r>
                        <a:rPr/>
                        <a:t>KSI-CED</a:t>
                      </a:r>
                    </a:p>
                  </a:txBody>
                </a:tc>
                <a:tc>
                  <a:txBody>
                    <a:bodyPr/>
                    <a:lstStyle/>
                    <a:p>
                      <a:pPr lvl="0" indent="0" marL="0">
                        <a:buNone/>
                      </a:pPr>
                      <a:r>
                        <a:rPr/>
                        <a:t>Data minimization enforcement</a:t>
                      </a:r>
                    </a:p>
                  </a:txBody>
                </a:tc>
              </a:tr>
            </a:tbl>
          </a:graphicData>
        </a:graphic>
      </p:graphicFrame>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These KSIs are mandatory for FedRAMP 20x validation.</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9. Dependencies &amp; Sequencing</a:t>
            </a:r>
          </a:p>
        </p:txBody>
      </p:sp>
      <p:sp>
        <p:nvSpPr>
          <p:cNvPr id="3" name="Content Placeholder 2"/>
          <p:cNvSpPr>
            <a:spLocks noGrp="1"/>
          </p:cNvSpPr>
          <p:nvPr>
            <p:ph idx="1"/>
          </p:nvPr>
        </p:nvSpPr>
        <p:spPr/>
        <p:txBody>
          <a:bodyPr/>
          <a:lstStyle/>
          <a:p>
            <a:pPr lvl="0" indent="0" marL="0">
              <a:spcBef>
                <a:spcPts val="3000"/>
              </a:spcBef>
              <a:buNone/>
            </a:pPr>
            <a:r>
              <a:rPr b="1"/>
              <a:t>Upstream Dependencies</a:t>
            </a:r>
          </a:p>
          <a:p>
            <a:pPr lvl="0"/>
            <a:r>
              <a:rPr/>
              <a:t>Identity modernization (Workstream A)</a:t>
            </a:r>
          </a:p>
          <a:p>
            <a:pPr lvl="0"/>
            <a:r>
              <a:rPr/>
              <a:t>SD-WAN HLD/LLD (Workstream B)</a:t>
            </a:r>
          </a:p>
          <a:p>
            <a:pPr lvl="0"/>
            <a:r>
              <a:rPr/>
              <a:t>IPAM modernization (Workstream C)</a:t>
            </a:r>
          </a:p>
          <a:p>
            <a:pPr lvl="0"/>
            <a:r>
              <a:rPr/>
              <a:t>Telemetry integration (Workstream D)</a:t>
            </a:r>
          </a:p>
          <a:p>
            <a:pPr lvl="0" indent="0" marL="0">
              <a:spcBef>
                <a:spcPts val="3000"/>
              </a:spcBef>
              <a:buNone/>
            </a:pPr>
            <a:r>
              <a:rPr b="1"/>
              <a:t>Downstream Dependencies</a:t>
            </a:r>
          </a:p>
          <a:p>
            <a:pPr lvl="0"/>
            <a:r>
              <a:rPr/>
              <a:t>TIC 3.0 Cloud &amp; Branch packages</a:t>
            </a:r>
          </a:p>
          <a:p>
            <a:pPr lvl="0"/>
            <a:r>
              <a:rPr/>
              <a:t>FedRAMP annual assessment</a:t>
            </a:r>
          </a:p>
          <a:p>
            <a:pPr lvl="0"/>
            <a:r>
              <a:rPr/>
              <a:t>Continuous monitoring dashboards</a:t>
            </a:r>
          </a:p>
          <a:p>
            <a:pPr lvl="0"/>
            <a:r>
              <a:rPr/>
              <a:t>Governance workflows</a:t>
            </a:r>
          </a:p>
          <a:p>
            <a:pPr lvl="0" indent="0" marL="0">
              <a:spcBef>
                <a:spcPts val="3000"/>
              </a:spcBef>
              <a:buNone/>
            </a:pPr>
            <a:r>
              <a:rPr b="1"/>
              <a:t>Timeline Alignment</a:t>
            </a:r>
          </a:p>
          <a:p>
            <a:pPr lvl="0" indent="0" marL="0">
              <a:buNone/>
            </a:pPr>
            <a:r>
              <a:rPr/>
              <a:t>This document aligns with Months 3-6 of the modernization timeline.</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10. Governance &amp; Drift Controls</a:t>
            </a:r>
          </a:p>
        </p:txBody>
      </p:sp>
      <p:sp>
        <p:nvSpPr>
          <p:cNvPr id="4" name="Text Placeholder 3"/>
          <p:cNvSpPr>
            <a:spLocks noGrp="1"/>
          </p:cNvSpPr>
          <p:nvPr>
            <p:ph idx="2" sz="half" type="body"/>
          </p:nvPr>
        </p:nvSpPr>
        <p:spPr/>
        <p:txBody>
          <a:bodyPr/>
          <a:lstStyle/>
          <a:p>
            <a:pPr lvl="0" indent="0" marL="0">
              <a:spcBef>
                <a:spcPts val="3000"/>
              </a:spcBef>
              <a:buNone/>
            </a:pPr>
            <a:r>
              <a:rPr b="1"/>
              <a:t>Source of Authority</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Domain</a:t>
                      </a:r>
                    </a:p>
                  </a:txBody>
                  <a:tcPr/>
                </a:tc>
                <a:tc>
                  <a:txBody>
                    <a:bodyPr/>
                    <a:lstStyle/>
                    <a:p>
                      <a:pPr lvl="0" indent="0" marL="0">
                        <a:buNone/>
                      </a:pPr>
                      <a:r>
                        <a:rPr/>
                        <a:t>Authority</a:t>
                      </a:r>
                    </a:p>
                  </a:txBody>
                  <a:tcPr/>
                </a:tc>
              </a:tr>
              <a:tr h="0">
                <a:tc>
                  <a:txBody>
                    <a:bodyPr/>
                    <a:lstStyle/>
                    <a:p>
                      <a:pPr lvl="0" indent="0" marL="0">
                        <a:buNone/>
                      </a:pPr>
                      <a:r>
                        <a:rPr/>
                        <a:t>Identity lifecycle</a:t>
                      </a:r>
                    </a:p>
                  </a:txBody>
                </a:tc>
                <a:tc>
                  <a:txBody>
                    <a:bodyPr/>
                    <a:lstStyle/>
                    <a:p>
                      <a:pPr lvl="0" indent="0" marL="0">
                        <a:buNone/>
                      </a:pPr>
                      <a:r>
                        <a:rPr/>
                        <a:t>HR</a:t>
                      </a:r>
                    </a:p>
                  </a:txBody>
                </a:tc>
              </a:tr>
              <a:tr h="0">
                <a:tc>
                  <a:txBody>
                    <a:bodyPr/>
                    <a:lstStyle/>
                    <a:p>
                      <a:pPr lvl="0" indent="0" marL="0">
                        <a:buNone/>
                      </a:pPr>
                      <a:r>
                        <a:rPr/>
                        <a:t>Addressing</a:t>
                      </a:r>
                    </a:p>
                  </a:txBody>
                </a:tc>
                <a:tc>
                  <a:txBody>
                    <a:bodyPr/>
                    <a:lstStyle/>
                    <a:p>
                      <a:pPr lvl="0" indent="0" marL="0">
                        <a:buNone/>
                      </a:pPr>
                      <a:r>
                        <a:rPr/>
                        <a:t>Network architecture</a:t>
                      </a:r>
                    </a:p>
                  </a:txBody>
                </a:tc>
              </a:tr>
              <a:tr h="0">
                <a:tc>
                  <a:txBody>
                    <a:bodyPr/>
                    <a:lstStyle/>
                    <a:p>
                      <a:pPr lvl="0" indent="0" marL="0">
                        <a:buNone/>
                      </a:pPr>
                      <a:r>
                        <a:rPr/>
                        <a:t>Certificate trust</a:t>
                      </a:r>
                    </a:p>
                  </a:txBody>
                </a:tc>
                <a:tc>
                  <a:txBody>
                    <a:bodyPr/>
                    <a:lstStyle/>
                    <a:p>
                      <a:pPr lvl="0" indent="0" marL="0">
                        <a:buNone/>
                      </a:pPr>
                      <a:r>
                        <a:rPr/>
                        <a:t>PKI</a:t>
                      </a:r>
                    </a:p>
                  </a:txBody>
                </a:tc>
              </a:tr>
              <a:tr h="0">
                <a:tc>
                  <a:txBody>
                    <a:bodyPr/>
                    <a:lstStyle/>
                    <a:p>
                      <a:pPr lvl="0" indent="0" marL="0">
                        <a:buNone/>
                      </a:pPr>
                      <a:r>
                        <a:rPr/>
                        <a:t>Configuration baselines</a:t>
                      </a:r>
                    </a:p>
                  </a:txBody>
                </a:tc>
                <a:tc>
                  <a:txBody>
                    <a:bodyPr/>
                    <a:lstStyle/>
                    <a:p>
                      <a:pPr lvl="0" indent="0" marL="0">
                        <a:buNone/>
                      </a:pPr>
                      <a:r>
                        <a:rPr/>
                        <a:t>System owners</a:t>
                      </a:r>
                    </a:p>
                  </a:txBody>
                </a:tc>
              </a:tr>
            </a:tbl>
          </a:graphicData>
        </a:graphic>
      </p:graphicFrame>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Drift Detection</a:t>
            </a:r>
          </a:p>
          <a:p>
            <a:pPr lvl="0"/>
            <a:r>
              <a:rPr/>
              <a:t>GitHub YAML baseline comparison</a:t>
            </a:r>
          </a:p>
          <a:p>
            <a:pPr lvl="0"/>
            <a:r>
              <a:rPr/>
              <a:t>ServiceNow CMDB reconciliation</a:t>
            </a:r>
          </a:p>
          <a:p>
            <a:pPr lvl="0"/>
            <a:r>
              <a:rPr/>
              <a:t>Intune compliance</a:t>
            </a:r>
          </a:p>
          <a:p>
            <a:pPr lvl="0"/>
            <a:r>
              <a:rPr/>
              <a:t>SD-WAN overlay validation</a:t>
            </a:r>
          </a:p>
          <a:p>
            <a:pPr lvl="0"/>
            <a:r>
              <a:rPr/>
              <a:t>IPAM reconciliation</a:t>
            </a:r>
          </a:p>
          <a:p>
            <a:pPr lvl="0" indent="0" marL="0">
              <a:spcBef>
                <a:spcPts val="3000"/>
              </a:spcBef>
              <a:buNone/>
            </a:pPr>
            <a:r>
              <a:rPr b="1"/>
              <a:t>Remediation Workflow</a:t>
            </a:r>
          </a:p>
          <a:p>
            <a:pPr lvl="0"/>
            <a:r>
              <a:rPr/>
              <a:t>Automated ServiceNow change</a:t>
            </a:r>
          </a:p>
          <a:p>
            <a:pPr lvl="0"/>
            <a:r>
              <a:rPr/>
              <a:t>Conditional Access enforcement</a:t>
            </a:r>
          </a:p>
          <a:p>
            <a:pPr lvl="0"/>
            <a:r>
              <a:rPr/>
              <a:t>Certificate renewal</a:t>
            </a:r>
          </a:p>
          <a:p>
            <a:pPr lvl="0"/>
            <a:r>
              <a:rPr/>
              <a:t>IPAM correction</a:t>
            </a:r>
          </a:p>
          <a:p>
            <a:pPr lvl="0" indent="0" marL="0">
              <a:spcBef>
                <a:spcPts val="3000"/>
              </a:spcBef>
              <a:buNone/>
            </a:pPr>
            <a:r>
              <a:rPr b="1"/>
              <a:t>Audit Anchors</a:t>
            </a:r>
          </a:p>
          <a:p>
            <a:pPr lvl="0"/>
            <a:r>
              <a:rPr/>
              <a:t>Entra ID logs</a:t>
            </a:r>
          </a:p>
          <a:p>
            <a:pPr lvl="0"/>
            <a:r>
              <a:rPr/>
              <a:t>Infoblox API records</a:t>
            </a:r>
          </a:p>
          <a:p>
            <a:pPr lvl="0"/>
            <a:r>
              <a:rPr/>
              <a:t>SD-WAN telemetry</a:t>
            </a:r>
          </a:p>
          <a:p>
            <a:pPr lvl="0"/>
            <a:r>
              <a:rPr/>
              <a:t>Intune compliance reports</a:t>
            </a:r>
          </a:p>
          <a:p>
            <a:pPr lvl="0"/>
            <a:r>
              <a:rPr/>
              <a:t>ServiceNow audit trails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11. Appendices</a:t>
            </a:r>
          </a:p>
        </p:txBody>
      </p:sp>
      <p:sp>
        <p:nvSpPr>
          <p:cNvPr id="3" name="Content Placeholder 2"/>
          <p:cNvSpPr>
            <a:spLocks noGrp="1"/>
          </p:cNvSpPr>
          <p:nvPr>
            <p:ph idx="1"/>
          </p:nvPr>
        </p:nvSpPr>
        <p:spPr/>
        <p:txBody>
          <a:bodyPr/>
          <a:lstStyle/>
          <a:p>
            <a:pPr lvl="0" indent="0" marL="0">
              <a:spcBef>
                <a:spcPts val="3000"/>
              </a:spcBef>
              <a:buNone/>
            </a:pPr>
            <a:r>
              <a:rPr b="1"/>
              <a:t>Appendix A: Definitions</a:t>
            </a:r>
          </a:p>
          <a:p>
            <a:pPr lvl="0" indent="0" marL="0">
              <a:buNone/>
            </a:pPr>
            <a:r>
              <a:rPr i="1"/>
              <a:t>See </a:t>
            </a:r>
            <a:r>
              <a:rPr i="1">
                <a:latin typeface="Courier"/>
              </a:rPr>
              <a:t>docs/glossary.md</a:t>
            </a:r>
          </a:p>
          <a:p>
            <a:pPr lvl="0" indent="0" marL="0">
              <a:spcBef>
                <a:spcPts val="3000"/>
              </a:spcBef>
              <a:buNone/>
            </a:pPr>
            <a:r>
              <a:rPr b="1"/>
              <a:t>Appendix B: Tables</a:t>
            </a:r>
          </a:p>
          <a:p>
            <a:pPr lvl="0" indent="0" marL="0">
              <a:buNone/>
            </a:pPr>
            <a:r>
              <a:rPr i="1"/>
              <a:t>Fundamental Concept Mapping table is in Section 6.2. KSI Definitions table is in Section 8.3. Mandatory 2026 Requirements table is in Section 8.1.</a:t>
            </a:r>
          </a:p>
          <a:p>
            <a:pPr lvl="0" indent="0" marL="0">
              <a:spcBef>
                <a:spcPts val="3000"/>
              </a:spcBef>
              <a:buNone/>
            </a:pPr>
            <a:r>
              <a:rPr b="1"/>
              <a:t>Appendix C: Diagram References</a:t>
            </a:r>
          </a:p>
          <a:p>
            <a:pPr lvl="0" indent="0" marL="0">
              <a:buNone/>
            </a:pPr>
            <a:r>
              <a:rPr i="1"/>
              <a:t>See </a:t>
            </a:r>
            <a:r>
              <a:rPr i="1">
                <a:latin typeface="Courier"/>
              </a:rPr>
              <a:t>docs/images/</a:t>
            </a:r>
            <a:r>
              <a:rPr i="1"/>
              <a:t> for all referenced architecture diagrams.</a:t>
            </a:r>
          </a:p>
          <a:p>
            <a:pPr lvl="0" indent="0" marL="0">
              <a:spcBef>
                <a:spcPts val="3000"/>
              </a:spcBef>
              <a:buNone/>
            </a:pPr>
            <a:r>
              <a:rPr b="1"/>
              <a:t>Appendix D: Evidence Sources</a:t>
            </a:r>
          </a:p>
          <a:p>
            <a:pPr lvl="0" indent="0" marL="0">
              <a:buNone/>
            </a:pPr>
            <a:r>
              <a:rPr i="1"/>
              <a:t>See </a:t>
            </a:r>
            <a:r>
              <a:rPr i="1">
                <a:latin typeface="Courier"/>
              </a:rPr>
              <a:t>data/parameters.yml</a:t>
            </a:r>
            <a:r>
              <a:rPr i="1"/>
              <a:t> and control-library entries for evidence source catalogs.</a:t>
            </a:r>
          </a:p>
          <a:p>
            <a:pPr lvl="0" indent="0" marL="0">
              <a:spcBef>
                <a:spcPts val="3000"/>
              </a:spcBef>
              <a:buNone/>
            </a:pPr>
            <a:r>
              <a:rPr b="1"/>
              <a:t>Appendix E: KSI Reference Model</a:t>
            </a:r>
          </a:p>
          <a:p>
            <a:pPr lvl="0" indent="0" marL="0">
              <a:buNone/>
            </a:pPr>
            <a:r>
              <a:rPr i="1"/>
              <a:t>KSI definitions are in Section 8.3. Machine-readable KSI mappings are in </a:t>
            </a:r>
            <a:r>
              <a:rPr i="1">
                <a:latin typeface="Courier"/>
              </a:rPr>
              <a:t>data/crosswalk-index.yml</a:t>
            </a:r>
            <a:r>
              <a:rPr i="1"/>
              <a:t>.</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12. Revision History</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Version</a:t>
                      </a:r>
                    </a:p>
                  </a:txBody>
                  <a:tcPr/>
                </a:tc>
                <a:tc>
                  <a:txBody>
                    <a:bodyPr/>
                    <a:lstStyle/>
                    <a:p>
                      <a:pPr lvl="0" indent="0" marL="0">
                        <a:buNone/>
                      </a:pPr>
                      <a:r>
                        <a:rPr/>
                        <a:t>Date</a:t>
                      </a:r>
                    </a:p>
                  </a:txBody>
                  <a:tcPr/>
                </a:tc>
                <a:tc>
                  <a:txBody>
                    <a:bodyPr/>
                    <a:lstStyle/>
                    <a:p>
                      <a:pPr lvl="0" indent="0" marL="0">
                        <a:buNone/>
                      </a:pPr>
                      <a:r>
                        <a:rPr/>
                        <a:t>Author</a:t>
                      </a:r>
                    </a:p>
                  </a:txBody>
                  <a:tcPr/>
                </a:tc>
                <a:tc>
                  <a:txBody>
                    <a:bodyPr/>
                    <a:lstStyle/>
                    <a:p>
                      <a:pPr lvl="0" indent="0" marL="0">
                        <a:buNone/>
                      </a:pPr>
                      <a:r>
                        <a:rPr/>
                        <a:t>Summary of Changes</a:t>
                      </a:r>
                    </a:p>
                  </a:txBody>
                  <a:tcPr/>
                </a:tc>
              </a:tr>
              <a:tr h="0">
                <a:tc>
                  <a:txBody>
                    <a:bodyPr/>
                    <a:lstStyle/>
                    <a:p>
                      <a:pPr lvl="0" indent="0" marL="0">
                        <a:buNone/>
                      </a:pPr>
                      <a:r>
                        <a:rPr/>
                        <a:t>1.0</a:t>
                      </a:r>
                    </a:p>
                  </a:txBody>
                </a:tc>
                <a:tc>
                  <a:txBody>
                    <a:bodyPr/>
                    <a:lstStyle/>
                    <a:p>
                      <a:pPr lvl="0" indent="0" marL="0">
                        <a:buNone/>
                      </a:pPr>
                      <a:r>
                        <a:rPr/>
                        <a:t>2026-03</a:t>
                      </a:r>
                    </a:p>
                  </a:txBody>
                </a:tc>
                <a:tc>
                  <a:txBody>
                    <a:bodyPr/>
                    <a:lstStyle/>
                    <a:p>
                      <a:pPr lvl="0" indent="0" marL="0">
                        <a:buNone/>
                      </a:pPr>
                      <a:r>
                        <a:rPr/>
                        <a:t>UIAO Canon Engine</a:t>
                      </a:r>
                    </a:p>
                  </a:txBody>
                </a:tc>
                <a:tc>
                  <a:txBody>
                    <a:bodyPr/>
                    <a:lstStyle/>
                    <a:p>
                      <a:pPr lvl="0" indent="0" marL="0">
                        <a:buNone/>
                      </a:pPr>
                      <a:r>
                        <a:rPr/>
                        <a:t>Initial canonical release</a:t>
                      </a:r>
                    </a:p>
                  </a:txBody>
                </a:tc>
              </a:tr>
            </a:tbl>
          </a:graphicData>
        </a:graphic>
      </p:graphicFrame>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03 Fedramp20X Crosswalk</dc:title>
  <dc:creator>UIAO Modernization Program</dc:creator>
  <cp:keywords/>
  <dcterms:created xsi:type="dcterms:W3CDTF">2026-04-03T14:22:38Z</dcterms:created>
  <dcterms:modified xsi:type="dcterms:W3CDTF">2026-04-03T14:22:38Z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crossref">
    <vt:lpwstr/>
  </property>
  <property fmtid="{D5CDD505-2E9C-101B-9397-08002B2CF9AE}" pid="6" name="date">
    <vt:lpwstr>April 3, 2026</vt:lpwstr>
  </property>
  <property fmtid="{D5CDD505-2E9C-101B-9397-08002B2CF9AE}" pid="7" name="date-format">
    <vt:lpwstr>MMMM D, YYYY</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mermaid">
    <vt:lpwstr/>
  </property>
  <property fmtid="{D5CDD505-2E9C-101B-9397-08002B2CF9AE}" pid="13" name="toc-title">
    <vt:lpwstr>Table of contents</vt:lpwstr>
  </property>
</Properties>
</file>