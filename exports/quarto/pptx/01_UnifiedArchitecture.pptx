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01 Unifiedarchitecture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Unified Identity-Addressing-Overlay Architecture (UIAO)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Unified Architecture Specification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unified architecture of the Unified Identity-Addressing-Overlay (UIAO) system. It integrates all six control planes into a single, coherent, identity-driven, telemetry-informed modernization framework. It serves as the architectural foundation for project plans, compliance mappings, modernization timelines, and executive briefings.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Unified architectural model across all six control planes</a:t>
            </a:r>
          </a:p>
          <a:p>
            <a:pPr lvl="0"/>
            <a:r>
              <a:rPr/>
              <a:t>Cross-plane interactions and dependencies</a:t>
            </a:r>
          </a:p>
          <a:p>
            <a:pPr lvl="0"/>
            <a:r>
              <a:rPr/>
              <a:t>Core concepts and runtime behavior</a:t>
            </a:r>
          </a:p>
          <a:p>
            <a:pPr lvl="0"/>
            <a:r>
              <a:rPr/>
              <a:t>Architectural principles and modernization rationale</a:t>
            </a:r>
          </a:p>
          <a:p>
            <a:pPr lvl="0"/>
            <a:r>
              <a:rPr/>
              <a:t>Frozen state analysis and required state transitions</a:t>
            </a:r>
          </a:p>
          <a:p>
            <a:pPr lvl="0" indent="0" marL="0">
              <a:spcBef>
                <a:spcPts val="3000"/>
              </a:spcBef>
              <a:buNone/>
            </a:pPr>
            <a:r>
              <a:rPr b="1"/>
              <a:t>Excluded</a:t>
            </a:r>
          </a:p>
          <a:p>
            <a:pPr lvl="0"/>
            <a:r>
              <a:rPr/>
              <a:t>Detailed plane-specific specifications (see </a:t>
            </a:r>
            <a:r>
              <a:rPr>
                <a:latin typeface="Courier"/>
              </a:rPr>
              <a:t>00_ControlPlaneArchitecture.md</a:t>
            </a:r>
            <a:r>
              <a:rPr/>
              <a:t>)</a:t>
            </a:r>
          </a:p>
          <a:p>
            <a:pPr lvl="0"/>
            <a:r>
              <a:rPr/>
              <a:t>Implementation guides</a:t>
            </a:r>
          </a:p>
          <a:p>
            <a:pPr lvl="0"/>
            <a:r>
              <a:rPr/>
              <a:t>Vendor-specific deployment instructions</a:t>
            </a:r>
          </a:p>
          <a:p>
            <a:pPr lvl="0"/>
            <a:r>
              <a:rPr/>
              <a:t>Project plan details (covered in modernization appendices)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This document describes the unified behavior of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Role in Unified Architecture</a:t>
                      </a:r>
                    </a:p>
                  </a:txBody>
                  <a:tcPr/>
                </a:tc>
              </a:tr>
              <a:tr h="0">
                <a:tc>
                  <a:txBody>
                    <a:bodyPr/>
                    <a:lstStyle/>
                    <a:p>
                      <a:pPr lvl="0" indent="0" marL="0">
                        <a:buNone/>
                      </a:pPr>
                      <a:r>
                        <a:rPr/>
                        <a:t>Identity</a:t>
                      </a:r>
                    </a:p>
                  </a:txBody>
                </a:tc>
                <a:tc>
                  <a:txBody>
                    <a:bodyPr/>
                    <a:lstStyle/>
                    <a:p>
                      <a:pPr lvl="0" indent="0" marL="0">
                        <a:buNone/>
                      </a:pPr>
                      <a:r>
                        <a:rPr/>
                        <a:t>Root namespace and assurance engine</a:t>
                      </a:r>
                    </a:p>
                  </a:txBody>
                </a:tc>
              </a:tr>
              <a:tr h="0">
                <a:tc>
                  <a:txBody>
                    <a:bodyPr/>
                    <a:lstStyle/>
                    <a:p>
                      <a:pPr lvl="0" indent="0" marL="0">
                        <a:buNone/>
                      </a:pPr>
                      <a:r>
                        <a:rPr/>
                        <a:t>Network</a:t>
                      </a:r>
                    </a:p>
                  </a:txBody>
                </a:tc>
                <a:tc>
                  <a:txBody>
                    <a:bodyPr/>
                    <a:lstStyle/>
                    <a:p>
                      <a:pPr lvl="0" indent="0" marL="0">
                        <a:buNone/>
                      </a:pPr>
                      <a:r>
                        <a:rPr/>
                        <a:t>Routing, segmentation, and overlay transport</a:t>
                      </a:r>
                    </a:p>
                  </a:txBody>
                </a:tc>
              </a:tr>
              <a:tr h="0">
                <a:tc>
                  <a:txBody>
                    <a:bodyPr/>
                    <a:lstStyle/>
                    <a:p>
                      <a:pPr lvl="0" indent="0" marL="0">
                        <a:buNone/>
                      </a:pPr>
                      <a:r>
                        <a:rPr/>
                        <a:t>Addressing</a:t>
                      </a:r>
                    </a:p>
                  </a:txBody>
                </a:tc>
                <a:tc>
                  <a:txBody>
                    <a:bodyPr/>
                    <a:lstStyle/>
                    <a:p>
                      <a:pPr lvl="0" indent="0" marL="0">
                        <a:buNone/>
                      </a:pPr>
                      <a:r>
                        <a:rPr/>
                        <a:t>Deterministic IPAM and DNS/DHCP authority</a:t>
                      </a:r>
                    </a:p>
                  </a:txBody>
                </a:tc>
              </a:tr>
              <a:tr h="0">
                <a:tc>
                  <a:txBody>
                    <a:bodyPr/>
                    <a:lstStyle/>
                    <a:p>
                      <a:pPr lvl="0" indent="0" marL="0">
                        <a:buNone/>
                      </a:pPr>
                      <a:r>
                        <a:rPr/>
                        <a:t>Telemetry &amp; Location</a:t>
                      </a:r>
                    </a:p>
                  </a:txBody>
                </a:tc>
                <a:tc>
                  <a:txBody>
                    <a:bodyPr/>
                    <a:lstStyle/>
                    <a:p>
                      <a:pPr lvl="0" indent="0" marL="0">
                        <a:buNone/>
                      </a:pPr>
                      <a:r>
                        <a:rPr/>
                        <a:t>Real-time signals for routing, security, and compliance</a:t>
                      </a:r>
                    </a:p>
                  </a:txBody>
                </a:tc>
              </a:tr>
              <a:tr h="0">
                <a:tc>
                  <a:txBody>
                    <a:bodyPr/>
                    <a:lstStyle/>
                    <a:p>
                      <a:pPr lvl="0" indent="0" marL="0">
                        <a:buNone/>
                      </a:pPr>
                      <a:r>
                        <a:rPr/>
                        <a:t>Security &amp; Compliance</a:t>
                      </a:r>
                    </a:p>
                  </a:txBody>
                </a:tc>
                <a:tc>
                  <a:txBody>
                    <a:bodyPr/>
                    <a:lstStyle/>
                    <a:p>
                      <a:pPr lvl="0" indent="0" marL="0">
                        <a:buNone/>
                      </a:pPr>
                      <a:r>
                        <a:rPr/>
                        <a:t>Zero Trust enforcement and FedRAMP alignment</a:t>
                      </a:r>
                    </a:p>
                  </a:txBody>
                </a:tc>
              </a:tr>
              <a:tr h="0">
                <a:tc>
                  <a:txBody>
                    <a:bodyPr/>
                    <a:lstStyle/>
                    <a:p>
                      <a:pPr lvl="0" indent="0" marL="0">
                        <a:buNone/>
                      </a:pPr>
                      <a:r>
                        <a:rPr/>
                        <a:t>Management</a:t>
                      </a:r>
                    </a:p>
                  </a:txBody>
                </a:tc>
                <a:tc>
                  <a:txBody>
                    <a:bodyPr/>
                    <a:lstStyle/>
                    <a:p>
                      <a:pPr lvl="0" indent="0" marL="0">
                        <a:buNone/>
                      </a:pPr>
                      <a:r>
                        <a:rPr/>
                        <a:t>Governance, drift detection, CMDB,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unified architecture is the composition of these planes operating deterministically.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unified architecture is governed by the Eight Core Concepts, which must appear identically across all UIAO documents: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a:t>
            </a:r>
          </a:p>
          <a:p>
            <a:pPr lvl="0" indent="-342900" marL="342900">
              <a:buAutoNum type="arabicPeriod"/>
            </a:pPr>
            <a:r>
              <a:rPr/>
              <a:t>Identity as the root namespace</a:t>
            </a:r>
          </a:p>
          <a:p>
            <a:pPr lvl="0" indent="-342900" marL="342900">
              <a:buAutoNum type="arabicPeriod"/>
            </a:pPr>
            <a:r>
              <a:rPr/>
              <a:t>Deterministic addressing</a:t>
            </a:r>
          </a:p>
          <a:p>
            <a:pPr lvl="0" indent="-342900" marL="342900">
              <a:buAutoNum type="arabicPeriod"/>
            </a:pPr>
            <a:r>
              <a:rPr/>
              <a:t>Certificate-anchored overlay</a:t>
            </a:r>
          </a:p>
          <a:p>
            <a:pPr lvl="0" indent="-342900" marL="342900">
              <a:buAutoNum type="arabicPeriod"/>
            </a:pPr>
            <a:r>
              <a:rPr/>
              <a:t>Telemetry as control</a:t>
            </a:r>
          </a:p>
          <a:p>
            <a:pPr lvl="0" indent="-342900" marL="342900">
              <a:buAutoNum type="arabicPeriod"/>
            </a:pPr>
            <a:r>
              <a:rPr/>
              <a:t>Embedded governance &amp; automation</a:t>
            </a:r>
          </a:p>
          <a:p>
            <a:pPr lvl="0" indent="-342900" marL="342900">
              <a:buAutoNum type="arabicPeriod"/>
            </a:pPr>
            <a:r>
              <a:rPr/>
              <a:t>Public service first</a:t>
            </a:r>
          </a:p>
          <a:p>
            <a:pPr lvl="0" indent="0" marL="0">
              <a:buNone/>
            </a:pPr>
            <a:r>
              <a:rPr/>
              <a:t>These concepts define the architectural philosophy and runtime behavior of UIAO.</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UIAO architecture replaces legacy perimeter-centric, device-centric, and location-centric models with a federated, identity-driven, telemetry-informed control plane system. Each plane is authoritative for its domain, but all planes operate as a single, deterministic system.</a:t>
            </a:r>
          </a:p>
          <a:p>
            <a:pPr lvl="0" indent="0" marL="0">
              <a:buNone/>
            </a:pPr>
            <a:r>
              <a:rPr/>
              <a:t>The architecture is designed to:</a:t>
            </a:r>
          </a:p>
          <a:p>
            <a:pPr lvl="0"/>
            <a:r>
              <a:rPr/>
              <a:t>Eliminate TIC 2.0 bottlenecks</a:t>
            </a:r>
          </a:p>
          <a:p>
            <a:pPr lvl="0"/>
            <a:r>
              <a:rPr/>
              <a:t>Replace static addressing with identity-derived addressing</a:t>
            </a:r>
          </a:p>
          <a:p>
            <a:pPr lvl="0"/>
            <a:r>
              <a:rPr/>
              <a:t>Replace siloed logs with conversation-level telemetry</a:t>
            </a:r>
          </a:p>
          <a:p>
            <a:pPr lvl="0"/>
            <a:r>
              <a:rPr/>
              <a:t>Replace manual governance with automated enforcement</a:t>
            </a:r>
          </a:p>
          <a:p>
            <a:pPr lvl="0"/>
            <a:r>
              <a:rPr/>
              <a:t>Replace perimeter trust with continuous Zero Trust evaluation</a:t>
            </a:r>
          </a:p>
          <a:p>
            <a:pPr lvl="0" indent="0" marL="0">
              <a:spcBef>
                <a:spcPts val="3000"/>
              </a:spcBef>
              <a:buNone/>
            </a:pPr>
            <a:r>
              <a:rPr b="1"/>
              <a:t>6.2 Architectural Principles</a:t>
            </a:r>
          </a:p>
          <a:p>
            <a:pPr lvl="0" indent="0" marL="0">
              <a:buNone/>
            </a:pPr>
            <a:r>
              <a:rPr/>
              <a:t>The unified architecture is governed by the following principles:</a:t>
            </a:r>
          </a:p>
          <a:p>
            <a:pPr lvl="0"/>
            <a:r>
              <a:rPr/>
              <a:t>Zero Trust by default</a:t>
            </a:r>
          </a:p>
          <a:p>
            <a:pPr lvl="0"/>
            <a:r>
              <a:rPr/>
              <a:t>Identity as the new perimeter</a:t>
            </a:r>
          </a:p>
          <a:p>
            <a:pPr lvl="0"/>
            <a:r>
              <a:rPr/>
              <a:t>Telemetry as the truth source</a:t>
            </a:r>
          </a:p>
          <a:p>
            <a:pPr lvl="0"/>
            <a:r>
              <a:rPr/>
              <a:t>Cloud-first routing</a:t>
            </a:r>
          </a:p>
          <a:p>
            <a:pPr lvl="0"/>
            <a:r>
              <a:rPr/>
              <a:t>Incremental modernization (no big-bang)</a:t>
            </a:r>
          </a:p>
          <a:p>
            <a:pPr lvl="0"/>
            <a:r>
              <a:rPr/>
              <a:t>FedRAMP-aligned controls</a:t>
            </a:r>
          </a:p>
          <a:p>
            <a:pPr lvl="0"/>
            <a:r>
              <a:rPr/>
              <a:t>Modular, extensible architecture</a:t>
            </a:r>
          </a:p>
          <a:p>
            <a:pPr lvl="0" indent="0" marL="0">
              <a:buNone/>
            </a:pPr>
            <a:r>
              <a:rPr/>
              <a:t>These principles are mandatory across all UIAO implementations.</a:t>
            </a:r>
          </a:p>
          <a:p>
            <a:pPr lvl="0" indent="0" marL="0">
              <a:spcBef>
                <a:spcPts val="3000"/>
              </a:spcBef>
              <a:buNone/>
            </a:pPr>
            <a:r>
              <a:rPr b="1"/>
              <a:t>6.3 Plane Interactions</a:t>
            </a:r>
          </a:p>
          <a:p>
            <a:pPr lvl="0" indent="0" marL="0">
              <a:spcBef>
                <a:spcPts val="3000"/>
              </a:spcBef>
              <a:buNone/>
            </a:pPr>
            <a:r>
              <a:rPr b="1"/>
              <a:t>Identity &lt;-&gt; Network</a:t>
            </a:r>
          </a:p>
          <a:p>
            <a:pPr lvl="0" indent="0" marL="0">
              <a:buNone/>
            </a:pPr>
            <a:r>
              <a:rPr/>
              <a:t>Identity provides segmentation attributes; network enforces identity-aware routing.</a:t>
            </a:r>
          </a:p>
          <a:p>
            <a:pPr lvl="0" indent="0" marL="0">
              <a:spcBef>
                <a:spcPts val="3000"/>
              </a:spcBef>
              <a:buNone/>
            </a:pPr>
            <a:r>
              <a:rPr b="1"/>
              <a:t>Network &lt;-&gt; Addressing</a:t>
            </a:r>
          </a:p>
          <a:p>
            <a:pPr lvl="0" indent="0" marL="0">
              <a:buNone/>
            </a:pPr>
            <a:r>
              <a:rPr/>
              <a:t>Addressing provides deterministic IPs; network uses them for segmentation and telemetry correlation.</a:t>
            </a:r>
          </a:p>
          <a:p>
            <a:pPr lvl="0" indent="0" marL="0">
              <a:spcBef>
                <a:spcPts val="3000"/>
              </a:spcBef>
              <a:buNone/>
            </a:pPr>
            <a:r>
              <a:rPr b="1"/>
              <a:t>Addressing &lt;-&gt; Telemetry</a:t>
            </a:r>
          </a:p>
          <a:p>
            <a:pPr lvl="0" indent="0" marL="0">
              <a:buNone/>
            </a:pPr>
            <a:r>
              <a:rPr/>
              <a:t>IPAM provides identity-derived IPs; telemetry uses them for location inference and conversation correlation.</a:t>
            </a:r>
          </a:p>
          <a:p>
            <a:pPr lvl="0" indent="0" marL="0">
              <a:spcBef>
                <a:spcPts val="3000"/>
              </a:spcBef>
              <a:buNone/>
            </a:pPr>
            <a:r>
              <a:rPr b="1"/>
              <a:t>Telemetry &lt;-&gt; Security</a:t>
            </a:r>
          </a:p>
          <a:p>
            <a:pPr lvl="0" indent="0" marL="0">
              <a:buNone/>
            </a:pPr>
            <a:r>
              <a:rPr/>
              <a:t>Telemetry provides real-time assurance; security enforces Zero Trust decisions.</a:t>
            </a:r>
          </a:p>
          <a:p>
            <a:pPr lvl="0" indent="0" marL="0">
              <a:spcBef>
                <a:spcPts val="3000"/>
              </a:spcBef>
              <a:buNone/>
            </a:pPr>
            <a:r>
              <a:rPr b="1"/>
              <a:t>Security &lt;-&gt; Management</a:t>
            </a:r>
          </a:p>
          <a:p>
            <a:pPr lvl="0" indent="0" marL="0">
              <a:buNone/>
            </a:pPr>
            <a:r>
              <a:rPr/>
              <a:t>Security defines policy; management enforces drift detection and remediation.</a:t>
            </a:r>
          </a:p>
          <a:p>
            <a:pPr lvl="0" indent="0" marL="0">
              <a:spcBef>
                <a:spcPts val="3000"/>
              </a:spcBef>
              <a:buNone/>
            </a:pPr>
            <a:r>
              <a:rPr b="1"/>
              <a:t>Management &lt;-&gt; Identity</a:t>
            </a:r>
          </a:p>
          <a:p>
            <a:pPr lvl="0" indent="0" marL="0">
              <a:buNone/>
            </a:pPr>
            <a:r>
              <a:rPr/>
              <a:t>Device compliance and lifecycle events feed identity assurance.</a:t>
            </a:r>
          </a:p>
          <a:p>
            <a:pPr lvl="0" indent="0" marL="0">
              <a:buNone/>
            </a:pPr>
            <a:r>
              <a:rPr/>
              <a:t>This creates a closed-loop, self-governing architecture.</a:t>
            </a:r>
          </a:p>
          <a:p>
            <a:pPr lvl="0" indent="0" marL="0">
              <a:spcBef>
                <a:spcPts val="3000"/>
              </a:spcBef>
              <a:buNone/>
            </a:pPr>
            <a:r>
              <a:rPr b="1"/>
              <a:t>6.4 Frozen State Analysis</a:t>
            </a:r>
          </a:p>
          <a:p>
            <a:pPr lvl="0" indent="0" marL="0">
              <a:buNone/>
            </a:pPr>
            <a:r>
              <a:rPr/>
              <a:t>The unified architecture addresses the following legacy constraints: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Domain</a:t>
                      </a:r>
                    </a:p>
                  </a:txBody>
                  <a:tcPr/>
                </a:tc>
                <a:tc>
                  <a:txBody>
                    <a:bodyPr/>
                    <a:lstStyle/>
                    <a:p>
                      <a:pPr lvl="0" indent="0" marL="0">
                        <a:buNone/>
                      </a:pPr>
                      <a:r>
                        <a:rPr/>
                        <a:t>Frozen State</a:t>
                      </a:r>
                    </a:p>
                  </a:txBody>
                  <a:tcPr/>
                </a:tc>
                <a:tc>
                  <a:txBody>
                    <a:bodyPr/>
                    <a:lstStyle/>
                    <a:p>
                      <a:pPr lvl="0" indent="0" marL="0">
                        <a:buNone/>
                      </a:pPr>
                      <a:r>
                        <a:rPr/>
                        <a:t>Required State</a:t>
                      </a:r>
                    </a:p>
                  </a:txBody>
                  <a:tcPr/>
                </a:tc>
              </a:tr>
              <a:tr h="0">
                <a:tc>
                  <a:txBody>
                    <a:bodyPr/>
                    <a:lstStyle/>
                    <a:p>
                      <a:pPr lvl="0" indent="0" marL="0">
                        <a:buNone/>
                      </a:pPr>
                      <a:r>
                        <a:rPr/>
                        <a:t>Identity</a:t>
                      </a:r>
                    </a:p>
                  </a:txBody>
                </a:tc>
                <a:tc>
                  <a:txBody>
                    <a:bodyPr/>
                    <a:lstStyle/>
                    <a:p>
                      <a:pPr lvl="0" indent="0" marL="0">
                        <a:buNone/>
                      </a:pPr>
                      <a:r>
                        <a:rPr/>
                        <a:t>On-prem AD, siloed</a:t>
                      </a:r>
                    </a:p>
                  </a:txBody>
                </a:tc>
                <a:tc>
                  <a:txBody>
                    <a:bodyPr/>
                    <a:lstStyle/>
                    <a:p>
                      <a:pPr lvl="0" indent="0" marL="0">
                        <a:buNone/>
                      </a:pPr>
                      <a:r>
                        <a:rPr/>
                        <a:t>Unified identity graph</a:t>
                      </a:r>
                    </a:p>
                  </a:txBody>
                </a:tc>
              </a:tr>
              <a:tr h="0">
                <a:tc>
                  <a:txBody>
                    <a:bodyPr/>
                    <a:lstStyle/>
                    <a:p>
                      <a:pPr lvl="0" indent="0" marL="0">
                        <a:buNone/>
                      </a:pPr>
                      <a:r>
                        <a:rPr/>
                        <a:t>Addressing</a:t>
                      </a:r>
                    </a:p>
                  </a:txBody>
                </a:tc>
                <a:tc>
                  <a:txBody>
                    <a:bodyPr/>
                    <a:lstStyle/>
                    <a:p>
                      <a:pPr lvl="0" indent="0" marL="0">
                        <a:buNone/>
                      </a:pPr>
                      <a:r>
                        <a:rPr/>
                        <a:t>Static spreadsheets</a:t>
                      </a:r>
                    </a:p>
                  </a:txBody>
                </a:tc>
                <a:tc>
                  <a:txBody>
                    <a:bodyPr/>
                    <a:lstStyle/>
                    <a:p>
                      <a:pPr lvl="0" indent="0" marL="0">
                        <a:buNone/>
                      </a:pPr>
                      <a:r>
                        <a:rPr/>
                        <a:t>Deterministic identity-derived addressing</a:t>
                      </a:r>
                    </a:p>
                  </a:txBody>
                </a:tc>
              </a:tr>
              <a:tr h="0">
                <a:tc>
                  <a:txBody>
                    <a:bodyPr/>
                    <a:lstStyle/>
                    <a:p>
                      <a:pPr lvl="0" indent="0" marL="0">
                        <a:buNone/>
                      </a:pPr>
                      <a:r>
                        <a:rPr/>
                        <a:t>Network Security</a:t>
                      </a:r>
                    </a:p>
                  </a:txBody>
                </a:tc>
                <a:tc>
                  <a:txBody>
                    <a:bodyPr/>
                    <a:lstStyle/>
                    <a:p>
                      <a:pPr lvl="0" indent="0" marL="0">
                        <a:buNone/>
                      </a:pPr>
                      <a:r>
                        <a:rPr/>
                        <a:t>L3/L4 firewalls</a:t>
                      </a:r>
                    </a:p>
                  </a:txBody>
                </a:tc>
                <a:tc>
                  <a:txBody>
                    <a:bodyPr/>
                    <a:lstStyle/>
                    <a:p>
                      <a:pPr lvl="0" indent="0" marL="0">
                        <a:buNone/>
                      </a:pPr>
                      <a:r>
                        <a:rPr/>
                        <a:t>Identity-aware segmentation</a:t>
                      </a:r>
                    </a:p>
                  </a:txBody>
                </a:tc>
              </a:tr>
              <a:tr h="0">
                <a:tc>
                  <a:txBody>
                    <a:bodyPr/>
                    <a:lstStyle/>
                    <a:p>
                      <a:pPr lvl="0" indent="0" marL="0">
                        <a:buNone/>
                      </a:pPr>
                      <a:r>
                        <a:rPr/>
                        <a:t>Endpoint</a:t>
                      </a:r>
                    </a:p>
                  </a:txBody>
                </a:tc>
                <a:tc>
                  <a:txBody>
                    <a:bodyPr/>
                    <a:lstStyle/>
                    <a:p>
                      <a:pPr lvl="0" indent="0" marL="0">
                        <a:buNone/>
                      </a:pPr>
                      <a:r>
                        <a:rPr/>
                        <a:t>Mixed tooling</a:t>
                      </a:r>
                    </a:p>
                  </a:txBody>
                </a:tc>
                <a:tc>
                  <a:txBody>
                    <a:bodyPr/>
                    <a:lstStyle/>
                    <a:p>
                      <a:pPr lvl="0" indent="0" marL="0">
                        <a:buNone/>
                      </a:pPr>
                      <a:r>
                        <a:rPr/>
                        <a:t>Unified posture signal</a:t>
                      </a:r>
                    </a:p>
                  </a:txBody>
                </a:tc>
              </a:tr>
              <a:tr h="0">
                <a:tc>
                  <a:txBody>
                    <a:bodyPr/>
                    <a:lstStyle/>
                    <a:p>
                      <a:pPr lvl="0" indent="0" marL="0">
                        <a:buNone/>
                      </a:pPr>
                      <a:r>
                        <a:rPr/>
                        <a:t>App Delivery</a:t>
                      </a:r>
                    </a:p>
                  </a:txBody>
                </a:tc>
                <a:tc>
                  <a:txBody>
                    <a:bodyPr/>
                    <a:lstStyle/>
                    <a:p>
                      <a:pPr lvl="0" indent="0" marL="0">
                        <a:buNone/>
                      </a:pPr>
                      <a:r>
                        <a:rPr/>
                        <a:t>Monolithic, local auth</a:t>
                      </a:r>
                    </a:p>
                  </a:txBody>
                </a:tc>
                <a:tc>
                  <a:txBody>
                    <a:bodyPr/>
                    <a:lstStyle/>
                    <a:p>
                      <a:pPr lvl="0" indent="0" marL="0">
                        <a:buNone/>
                      </a:pPr>
                      <a:r>
                        <a:rPr/>
                        <a:t>Workload identity</a:t>
                      </a:r>
                    </a:p>
                  </a:txBody>
                </a:tc>
              </a:tr>
              <a:tr h="0">
                <a:tc>
                  <a:txBody>
                    <a:bodyPr/>
                    <a:lstStyle/>
                    <a:p>
                      <a:pPr lvl="0" indent="0" marL="0">
                        <a:buNone/>
                      </a:pPr>
                      <a:r>
                        <a:rPr/>
                        <a:t>Telemetry</a:t>
                      </a:r>
                    </a:p>
                  </a:txBody>
                </a:tc>
                <a:tc>
                  <a:txBody>
                    <a:bodyPr/>
                    <a:lstStyle/>
                    <a:p>
                      <a:pPr lvl="0" indent="0" marL="0">
                        <a:buNone/>
                      </a:pPr>
                      <a:r>
                        <a:rPr/>
                        <a:t>Siloed logs</a:t>
                      </a:r>
                    </a:p>
                  </a:txBody>
                </a:tc>
                <a:tc>
                  <a:txBody>
                    <a:bodyPr/>
                    <a:lstStyle/>
                    <a:p>
                      <a:pPr lvl="0" indent="0" marL="0">
                        <a:buNone/>
                      </a:pPr>
                      <a:r>
                        <a:rPr/>
                        <a:t>Conversation-level correlation</a:t>
                      </a:r>
                    </a:p>
                  </a:txBody>
                </a:tc>
              </a:tr>
              <a:tr h="0">
                <a:tc>
                  <a:txBody>
                    <a:bodyPr/>
                    <a:lstStyle/>
                    <a:p>
                      <a:pPr lvl="0" indent="0" marL="0">
                        <a:buNone/>
                      </a:pPr>
                      <a:r>
                        <a:rPr/>
                        <a:t>Governance</a:t>
                      </a:r>
                    </a:p>
                  </a:txBody>
                </a:tc>
                <a:tc>
                  <a:txBody>
                    <a:bodyPr/>
                    <a:lstStyle/>
                    <a:p>
                      <a:pPr lvl="0" indent="0" marL="0">
                        <a:buNone/>
                      </a:pPr>
                      <a:r>
                        <a:rPr/>
                        <a:t>Email/ticket-based</a:t>
                      </a:r>
                    </a:p>
                  </a:txBody>
                </a:tc>
                <a:tc>
                  <a:txBody>
                    <a:bodyPr/>
                    <a:lstStyle/>
                    <a:p>
                      <a:pPr lvl="0" indent="0" marL="0">
                        <a:buNone/>
                      </a:pPr>
                      <a:r>
                        <a:rPr/>
                        <a:t>Automated enforcement</a:t>
                      </a:r>
                    </a:p>
                  </a:txBody>
                </a:tc>
              </a:tr>
              <a:tr h="0">
                <a:tc>
                  <a:txBody>
                    <a:bodyPr/>
                    <a:lstStyle/>
                    <a:p>
                      <a:pPr lvl="0" indent="0" marL="0">
                        <a:buNone/>
                      </a:pPr>
                      <a:r>
                        <a:rPr/>
                        <a:t>Data Protection</a:t>
                      </a:r>
                    </a:p>
                  </a:txBody>
                </a:tc>
                <a:tc>
                  <a:txBody>
                    <a:bodyPr/>
                    <a:lstStyle/>
                    <a:p>
                      <a:pPr lvl="0" indent="0" marL="0">
                        <a:buNone/>
                      </a:pPr>
                      <a:r>
                        <a:rPr/>
                        <a:t>Manual classification</a:t>
                      </a:r>
                    </a:p>
                  </a:txBody>
                </a:tc>
                <a:tc>
                  <a:txBody>
                    <a:bodyPr/>
                    <a:lstStyle/>
                    <a:p>
                      <a:pPr lvl="0" indent="0" marL="0">
                        <a:buNone/>
                      </a:pPr>
                      <a:r>
                        <a:rPr/>
                        <a:t>Data-aware routing</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unified architecture provides the required state.</a:t>
            </a:r>
          </a:p>
          <a:p>
            <a:pPr lvl="0" indent="0" marL="0">
              <a:spcBef>
                <a:spcPts val="3000"/>
              </a:spcBef>
              <a:buNone/>
            </a:pPr>
            <a:r>
              <a:rPr b="1"/>
              <a:t>6.5 Adapter Layer</a:t>
            </a:r>
          </a:p>
          <a:p>
            <a:pPr lvl="0" indent="0" marL="0">
              <a:buNone/>
            </a:pPr>
            <a:r>
              <a:rPr/>
              <a:t>Adapters bridge external source systems (Entra ID, Infoblox, ServiceNow, etc.) to the UIAO control planes. Each adapter conforms to a ten-domain contract covering discovery, normalization, provenance, drift detection, health, error classification, confidence scoring, metrics, and lifecycle management.</a:t>
            </a:r>
          </a:p>
          <a:p>
            <a:pPr lvl="0" indent="0" marL="0">
              <a:buNone/>
            </a:pPr>
            <a:r>
              <a:rPr/>
              <a:t>The adapter contract is defined in:</a:t>
            </a:r>
          </a:p>
          <a:p>
            <a:pPr lvl="0"/>
            <a:r>
              <a:rPr>
                <a:latin typeface="Courier"/>
              </a:rPr>
              <a:t>adapters/base_adapter.py</a:t>
            </a:r>
            <a:r>
              <a:rPr/>
              <a:t> — Abstract base class (Python ABC)</a:t>
            </a:r>
          </a:p>
          <a:p>
            <a:pPr lvl="0"/>
            <a:r>
              <a:rPr>
                <a:latin typeface="Courier"/>
              </a:rPr>
              <a:t>adapters/__init__.py</a:t>
            </a:r>
            <a:r>
              <a:rPr/>
              <a:t> — In-process adapter registry</a:t>
            </a:r>
          </a:p>
          <a:p>
            <a:pPr lvl="0"/>
            <a:r>
              <a:rPr>
                <a:latin typeface="Courier"/>
              </a:rPr>
              <a:t>docs/adapters/adapter-contract.md</a:t>
            </a:r>
            <a:r>
              <a:rPr/>
              <a:t> — Human-readable contract specification</a:t>
            </a:r>
          </a:p>
          <a:p>
            <a:pPr lvl="0" indent="0" marL="0">
              <a:buNone/>
            </a:pPr>
            <a:r>
              <a:rPr/>
              <a:t>Vendor-specific adapter implementations live in separate repositories (e.g., </a:t>
            </a:r>
            <a:r>
              <a:rPr>
                <a:latin typeface="Courier"/>
              </a:rPr>
              <a:t>uiao-adapter-entra</a:t>
            </a:r>
            <a:r>
              <a:rPr/>
              <a:t>, </a:t>
            </a:r>
            <a:r>
              <a:rPr>
                <a:latin typeface="Courier"/>
              </a:rPr>
              <a:t>uiao-adapter-infoblox</a:t>
            </a:r>
            <a:r>
              <a:rPr/>
              <a:t>). See </a:t>
            </a:r>
            <a:r>
              <a:rPr>
                <a:latin typeface="Courier"/>
              </a:rPr>
              <a:t>docs/13_FIMF_AdapterRegistry.md</a:t>
            </a:r>
            <a:r>
              <a:rPr/>
              <a:t> for the full FIMF adapter registry and onboarding checklist.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UIAO operates on conversations as the atomic unit of runtime behavior.</a:t>
            </a:r>
          </a:p>
          <a:p>
            <a:pPr lvl="0" indent="0" marL="0">
              <a:spcBef>
                <a:spcPts val="3000"/>
              </a:spcBef>
              <a:buNone/>
            </a:pPr>
            <a:r>
              <a:rPr b="1"/>
              <a:t>7.1 Conversation Flow</a:t>
            </a:r>
          </a:p>
          <a:p>
            <a:pPr lvl="0" indent="-342900" marL="342900">
              <a:buAutoNum type="arabicPeriod"/>
            </a:pPr>
            <a:r>
              <a:rPr/>
              <a:t>Identity initiates</a:t>
            </a:r>
          </a:p>
          <a:p>
            <a:pPr lvl="0" indent="-342900" marL="342900">
              <a:buAutoNum type="arabicPeriod"/>
            </a:pPr>
            <a:r>
              <a:rPr/>
              <a:t>Addressing binds</a:t>
            </a:r>
          </a:p>
          <a:p>
            <a:pPr lvl="0" indent="-342900" marL="342900">
              <a:buAutoNum type="arabicPeriod"/>
            </a:pPr>
            <a:r>
              <a:rPr/>
              <a:t>Certificates authenticate</a:t>
            </a:r>
          </a:p>
          <a:p>
            <a:pPr lvl="0" indent="-342900" marL="342900">
              <a:buAutoNum type="arabicPeriod"/>
            </a:pPr>
            <a:r>
              <a:rPr/>
              <a:t>Overlay establishes path</a:t>
            </a:r>
          </a:p>
          <a:p>
            <a:pPr lvl="0" indent="-342900" marL="342900">
              <a:buAutoNum type="arabicPeriod"/>
            </a:pPr>
            <a:r>
              <a:rPr/>
              <a:t>Telemetry validates</a:t>
            </a:r>
          </a:p>
          <a:p>
            <a:pPr lvl="0" indent="-342900" marL="342900">
              <a:buAutoNum type="arabicPeriod"/>
            </a:pPr>
            <a:r>
              <a:rPr/>
              <a:t>Policy evaluates continuously</a:t>
            </a:r>
          </a:p>
          <a:p>
            <a:pPr lvl="0" indent="0" marL="0">
              <a:spcBef>
                <a:spcPts val="3000"/>
              </a:spcBef>
              <a:buNone/>
            </a:pPr>
            <a:r>
              <a:rPr b="1"/>
              <a:t>7.2 Deterministic Behavior</a:t>
            </a:r>
          </a:p>
          <a:p>
            <a:pPr lvl="0" indent="0" marL="0">
              <a:buNone/>
            </a:pPr>
            <a:r>
              <a:rPr/>
              <a:t>Given identical identity, boundary, telemetry, and assurance inputs, the system must produce the same decision across:</a:t>
            </a:r>
          </a:p>
          <a:p>
            <a:pPr lvl="0"/>
            <a:r>
              <a:rPr/>
              <a:t>Clouds</a:t>
            </a:r>
          </a:p>
          <a:p>
            <a:pPr lvl="0"/>
            <a:r>
              <a:rPr/>
              <a:t>Agencies</a:t>
            </a:r>
          </a:p>
          <a:p>
            <a:pPr lvl="0"/>
            <a:r>
              <a:rPr/>
              <a:t>Implementations</a:t>
            </a:r>
          </a:p>
          <a:p>
            <a:pPr lvl="0" indent="0" marL="0">
              <a:spcBef>
                <a:spcPts val="3000"/>
              </a:spcBef>
              <a:buNone/>
            </a:pPr>
            <a:r>
              <a:rPr b="1"/>
              <a:t>7.3 Continuous Evaluation</a:t>
            </a:r>
          </a:p>
          <a:p>
            <a:pPr lvl="0" indent="0" marL="0">
              <a:buNone/>
            </a:pPr>
            <a:r>
              <a:rPr/>
              <a:t>Telemetry modifies routing, access, and segmentation decisions in real time.</a:t>
            </a:r>
          </a:p>
          <a:p>
            <a:pPr lvl="0" indent="0" marL="0">
              <a:spcBef>
                <a:spcPts val="3000"/>
              </a:spcBef>
              <a:buNone/>
            </a:pPr>
            <a:r>
              <a:rPr b="1"/>
              <a:t>7.4 Assurance Signals</a:t>
            </a:r>
          </a:p>
          <a:p>
            <a:pPr lvl="0"/>
            <a:r>
              <a:rPr/>
              <a:t>Identity assurance</a:t>
            </a:r>
          </a:p>
          <a:p>
            <a:pPr lvl="0"/>
            <a:r>
              <a:rPr/>
              <a:t>Device posture</a:t>
            </a:r>
          </a:p>
          <a:p>
            <a:pPr lvl="0"/>
            <a:r>
              <a:rPr/>
              <a:t>Path quality</a:t>
            </a:r>
          </a:p>
          <a:p>
            <a:pPr lvl="0"/>
            <a:r>
              <a:rPr/>
              <a:t>Location inference</a:t>
            </a:r>
          </a:p>
          <a:p>
            <a:pPr lvl="0"/>
            <a:r>
              <a:rPr/>
              <a:t>Certificate validity</a:t>
            </a:r>
          </a:p>
          <a:p>
            <a:pPr lvl="0" indent="0" marL="0">
              <a:buNone/>
            </a:pPr>
            <a:r>
              <a:rPr/>
              <a:t>These signals drive continuous policy evaluation.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Compliance Mapping</a:t>
            </a:r>
          </a:p>
        </p:txBody>
      </p:sp>
      <p:sp>
        <p:nvSpPr>
          <p:cNvPr id="4" name="Text Placeholder 3"/>
          <p:cNvSpPr>
            <a:spLocks noGrp="1"/>
          </p:cNvSpPr>
          <p:nvPr>
            <p:ph idx="2" sz="half" type="body"/>
          </p:nvPr>
        </p:nvSpPr>
        <p:spPr/>
        <p:txBody>
          <a:bodyPr/>
          <a:lstStyle/>
          <a:p>
            <a:pPr lvl="0" indent="0" marL="0">
              <a:spcBef>
                <a:spcPts val="3000"/>
              </a:spcBef>
              <a:buNone/>
            </a:pPr>
            <a:r>
              <a:rPr b="1"/>
              <a:t>8.1 FedRAMP 20x Alignment</a:t>
            </a:r>
          </a:p>
          <a:p>
            <a:pPr lvl="0" indent="0" marL="0">
              <a:buNone/>
            </a:pPr>
            <a:r>
              <a:rPr/>
              <a:t>The unified architecture supports:</a:t>
            </a:r>
          </a:p>
          <a:p>
            <a:pPr lvl="0"/>
            <a:r>
              <a:rPr/>
              <a:t>Class C (Moderate)</a:t>
            </a:r>
          </a:p>
          <a:p>
            <a:pPr lvl="0"/>
            <a:r>
              <a:rPr/>
              <a:t>Telemetry-based validation</a:t>
            </a:r>
          </a:p>
          <a:p>
            <a:pPr lvl="0"/>
            <a:r>
              <a:rPr/>
              <a:t>OSCAL machine-readability</a:t>
            </a:r>
          </a:p>
          <a:p>
            <a:pPr lvl="0"/>
            <a:r>
              <a:rPr/>
              <a:t>Automated evidence generation</a:t>
            </a:r>
          </a:p>
          <a:p>
            <a:pPr lvl="0" indent="0" marL="0">
              <a:spcBef>
                <a:spcPts val="3000"/>
              </a:spcBef>
              <a:buNone/>
            </a:pPr>
            <a:r>
              <a:rPr b="1"/>
              <a:t>8.2 NIST 800-53 Rev 5 Controls</a:t>
            </a:r>
          </a:p>
          <a:p>
            <a:pPr lvl="0" indent="0" marL="0">
              <a:buNone/>
            </a:pPr>
            <a:r>
              <a:rPr/>
              <a:t>Mapped via the canonical crosswalk:</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Control ID</a:t>
                      </a:r>
                    </a:p>
                  </a:txBody>
                  <a:tcPr/>
                </a:tc>
                <a:tc>
                  <a:txBody>
                    <a:bodyPr/>
                    <a:lstStyle/>
                    <a:p>
                      <a:pPr lvl="0" indent="0" marL="0">
                        <a:buNone/>
                      </a:pPr>
                      <a:r>
                        <a:rPr/>
                        <a:t>Control Name</a:t>
                      </a:r>
                    </a:p>
                  </a:txBody>
                  <a:tcPr/>
                </a:tc>
              </a:tr>
              <a:tr h="0">
                <a:tc>
                  <a:txBody>
                    <a:bodyPr/>
                    <a:lstStyle/>
                    <a:p>
                      <a:pPr lvl="0" indent="0" marL="0">
                        <a:buNone/>
                      </a:pPr>
                      <a:r>
                        <a:rPr/>
                        <a:t>AC-4</a:t>
                      </a:r>
                    </a:p>
                  </a:txBody>
                </a:tc>
                <a:tc>
                  <a:txBody>
                    <a:bodyPr/>
                    <a:lstStyle/>
                    <a:p>
                      <a:pPr lvl="0" indent="0" marL="0">
                        <a:buNone/>
                      </a:pPr>
                      <a:r>
                        <a:rPr/>
                        <a:t>Information Flow Enforcement (segmentation)</a:t>
                      </a:r>
                    </a:p>
                  </a:txBody>
                </a:tc>
              </a:tr>
              <a:tr h="0">
                <a:tc>
                  <a:txBody>
                    <a:bodyPr/>
                    <a:lstStyle/>
                    <a:p>
                      <a:pPr lvl="0" indent="0" marL="0">
                        <a:buNone/>
                      </a:pPr>
                      <a:r>
                        <a:rPr/>
                        <a:t>IA-2</a:t>
                      </a:r>
                    </a:p>
                  </a:txBody>
                </a:tc>
                <a:tc>
                  <a:txBody>
                    <a:bodyPr/>
                    <a:lstStyle/>
                    <a:p>
                      <a:pPr lvl="0" indent="0" marL="0">
                        <a:buNone/>
                      </a:pPr>
                      <a:r>
                        <a:rPr/>
                        <a:t>Identification and Authentication</a:t>
                      </a:r>
                    </a:p>
                  </a:txBody>
                </a:tc>
              </a:tr>
              <a:tr h="0">
                <a:tc>
                  <a:txBody>
                    <a:bodyPr/>
                    <a:lstStyle/>
                    <a:p>
                      <a:pPr lvl="0" indent="0" marL="0">
                        <a:buNone/>
                      </a:pPr>
                      <a:r>
                        <a:rPr/>
                        <a:t>IA-5</a:t>
                      </a:r>
                    </a:p>
                  </a:txBody>
                </a:tc>
                <a:tc>
                  <a:txBody>
                    <a:bodyPr/>
                    <a:lstStyle/>
                    <a:p>
                      <a:pPr lvl="0" indent="0" marL="0">
                        <a:buNone/>
                      </a:pPr>
                      <a:r>
                        <a:rPr/>
                        <a:t>Authenticator Management</a:t>
                      </a:r>
                    </a:p>
                  </a:txBody>
                </a:tc>
              </a:tr>
              <a:tr h="0">
                <a:tc>
                  <a:txBody>
                    <a:bodyPr/>
                    <a:lstStyle/>
                    <a:p>
                      <a:pPr lvl="0" indent="0" marL="0">
                        <a:buNone/>
                      </a:pPr>
                      <a:r>
                        <a:rPr/>
                        <a:t>CM-8</a:t>
                      </a:r>
                    </a:p>
                  </a:txBody>
                </a:tc>
                <a:tc>
                  <a:txBody>
                    <a:bodyPr/>
                    <a:lstStyle/>
                    <a:p>
                      <a:pPr lvl="0" indent="0" marL="0">
                        <a:buNone/>
                      </a:pPr>
                      <a:r>
                        <a:rPr/>
                        <a:t>Information System Component Inventory</a:t>
                      </a:r>
                    </a:p>
                  </a:txBody>
                </a:tc>
              </a:tr>
              <a:tr h="0">
                <a:tc>
                  <a:txBody>
                    <a:bodyPr/>
                    <a:lstStyle/>
                    <a:p>
                      <a:pPr lvl="0" indent="0" marL="0">
                        <a:buNone/>
                      </a:pPr>
                      <a:r>
                        <a:rPr/>
                        <a:t>SC-8</a:t>
                      </a:r>
                    </a:p>
                  </a:txBody>
                </a:tc>
                <a:tc>
                  <a:txBody>
                    <a:bodyPr/>
                    <a:lstStyle/>
                    <a:p>
                      <a:pPr lvl="0" indent="0" marL="0">
                        <a:buNone/>
                      </a:pPr>
                      <a:r>
                        <a:rPr/>
                        <a:t>Transmission Confidentiality and Integrity (mTLS)</a:t>
                      </a:r>
                    </a:p>
                  </a:txBody>
                </a:tc>
              </a:tr>
              <a:tr h="0">
                <a:tc>
                  <a:txBody>
                    <a:bodyPr/>
                    <a:lstStyle/>
                    <a:p>
                      <a:pPr lvl="0" indent="0" marL="0">
                        <a:buNone/>
                      </a:pPr>
                      <a:r>
                        <a:rPr/>
                        <a:t>CA-7</a:t>
                      </a:r>
                    </a:p>
                  </a:txBody>
                </a:tc>
                <a:tc>
                  <a:txBody>
                    <a:bodyPr/>
                    <a:lstStyle/>
                    <a:p>
                      <a:pPr lvl="0" indent="0" marL="0">
                        <a:buNone/>
                      </a:pPr>
                      <a:r>
                        <a:rPr/>
                        <a:t>Continuous Monitoring</a:t>
                      </a:r>
                    </a:p>
                  </a:txBody>
                </a:tc>
              </a:tr>
              <a:tr h="0">
                <a:tc>
                  <a:txBody>
                    <a:bodyPr/>
                    <a:lstStyle/>
                    <a:p>
                      <a:pPr lvl="0" indent="0" marL="0">
                        <a:buNone/>
                      </a:pPr>
                      <a:r>
                        <a:rPr/>
                        <a:t>SI-4</a:t>
                      </a:r>
                    </a:p>
                  </a:txBody>
                </a:tc>
                <a:tc>
                  <a:txBody>
                    <a:bodyPr/>
                    <a:lstStyle/>
                    <a:p>
                      <a:pPr lvl="0" indent="0" marL="0">
                        <a:buNone/>
                      </a:pPr>
                      <a:r>
                        <a:rPr/>
                        <a:t>Information System Monitoring (telemetry)</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8.3 KSI Categories</a:t>
            </a:r>
          </a:p>
          <a:p>
            <a:pPr lvl="0"/>
            <a:r>
              <a:rPr/>
              <a:t>KSI-IAM</a:t>
            </a:r>
          </a:p>
          <a:p>
            <a:pPr lvl="0"/>
            <a:r>
              <a:rPr/>
              <a:t>KSI-PIY</a:t>
            </a:r>
          </a:p>
          <a:p>
            <a:pPr lvl="0"/>
            <a:r>
              <a:rPr/>
              <a:t>KSI-MLA</a:t>
            </a:r>
          </a:p>
          <a:p>
            <a:pPr lvl="0"/>
            <a:r>
              <a:rPr/>
              <a:t>KSI-SVC</a:t>
            </a:r>
          </a:p>
          <a:p>
            <a:pPr lvl="0"/>
            <a:r>
              <a:rPr/>
              <a:t>KSI-CMT</a:t>
            </a:r>
          </a:p>
          <a:p>
            <a:pPr lvl="0"/>
            <a:r>
              <a:rPr/>
              <a:t>KSI-CNA</a:t>
            </a:r>
          </a:p>
          <a:p>
            <a:pPr lvl="0"/>
            <a:r>
              <a:rPr/>
              <a:t>KSI-CED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HRIS</a:t>
            </a:r>
          </a:p>
          <a:p>
            <a:pPr lvl="0"/>
            <a:r>
              <a:rPr/>
              <a:t>PKI</a:t>
            </a:r>
          </a:p>
          <a:p>
            <a:pPr lvl="0"/>
            <a:r>
              <a:rPr/>
              <a:t>CMDB</a:t>
            </a:r>
          </a:p>
          <a:p>
            <a:pPr lvl="0"/>
            <a:r>
              <a:rPr/>
              <a:t>Network underlay</a:t>
            </a:r>
          </a:p>
          <a:p>
            <a:pPr lvl="0" indent="0" marL="0">
              <a:spcBef>
                <a:spcPts val="3000"/>
              </a:spcBef>
              <a:buNone/>
            </a:pPr>
            <a:r>
              <a:rPr b="1"/>
              <a:t>Downstream Dependencies</a:t>
            </a:r>
          </a:p>
          <a:p>
            <a:pPr lvl="0"/>
            <a:r>
              <a:rPr/>
              <a:t>Modernization project plans (A-D)</a:t>
            </a:r>
          </a:p>
          <a:p>
            <a:pPr lvl="0"/>
            <a:r>
              <a:rPr/>
              <a:t>FedRAMP crosswalk</a:t>
            </a:r>
          </a:p>
          <a:p>
            <a:pPr lvl="0"/>
            <a:r>
              <a:rPr/>
              <a:t>Leadership briefing</a:t>
            </a:r>
          </a:p>
          <a:p>
            <a:pPr lvl="0"/>
            <a:r>
              <a:rPr/>
              <a:t>TIC 3.0 use cases</a:t>
            </a:r>
          </a:p>
          <a:p>
            <a:pPr lvl="0" indent="0" marL="0">
              <a:spcBef>
                <a:spcPts val="3000"/>
              </a:spcBef>
              <a:buNone/>
            </a:pPr>
            <a:r>
              <a:rPr b="1"/>
              <a:t>Timeline Alignment</a:t>
            </a:r>
          </a:p>
          <a:p>
            <a:pPr lvl="0" indent="0" marL="0">
              <a:buNone/>
            </a:pPr>
            <a:r>
              <a:rPr/>
              <a:t>This document maps to all phases of the modernization timeline.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&amp; Drift Controls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Element</a:t>
                      </a:r>
                    </a:p>
                  </a:txBody>
                  <a:tcPr/>
                </a:tc>
                <a:tc>
                  <a:txBody>
                    <a:bodyPr/>
                    <a:lstStyle/>
                    <a:p>
                      <a:pPr lvl="0" indent="0" marL="0">
                        <a:buNone/>
                      </a:pPr>
                      <a:r>
                        <a:rPr/>
                        <a:t>Value</a:t>
                      </a:r>
                    </a:p>
                  </a:txBody>
                  <a:tcPr/>
                </a:tc>
              </a:tr>
              <a:tr h="0">
                <a:tc>
                  <a:txBody>
                    <a:bodyPr/>
                    <a:lstStyle/>
                    <a:p>
                      <a:pPr lvl="0" indent="0" marL="0">
                        <a:buNone/>
                      </a:pPr>
                      <a:r>
                        <a:rPr/>
                        <a:t>Source of Authority</a:t>
                      </a:r>
                    </a:p>
                  </a:txBody>
                </a:tc>
                <a:tc>
                  <a:txBody>
                    <a:bodyPr/>
                    <a:lstStyle/>
                    <a:p>
                      <a:pPr lvl="0" indent="0" marL="0">
                        <a:buNone/>
                      </a:pPr>
                      <a:r>
                        <a:rPr/>
                        <a:t>HR (human identity), Network architecture (addressing), System owners (configuration), PKI (credential trust)</a:t>
                      </a:r>
                    </a:p>
                  </a:txBody>
                </a:tc>
              </a:tr>
              <a:tr h="0">
                <a:tc>
                  <a:txBody>
                    <a:bodyPr/>
                    <a:lstStyle/>
                    <a:p>
                      <a:pPr lvl="0" indent="0" marL="0">
                        <a:buNone/>
                      </a:pPr>
                      <a:r>
                        <a:rPr/>
                        <a:t>Drift Detection</a:t>
                      </a:r>
                    </a:p>
                  </a:txBody>
                </a:tc>
                <a:tc>
                  <a:txBody>
                    <a:bodyPr/>
                    <a:lstStyle/>
                    <a:p>
                      <a:pPr lvl="0" indent="0" marL="0">
                        <a:buNone/>
                      </a:pPr>
                      <a:r>
                        <a:rPr/>
                        <a:t>ServiceNow CMDB reconciliation, Intune compliance, SD-WAN overlay validation, IPAM reconciliation</a:t>
                      </a:r>
                    </a:p>
                  </a:txBody>
                </a:tc>
              </a:tr>
              <a:tr h="0">
                <a:tc>
                  <a:txBody>
                    <a:bodyPr/>
                    <a:lstStyle/>
                    <a:p>
                      <a:pPr lvl="0" indent="0" marL="0">
                        <a:buNone/>
                      </a:pPr>
                      <a:r>
                        <a:rPr/>
                        <a:t>Remediation Workflow</a:t>
                      </a:r>
                    </a:p>
                  </a:txBody>
                </a:tc>
                <a:tc>
                  <a:txBody>
                    <a:bodyPr/>
                    <a:lstStyle/>
                    <a:p>
                      <a:pPr lvl="0" indent="0" marL="0">
                        <a:buNone/>
                      </a:pPr>
                      <a:r>
                        <a:rPr/>
                        <a:t>Automated ServiceNow change, Conditional Access enforcement, Certificate renewal, IPAM correction</a:t>
                      </a:r>
                    </a:p>
                  </a:txBody>
                </a:tc>
              </a:tr>
              <a:tr h="0">
                <a:tc>
                  <a:txBody>
                    <a:bodyPr/>
                    <a:lstStyle/>
                    <a:p>
                      <a:pPr lvl="0" indent="0" marL="0">
                        <a:buNone/>
                      </a:pPr>
                      <a:r>
                        <a:rPr/>
                        <a:t>Audit Anchors</a:t>
                      </a:r>
                    </a:p>
                  </a:txBody>
                </a:tc>
                <a:tc>
                  <a:txBody>
                    <a:bodyPr/>
                    <a:lstStyle/>
                    <a:p>
                      <a:pPr lvl="0" indent="0" marL="0">
                        <a:buNone/>
                      </a:pPr>
                      <a:r>
                        <a:rPr/>
                        <a:t>Entra ID logs, Infoblox API records, SD-WAN telemetry, Intune compliance reports, ServiceNow audit trails</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Frozen State Analysis table is embedded in Section 6.4. Control Plane Alignment table is in Section 4.</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Crosswalk References</a:t>
            </a:r>
          </a:p>
          <a:p>
            <a:pPr lvl="0" indent="0" marL="0">
              <a:buNone/>
            </a:pPr>
            <a:r>
              <a:rPr i="1"/>
              <a:t>See </a:t>
            </a:r>
            <a:r>
              <a:rPr i="1">
                <a:latin typeface="Courier"/>
              </a:rPr>
              <a:t>data/crosswalk-index.yml</a:t>
            </a:r>
            <a:r>
              <a:rPr i="1"/>
              <a:t> and </a:t>
            </a:r>
            <a:r>
              <a:rPr i="1">
                <a:latin typeface="Courier"/>
              </a:rPr>
              <a:t>docs/fedramp22_summary_v1.0.md</a:t>
            </a:r>
            <a:r>
              <a:rPr i="1"/>
              <a:t>.</a:t>
            </a:r>
          </a:p>
          <a:p>
            <a:pPr lvl="0" indent="0" marL="0">
              <a:spcBef>
                <a:spcPts val="3000"/>
              </a:spcBef>
              <a:buNone/>
            </a:pPr>
            <a:r>
              <a:rPr b="1"/>
              <a:t>Appendix E: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r h="0">
                <a:tc>
                  <a:txBody>
                    <a:bodyPr/>
                    <a:lstStyle/>
                    <a:p>
                      <a:pPr lvl="0" indent="0" marL="0">
                        <a:buNone/>
                      </a:pPr>
                      <a:r>
                        <a:rPr/>
                        <a:t>1.1</a:t>
                      </a:r>
                    </a:p>
                  </a:txBody>
                </a:tc>
                <a:tc>
                  <a:txBody>
                    <a:bodyPr/>
                    <a:lstStyle/>
                    <a:p>
                      <a:pPr lvl="0" indent="0" marL="0">
                        <a:buNone/>
                      </a:pPr>
                      <a:r>
                        <a:rPr/>
                        <a:t>2026-04</a:t>
                      </a:r>
                    </a:p>
                  </a:txBody>
                </a:tc>
                <a:tc>
                  <a:txBody>
                    <a:bodyPr/>
                    <a:lstStyle/>
                    <a:p>
                      <a:pPr lvl="0" indent="0" marL="0">
                        <a:buNone/>
                      </a:pPr>
                      <a:r>
                        <a:rPr/>
                        <a:t>UIAO Adapter Layer</a:t>
                      </a:r>
                    </a:p>
                  </a:txBody>
                </a:tc>
                <a:tc>
                  <a:txBody>
                    <a:bodyPr/>
                    <a:lstStyle/>
                    <a:p>
                      <a:pPr lvl="0" indent="0" marL="0">
                        <a:buNone/>
                      </a:pPr>
                      <a:r>
                        <a:rPr/>
                        <a:t>Added Section 6.5 Adapter Layer cross-reference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Unifiedarchitecture</dc:title>
  <dc:creator>UIAO Modernization Program</dc:creator>
  <cp:keywords/>
  <dcterms:created xsi:type="dcterms:W3CDTF">2026-04-03T14:31:51Z</dcterms:created>
  <dcterms:modified xsi:type="dcterms:W3CDTF">2026-04-03T14:31:51Z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