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8" Type="http://schemas.openxmlformats.org/officeDocument/2006/relationships/viewProps" Target="viewProps.xml" /><Relationship Id="rId17" Type="http://schemas.openxmlformats.org/officeDocument/2006/relationships/presProps" Target="presProps.xml" /><Relationship Id="rId1" Type="http://schemas.openxmlformats.org/officeDocument/2006/relationships/slideMaster" Target="slideMasters/slideMaster1.xml" /><Relationship Id="rId20" Type="http://schemas.openxmlformats.org/officeDocument/2006/relationships/tableStyles" Target="tableStyles.xml" /><Relationship Id="rId19"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08 Modernizationtimeline</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UIAO Modernization Program</a:t>
            </a:r>
          </a:p>
        </p:txBody>
      </p:sp>
      <p:sp>
        <p:nvSpPr>
          <p:cNvPr id="4" name="Date Placeholder 3"/>
          <p:cNvSpPr>
            <a:spLocks noGrp="1"/>
          </p:cNvSpPr>
          <p:nvPr>
            <p:ph idx="10" sz="half" type="dt"/>
          </p:nvPr>
        </p:nvSpPr>
        <p:spPr/>
        <p:txBody>
          <a:bodyPr/>
          <a:lstStyle/>
          <a:p>
            <a:pPr lvl="0" indent="0" marL="0">
              <a:buNone/>
            </a:pPr>
            <a:r>
              <a:rPr/>
              <a:t>April 3,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UIAO Modernization Timeline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 Title Page</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Field</a:t>
                      </a:r>
                    </a:p>
                  </a:txBody>
                  <a:tcPr/>
                </a:tc>
                <a:tc>
                  <a:txBody>
                    <a:bodyPr/>
                    <a:lstStyle/>
                    <a:p>
                      <a:pPr lvl="0" indent="0" marL="0">
                        <a:buNone/>
                      </a:pPr>
                      <a:r>
                        <a:rPr/>
                        <a:t>Value</a:t>
                      </a:r>
                    </a:p>
                  </a:txBody>
                  <a:tcPr/>
                </a:tc>
              </a:tr>
              <a:tr h="0">
                <a:tc>
                  <a:txBody>
                    <a:bodyPr/>
                    <a:lstStyle/>
                    <a:p>
                      <a:pPr lvl="0" indent="0" marL="0">
                        <a:buNone/>
                      </a:pPr>
                      <a:r>
                        <a:rPr b="1"/>
                        <a:t>Version</a:t>
                      </a:r>
                    </a:p>
                  </a:txBody>
                </a:tc>
                <a:tc>
                  <a:txBody>
                    <a:bodyPr/>
                    <a:lstStyle/>
                    <a:p>
                      <a:pPr lvl="0" indent="0" marL="0">
                        <a:buNone/>
                      </a:pPr>
                      <a:r>
                        <a:rPr/>
                        <a:t>1.0</a:t>
                      </a:r>
                    </a:p>
                  </a:txBody>
                </a:tc>
              </a:tr>
              <a:tr h="0">
                <a:tc>
                  <a:txBody>
                    <a:bodyPr/>
                    <a:lstStyle/>
                    <a:p>
                      <a:pPr lvl="0" indent="0" marL="0">
                        <a:buNone/>
                      </a:pPr>
                      <a:r>
                        <a:rPr b="1"/>
                        <a:t>Date</a:t>
                      </a:r>
                    </a:p>
                  </a:txBody>
                </a:tc>
                <a:tc>
                  <a:txBody>
                    <a:bodyPr/>
                    <a:lstStyle/>
                    <a:p>
                      <a:pPr lvl="0" indent="0" marL="0">
                        <a:buNone/>
                      </a:pPr>
                      <a:r>
                        <a:rPr/>
                        <a:t>March 2026</a:t>
                      </a:r>
                    </a:p>
                  </a:txBody>
                </a:tc>
              </a:tr>
              <a:tr h="0">
                <a:tc>
                  <a:txBody>
                    <a:bodyPr/>
                    <a:lstStyle/>
                    <a:p>
                      <a:pPr lvl="0" indent="0" marL="0">
                        <a:buNone/>
                      </a:pPr>
                      <a:r>
                        <a:rPr b="1"/>
                        <a:t>Classification</a:t>
                      </a:r>
                    </a:p>
                  </a:txBody>
                </a:tc>
                <a:tc>
                  <a:txBody>
                    <a:bodyPr/>
                    <a:lstStyle/>
                    <a:p>
                      <a:pPr lvl="0" indent="0" marL="0">
                        <a:buNone/>
                      </a:pPr>
                      <a:r>
                        <a:rPr/>
                        <a:t>CUI/FOUO</a:t>
                      </a:r>
                    </a:p>
                  </a:txBody>
                </a:tc>
              </a:tr>
              <a:tr h="0">
                <a:tc>
                  <a:txBody>
                    <a:bodyPr/>
                    <a:lstStyle/>
                    <a:p>
                      <a:pPr lvl="0" indent="0" marL="0">
                        <a:buNone/>
                      </a:pPr>
                      <a:r>
                        <a:rPr b="1"/>
                        <a:t>Source Planes</a:t>
                      </a:r>
                    </a:p>
                  </a:txBody>
                </a:tc>
                <a:tc>
                  <a:txBody>
                    <a:bodyPr/>
                    <a:lstStyle/>
                    <a:p>
                      <a:pPr lvl="0" indent="0" marL="0">
                        <a:buNone/>
                      </a:pPr>
                      <a:r>
                        <a:rPr/>
                        <a:t>Identity, Network, Addressing, Telemetry, Security, Management</a:t>
                      </a:r>
                    </a:p>
                  </a:txBody>
                </a:tc>
              </a:tr>
              <a:tr h="0">
                <a:tc>
                  <a:txBody>
                    <a:bodyPr/>
                    <a:lstStyle/>
                    <a:p>
                      <a:pPr lvl="0" indent="0" marL="0">
                        <a:buNone/>
                      </a:pPr>
                      <a:r>
                        <a:rPr b="1"/>
                        <a:t>Document Type</a:t>
                      </a:r>
                    </a:p>
                  </a:txBody>
                </a:tc>
                <a:tc>
                  <a:txBody>
                    <a:bodyPr/>
                    <a:lstStyle/>
                    <a:p>
                      <a:pPr lvl="0" indent="0" marL="0">
                        <a:buNone/>
                      </a:pPr>
                      <a:r>
                        <a:rPr/>
                        <a:t>Program Timeline (01_Canon)</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Purpose</a:t>
            </a:r>
          </a:p>
        </p:txBody>
      </p:sp>
      <p:sp>
        <p:nvSpPr>
          <p:cNvPr id="3" name="Content Placeholder 2"/>
          <p:cNvSpPr>
            <a:spLocks noGrp="1"/>
          </p:cNvSpPr>
          <p:nvPr>
            <p:ph idx="1"/>
          </p:nvPr>
        </p:nvSpPr>
        <p:spPr/>
        <p:txBody>
          <a:bodyPr/>
          <a:lstStyle/>
          <a:p>
            <a:pPr lvl="0" indent="0" marL="0">
              <a:buNone/>
            </a:pPr>
            <a:r>
              <a:rPr/>
              <a:t>This document defines the official modernization timeline for the Unified Identity-Addressing-Overlay (UIAO) program. It sequences identity, network, addressing, telemetry, security, and governance modernization activities into a coherent, dependency-aware, leadership-ready plan aligned with Zero Trust, TIC 3.0, and FedRAMP 20x.</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Scope</a:t>
            </a:r>
          </a:p>
        </p:txBody>
      </p:sp>
      <p:sp>
        <p:nvSpPr>
          <p:cNvPr id="3" name="Content Placeholder 2"/>
          <p:cNvSpPr>
            <a:spLocks noGrp="1"/>
          </p:cNvSpPr>
          <p:nvPr>
            <p:ph idx="1"/>
          </p:nvPr>
        </p:nvSpPr>
        <p:spPr/>
        <p:txBody>
          <a:bodyPr/>
          <a:lstStyle/>
          <a:p>
            <a:pPr lvl="0" indent="0" marL="0">
              <a:spcBef>
                <a:spcPts val="3000"/>
              </a:spcBef>
              <a:buNone/>
            </a:pPr>
            <a:r>
              <a:rPr b="1"/>
              <a:t>Included</a:t>
            </a:r>
          </a:p>
          <a:p>
            <a:pPr lvl="0"/>
            <a:r>
              <a:rPr/>
              <a:t>Six-month modernization timeline</a:t>
            </a:r>
          </a:p>
          <a:p>
            <a:pPr lvl="0"/>
            <a:r>
              <a:rPr/>
              <a:t>Workstream sequencing (A-D)</a:t>
            </a:r>
          </a:p>
          <a:p>
            <a:pPr lvl="0"/>
            <a:r>
              <a:rPr/>
              <a:t>Dependencies across control planes</a:t>
            </a:r>
          </a:p>
          <a:p>
            <a:pPr lvl="0"/>
            <a:r>
              <a:rPr/>
              <a:t>Milestones, deliverables, and readiness gates</a:t>
            </a:r>
          </a:p>
          <a:p>
            <a:pPr lvl="0"/>
            <a:r>
              <a:rPr/>
              <a:t>Alignment with federal mandates</a:t>
            </a:r>
          </a:p>
          <a:p>
            <a:pPr lvl="0" indent="0" marL="0">
              <a:spcBef>
                <a:spcPts val="3000"/>
              </a:spcBef>
              <a:buNone/>
            </a:pPr>
            <a:r>
              <a:rPr b="1"/>
              <a:t>Excluded</a:t>
            </a:r>
          </a:p>
          <a:p>
            <a:pPr lvl="0"/>
            <a:r>
              <a:rPr/>
              <a:t>Detailed project plans (covered in appendices)</a:t>
            </a:r>
          </a:p>
          <a:p>
            <a:pPr lvl="0"/>
            <a:r>
              <a:rPr/>
              <a:t>Vendor-specific deployment instructions</a:t>
            </a:r>
          </a:p>
          <a:p>
            <a:pPr lvl="0"/>
            <a:r>
              <a:rPr/>
              <a:t>Budget and acquisition details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4. Control Plane Alignment</a:t>
            </a:r>
          </a:p>
        </p:txBody>
      </p:sp>
      <p:sp>
        <p:nvSpPr>
          <p:cNvPr id="4" name="Text Placeholder 3"/>
          <p:cNvSpPr>
            <a:spLocks noGrp="1"/>
          </p:cNvSpPr>
          <p:nvPr>
            <p:ph idx="2" sz="half" type="body"/>
          </p:nvPr>
        </p:nvSpPr>
        <p:spPr/>
        <p:txBody>
          <a:bodyPr/>
          <a:lstStyle/>
          <a:p>
            <a:pPr lvl="0" indent="0" marL="0">
              <a:buNone/>
            </a:pPr>
            <a:r>
              <a:rPr/>
              <a:t>The modernization timeline spans all six UIAO control planes: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Plane</a:t>
                      </a:r>
                    </a:p>
                  </a:txBody>
                  <a:tcPr/>
                </a:tc>
                <a:tc>
                  <a:txBody>
                    <a:bodyPr/>
                    <a:lstStyle/>
                    <a:p>
                      <a:pPr lvl="0" indent="0" marL="0">
                        <a:buNone/>
                      </a:pPr>
                      <a:r>
                        <a:rPr/>
                        <a:t>Timeline Role</a:t>
                      </a:r>
                    </a:p>
                  </a:txBody>
                  <a:tcPr/>
                </a:tc>
              </a:tr>
              <a:tr h="0">
                <a:tc>
                  <a:txBody>
                    <a:bodyPr/>
                    <a:lstStyle/>
                    <a:p>
                      <a:pPr lvl="0" indent="0" marL="0">
                        <a:buNone/>
                      </a:pPr>
                      <a:r>
                        <a:rPr/>
                        <a:t>Identity</a:t>
                      </a:r>
                    </a:p>
                  </a:txBody>
                </a:tc>
                <a:tc>
                  <a:txBody>
                    <a:bodyPr/>
                    <a:lstStyle/>
                    <a:p>
                      <a:pPr lvl="0" indent="0" marL="0">
                        <a:buNone/>
                      </a:pPr>
                      <a:r>
                        <a:rPr/>
                        <a:t>First modernization priority; foundation for all others</a:t>
                      </a:r>
                    </a:p>
                  </a:txBody>
                </a:tc>
              </a:tr>
              <a:tr h="0">
                <a:tc>
                  <a:txBody>
                    <a:bodyPr/>
                    <a:lstStyle/>
                    <a:p>
                      <a:pPr lvl="0" indent="0" marL="0">
                        <a:buNone/>
                      </a:pPr>
                      <a:r>
                        <a:rPr/>
                        <a:t>Network</a:t>
                      </a:r>
                    </a:p>
                  </a:txBody>
                </a:tc>
                <a:tc>
                  <a:txBody>
                    <a:bodyPr/>
                    <a:lstStyle/>
                    <a:p>
                      <a:pPr lvl="0" indent="0" marL="0">
                        <a:buNone/>
                      </a:pPr>
                      <a:r>
                        <a:rPr/>
                        <a:t>Cloud-first routing, segmentation, DIA, INR</a:t>
                      </a:r>
                    </a:p>
                  </a:txBody>
                </a:tc>
              </a:tr>
              <a:tr h="0">
                <a:tc>
                  <a:txBody>
                    <a:bodyPr/>
                    <a:lstStyle/>
                    <a:p>
                      <a:pPr lvl="0" indent="0" marL="0">
                        <a:buNone/>
                      </a:pPr>
                      <a:r>
                        <a:rPr/>
                        <a:t>Addressing</a:t>
                      </a:r>
                    </a:p>
                  </a:txBody>
                </a:tc>
                <a:tc>
                  <a:txBody>
                    <a:bodyPr/>
                    <a:lstStyle/>
                    <a:p>
                      <a:pPr lvl="0" indent="0" marL="0">
                        <a:buNone/>
                      </a:pPr>
                      <a:r>
                        <a:rPr/>
                        <a:t>Deterministic IPAM, DNS/DHCP modernization</a:t>
                      </a:r>
                    </a:p>
                  </a:txBody>
                </a:tc>
              </a:tr>
              <a:tr h="0">
                <a:tc>
                  <a:txBody>
                    <a:bodyPr/>
                    <a:lstStyle/>
                    <a:p>
                      <a:pPr lvl="0" indent="0" marL="0">
                        <a:buNone/>
                      </a:pPr>
                      <a:r>
                        <a:rPr/>
                        <a:t>Telemetry and Location</a:t>
                      </a:r>
                    </a:p>
                  </a:txBody>
                </a:tc>
                <a:tc>
                  <a:txBody>
                    <a:bodyPr/>
                    <a:lstStyle/>
                    <a:p>
                      <a:pPr lvl="0" indent="0" marL="0">
                        <a:buNone/>
                      </a:pPr>
                      <a:r>
                        <a:rPr/>
                        <a:t>Real-time signals for routing, security, compliance</a:t>
                      </a:r>
                    </a:p>
                  </a:txBody>
                </a:tc>
              </a:tr>
              <a:tr h="0">
                <a:tc>
                  <a:txBody>
                    <a:bodyPr/>
                    <a:lstStyle/>
                    <a:p>
                      <a:pPr lvl="0" indent="0" marL="0">
                        <a:buNone/>
                      </a:pPr>
                      <a:r>
                        <a:rPr/>
                        <a:t>Security and Compliance</a:t>
                      </a:r>
                    </a:p>
                  </a:txBody>
                </a:tc>
                <a:tc>
                  <a:txBody>
                    <a:bodyPr/>
                    <a:lstStyle/>
                    <a:p>
                      <a:pPr lvl="0" indent="0" marL="0">
                        <a:buNone/>
                      </a:pPr>
                      <a:r>
                        <a:rPr/>
                        <a:t>TIC 3.0, Zero Trust, FedRAMP 20x</a:t>
                      </a:r>
                    </a:p>
                  </a:txBody>
                </a:tc>
              </a:tr>
              <a:tr h="0">
                <a:tc>
                  <a:txBody>
                    <a:bodyPr/>
                    <a:lstStyle/>
                    <a:p>
                      <a:pPr lvl="0" indent="0" marL="0">
                        <a:buNone/>
                      </a:pPr>
                      <a:r>
                        <a:rPr/>
                        <a:t>Management</a:t>
                      </a:r>
                    </a:p>
                  </a:txBody>
                </a:tc>
                <a:tc>
                  <a:txBody>
                    <a:bodyPr/>
                    <a:lstStyle/>
                    <a:p>
                      <a:pPr lvl="0" indent="0" marL="0">
                        <a:buNone/>
                      </a:pPr>
                      <a:r>
                        <a:rPr/>
                        <a:t>Drift detection, CMDB, device compliance</a:t>
                      </a:r>
                    </a:p>
                  </a:txBody>
                </a:tc>
              </a:tr>
            </a:tbl>
          </a:graphicData>
        </a:graphic>
      </p:graphicFrame>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The timeline ensures each plane is modernized in the correct order.</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5. Core Concepts</a:t>
            </a:r>
          </a:p>
        </p:txBody>
      </p:sp>
      <p:sp>
        <p:nvSpPr>
          <p:cNvPr id="3" name="Content Placeholder 2"/>
          <p:cNvSpPr>
            <a:spLocks noGrp="1"/>
          </p:cNvSpPr>
          <p:nvPr>
            <p:ph idx="1"/>
          </p:nvPr>
        </p:nvSpPr>
        <p:spPr/>
        <p:txBody>
          <a:bodyPr/>
          <a:lstStyle/>
          <a:p>
            <a:pPr lvl="0" indent="0" marL="0">
              <a:buNone/>
            </a:pPr>
            <a:r>
              <a:rPr/>
              <a:t>The modernization timeline operationalizes the Eight Core Concepts:</a:t>
            </a:r>
          </a:p>
          <a:p>
            <a:pPr lvl="0" indent="-342900" marL="342900">
              <a:buAutoNum type="arabicPeriod"/>
            </a:pPr>
            <a:r>
              <a:rPr b="1"/>
              <a:t>Single Source of Truth (SSOT)</a:t>
            </a:r>
            <a:r>
              <a:rPr/>
              <a:t> — UIAO operates on the principle that every claim has one authoritative origin. All other representations are pointers, not copies. This ensures provenance, prevents drift, and enables federated truth resolution across boundaries.</a:t>
            </a:r>
          </a:p>
          <a:p>
            <a:pPr lvl="0" indent="-342900" marL="342900">
              <a:buAutoNum type="arabicPeriod"/>
            </a:pPr>
            <a:r>
              <a:rPr b="1"/>
              <a:t>Conversation as the atomic unit</a:t>
            </a:r>
          </a:p>
          <a:p>
            <a:pPr lvl="0" indent="-342900" marL="342900">
              <a:buAutoNum type="arabicPeriod"/>
            </a:pPr>
            <a:r>
              <a:rPr b="1"/>
              <a:t>Identity as the root namespace</a:t>
            </a:r>
          </a:p>
          <a:p>
            <a:pPr lvl="0" indent="-342900" marL="342900">
              <a:buAutoNum type="arabicPeriod"/>
            </a:pPr>
            <a:r>
              <a:rPr b="1"/>
              <a:t>Deterministic addressing</a:t>
            </a:r>
          </a:p>
          <a:p>
            <a:pPr lvl="0" indent="-342900" marL="342900">
              <a:buAutoNum type="arabicPeriod"/>
            </a:pPr>
            <a:r>
              <a:rPr b="1"/>
              <a:t>Certificate-anchored overlay</a:t>
            </a:r>
          </a:p>
          <a:p>
            <a:pPr lvl="0" indent="-342900" marL="342900">
              <a:buAutoNum type="arabicPeriod"/>
            </a:pPr>
            <a:r>
              <a:rPr b="1"/>
              <a:t>Telemetry as control</a:t>
            </a:r>
          </a:p>
          <a:p>
            <a:pPr lvl="0" indent="-342900" marL="342900">
              <a:buAutoNum type="arabicPeriod"/>
            </a:pPr>
            <a:r>
              <a:rPr b="1"/>
              <a:t>Embedded governance and automation</a:t>
            </a:r>
          </a:p>
          <a:p>
            <a:pPr lvl="0" indent="-342900" marL="342900">
              <a:buAutoNum type="arabicPeriod"/>
            </a:pPr>
            <a:r>
              <a:rPr b="1"/>
              <a:t>Public service first</a:t>
            </a:r>
          </a:p>
          <a:p>
            <a:pPr lvl="0" indent="0" marL="0">
              <a:buNone/>
            </a:pPr>
            <a:r>
              <a:rPr/>
              <a:t>These concepts guide sequencing and prioritization.</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6. Architecture Model</a:t>
            </a:r>
          </a:p>
        </p:txBody>
      </p:sp>
      <p:sp>
        <p:nvSpPr>
          <p:cNvPr id="3" name="Content Placeholder 2"/>
          <p:cNvSpPr>
            <a:spLocks noGrp="1"/>
          </p:cNvSpPr>
          <p:nvPr>
            <p:ph idx="1"/>
          </p:nvPr>
        </p:nvSpPr>
        <p:spPr/>
        <p:txBody>
          <a:bodyPr/>
          <a:lstStyle/>
          <a:p>
            <a:pPr lvl="0" indent="0" marL="0">
              <a:spcBef>
                <a:spcPts val="3000"/>
              </a:spcBef>
              <a:buNone/>
            </a:pPr>
            <a:r>
              <a:rPr b="1"/>
              <a:t>6.1 Workstream Overview</a:t>
            </a:r>
          </a:p>
          <a:p>
            <a:pPr lvl="0" indent="0" marL="0">
              <a:buNone/>
            </a:pPr>
            <a:r>
              <a:rPr/>
              <a:t>The modernization program is divided into four coordinated workstreams:</a:t>
            </a:r>
          </a:p>
          <a:p>
            <a:pPr lvl="0" indent="0" marL="0">
              <a:spcBef>
                <a:spcPts val="3000"/>
              </a:spcBef>
              <a:buNone/>
            </a:pPr>
            <a:r>
              <a:rPr b="1"/>
              <a:t>Workstream A — Identity Modernization</a:t>
            </a:r>
          </a:p>
          <a:p>
            <a:pPr lvl="0"/>
            <a:r>
              <a:rPr/>
              <a:t>Entra ID</a:t>
            </a:r>
          </a:p>
          <a:p>
            <a:pPr lvl="0"/>
            <a:r>
              <a:rPr/>
              <a:t>MFA/SSPR</a:t>
            </a:r>
          </a:p>
          <a:p>
            <a:pPr lvl="0"/>
            <a:r>
              <a:rPr/>
              <a:t>Conditional Access</a:t>
            </a:r>
          </a:p>
          <a:p>
            <a:pPr lvl="0"/>
            <a:r>
              <a:rPr/>
              <a:t>ICAM governance</a:t>
            </a:r>
          </a:p>
          <a:p>
            <a:pPr lvl="0"/>
            <a:r>
              <a:rPr/>
              <a:t>PIM</a:t>
            </a:r>
          </a:p>
          <a:p>
            <a:pPr lvl="0"/>
            <a:r>
              <a:rPr/>
              <a:t>Device trust</a:t>
            </a:r>
          </a:p>
          <a:p>
            <a:pPr lvl="0" indent="0" marL="0">
              <a:spcBef>
                <a:spcPts val="3000"/>
              </a:spcBef>
              <a:buNone/>
            </a:pPr>
            <a:r>
              <a:rPr b="1"/>
              <a:t>Workstream B — Network Modernization</a:t>
            </a:r>
          </a:p>
          <a:p>
            <a:pPr lvl="0"/>
            <a:r>
              <a:rPr/>
              <a:t>Cisco Catalyst SD-WAN</a:t>
            </a:r>
          </a:p>
          <a:p>
            <a:pPr lvl="0"/>
            <a:r>
              <a:rPr/>
              <a:t>Cloud OnRamp for M365</a:t>
            </a:r>
          </a:p>
          <a:p>
            <a:pPr lvl="0"/>
            <a:r>
              <a:rPr/>
              <a:t>DIA</a:t>
            </a:r>
          </a:p>
          <a:p>
            <a:pPr lvl="0"/>
            <a:r>
              <a:rPr/>
              <a:t>INR</a:t>
            </a:r>
          </a:p>
          <a:p>
            <a:pPr lvl="0"/>
            <a:r>
              <a:rPr/>
              <a:t>Identity-aware segmentation</a:t>
            </a:r>
          </a:p>
          <a:p>
            <a:pPr lvl="0" indent="0" marL="0">
              <a:spcBef>
                <a:spcPts val="3000"/>
              </a:spcBef>
              <a:buNone/>
            </a:pPr>
            <a:r>
              <a:rPr b="1"/>
              <a:t>Workstream C — Addressing Modernization</a:t>
            </a:r>
          </a:p>
          <a:p>
            <a:pPr lvl="0"/>
            <a:r>
              <a:rPr/>
              <a:t>Infoblox IPAM</a:t>
            </a:r>
          </a:p>
          <a:p>
            <a:pPr lvl="0"/>
            <a:r>
              <a:rPr/>
              <a:t>DNS/DHCP modernization</a:t>
            </a:r>
          </a:p>
          <a:p>
            <a:pPr lvl="0"/>
            <a:r>
              <a:rPr/>
              <a:t>Cloud/on-prem reconciliation</a:t>
            </a:r>
          </a:p>
          <a:p>
            <a:pPr lvl="0"/>
            <a:r>
              <a:rPr/>
              <a:t>Deterministic addressing</a:t>
            </a:r>
          </a:p>
          <a:p>
            <a:pPr lvl="0" indent="0" marL="0">
              <a:spcBef>
                <a:spcPts val="3000"/>
              </a:spcBef>
              <a:buNone/>
            </a:pPr>
            <a:r>
              <a:rPr b="1"/>
              <a:t>Workstream D — Telemetry and Governance</a:t>
            </a:r>
          </a:p>
          <a:p>
            <a:pPr lvl="0"/>
            <a:r>
              <a:rPr/>
              <a:t>M365 Network Telemetry</a:t>
            </a:r>
          </a:p>
          <a:p>
            <a:pPr lvl="0"/>
            <a:r>
              <a:rPr/>
              <a:t>SD-WAN telemetry</a:t>
            </a:r>
          </a:p>
          <a:p>
            <a:pPr lvl="0"/>
            <a:r>
              <a:rPr/>
              <a:t>Endpoint telemetry</a:t>
            </a:r>
          </a:p>
          <a:p>
            <a:pPr lvl="0"/>
            <a:r>
              <a:rPr/>
              <a:t>ServiceNow CMDB</a:t>
            </a:r>
          </a:p>
          <a:p>
            <a:pPr lvl="0"/>
            <a:r>
              <a:rPr/>
              <a:t>Intune compliance</a:t>
            </a:r>
          </a:p>
          <a:p>
            <a:pPr lvl="0"/>
            <a:r>
              <a:rPr/>
              <a:t>TIC 3.0 Cloud + Branch</a:t>
            </a:r>
          </a:p>
          <a:p>
            <a:pPr lvl="0" indent="0" marL="0">
              <a:buNone/>
            </a:pPr>
            <a:r>
              <a:rPr/>
              <a:t>These workstreams operate in parallel but with strict dependency ordering.</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7. Runtime Model</a:t>
            </a:r>
          </a:p>
        </p:txBody>
      </p:sp>
      <p:sp>
        <p:nvSpPr>
          <p:cNvPr id="3" name="Content Placeholder 2"/>
          <p:cNvSpPr>
            <a:spLocks noGrp="1"/>
          </p:cNvSpPr>
          <p:nvPr>
            <p:ph idx="1"/>
          </p:nvPr>
        </p:nvSpPr>
        <p:spPr/>
        <p:txBody>
          <a:bodyPr/>
          <a:lstStyle/>
          <a:p>
            <a:pPr lvl="0" indent="0" marL="0">
              <a:buNone/>
            </a:pPr>
            <a:r>
              <a:rPr/>
              <a:t>The timeline follows the UIAO runtime model:</a:t>
            </a:r>
          </a:p>
          <a:p>
            <a:pPr lvl="0" indent="0" marL="0">
              <a:spcBef>
                <a:spcPts val="3000"/>
              </a:spcBef>
              <a:buNone/>
            </a:pPr>
            <a:r>
              <a:rPr b="1"/>
              <a:t>7.1 Conversation Flow</a:t>
            </a:r>
          </a:p>
          <a:p>
            <a:pPr lvl="0" indent="0" marL="0">
              <a:buNone/>
            </a:pPr>
            <a:r>
              <a:rPr/>
              <a:t>Identity - Addressing - Certificates - Overlay - Telemetry - Policy</a:t>
            </a:r>
          </a:p>
          <a:p>
            <a:pPr lvl="0" indent="0" marL="0">
              <a:spcBef>
                <a:spcPts val="3000"/>
              </a:spcBef>
              <a:buNone/>
            </a:pPr>
            <a:r>
              <a:rPr b="1"/>
              <a:t>7.2 Deterministic Sequencing</a:t>
            </a:r>
          </a:p>
          <a:p>
            <a:pPr lvl="0" indent="0" marL="0">
              <a:buNone/>
            </a:pPr>
            <a:r>
              <a:rPr/>
              <a:t>Identity modernization must precede:</a:t>
            </a:r>
          </a:p>
          <a:p>
            <a:pPr lvl="0"/>
            <a:r>
              <a:rPr/>
              <a:t>Addressing modernization</a:t>
            </a:r>
          </a:p>
          <a:p>
            <a:pPr lvl="0"/>
            <a:r>
              <a:rPr/>
              <a:t>Network segmentation</a:t>
            </a:r>
          </a:p>
          <a:p>
            <a:pPr lvl="0"/>
            <a:r>
              <a:rPr/>
              <a:t>Telemetry correlation</a:t>
            </a:r>
          </a:p>
          <a:p>
            <a:pPr lvl="0"/>
            <a:r>
              <a:rPr/>
              <a:t>Zero Trust enforcement</a:t>
            </a:r>
          </a:p>
          <a:p>
            <a:pPr lvl="0" indent="0" marL="0">
              <a:spcBef>
                <a:spcPts val="3000"/>
              </a:spcBef>
              <a:buNone/>
            </a:pPr>
            <a:r>
              <a:rPr b="1"/>
              <a:t>7.3 Continuous Evaluation</a:t>
            </a:r>
          </a:p>
          <a:p>
            <a:pPr lvl="0" indent="0" marL="0">
              <a:buNone/>
            </a:pPr>
            <a:r>
              <a:rPr/>
              <a:t>Telemetry integration begins early and matures throughout the timeline.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8. Modernization Timeline (6 Months)</a:t>
            </a:r>
          </a:p>
        </p:txBody>
      </p:sp>
      <p:sp>
        <p:nvSpPr>
          <p:cNvPr id="3" name="Content Placeholder 2"/>
          <p:cNvSpPr>
            <a:spLocks noGrp="1"/>
          </p:cNvSpPr>
          <p:nvPr>
            <p:ph idx="1"/>
          </p:nvPr>
        </p:nvSpPr>
        <p:spPr/>
        <p:txBody>
          <a:bodyPr/>
          <a:lstStyle/>
          <a:p>
            <a:pPr lvl="0" indent="0" marL="0">
              <a:buNone/>
            </a:pPr>
            <a:r>
              <a:rPr/>
              <a:t>Below is the canonical, dependency-aware modernization timeline.</a:t>
            </a:r>
          </a:p>
          <a:p>
            <a:pPr lvl="0" indent="0" marL="0">
              <a:spcBef>
                <a:spcPts val="3000"/>
              </a:spcBef>
              <a:buNone/>
            </a:pPr>
            <a:r>
              <a:rPr b="1"/>
              <a:t>Month 1 — Foundations (HLD Phase)</a:t>
            </a:r>
          </a:p>
          <a:p>
            <a:pPr lvl="0" indent="0" marL="0">
              <a:spcBef>
                <a:spcPts val="3000"/>
              </a:spcBef>
              <a:buNone/>
            </a:pPr>
            <a:r>
              <a:rPr b="1"/>
              <a:t>Identity</a:t>
            </a:r>
          </a:p>
          <a:p>
            <a:pPr lvl="0"/>
            <a:r>
              <a:rPr/>
              <a:t>Entra ID HLD</a:t>
            </a:r>
          </a:p>
          <a:p>
            <a:pPr lvl="0"/>
            <a:r>
              <a:rPr/>
              <a:t>MFA/SSPR readiness</a:t>
            </a:r>
          </a:p>
          <a:p>
            <a:pPr lvl="0"/>
            <a:r>
              <a:rPr/>
              <a:t>Identity lifecycle mapping</a:t>
            </a:r>
          </a:p>
          <a:p>
            <a:pPr lvl="0" indent="0" marL="0">
              <a:spcBef>
                <a:spcPts val="3000"/>
              </a:spcBef>
              <a:buNone/>
            </a:pPr>
            <a:r>
              <a:rPr b="1"/>
              <a:t>Network</a:t>
            </a:r>
          </a:p>
          <a:p>
            <a:pPr lvl="0"/>
            <a:r>
              <a:rPr/>
              <a:t>SD-WAN HLD</a:t>
            </a:r>
          </a:p>
          <a:p>
            <a:pPr lvl="0"/>
            <a:r>
              <a:rPr/>
              <a:t>Cloud OnRamp design</a:t>
            </a:r>
          </a:p>
          <a:p>
            <a:pPr lvl="0"/>
            <a:r>
              <a:rPr/>
              <a:t>INR architecture</a:t>
            </a:r>
          </a:p>
          <a:p>
            <a:pPr lvl="0" indent="0" marL="0">
              <a:spcBef>
                <a:spcPts val="3000"/>
              </a:spcBef>
              <a:buNone/>
            </a:pPr>
            <a:r>
              <a:rPr b="1"/>
              <a:t>Addressing</a:t>
            </a:r>
          </a:p>
          <a:p>
            <a:pPr lvl="0"/>
            <a:r>
              <a:rPr/>
              <a:t>IPAM HLD</a:t>
            </a:r>
          </a:p>
          <a:p>
            <a:pPr lvl="0"/>
            <a:r>
              <a:rPr/>
              <a:t>DNS/DHCP discovery</a:t>
            </a:r>
          </a:p>
          <a:p>
            <a:pPr lvl="0"/>
            <a:r>
              <a:rPr/>
              <a:t>Addressing inventory</a:t>
            </a:r>
          </a:p>
          <a:p>
            <a:pPr lvl="0" indent="0" marL="0">
              <a:spcBef>
                <a:spcPts val="3000"/>
              </a:spcBef>
              <a:buNone/>
            </a:pPr>
            <a:r>
              <a:rPr b="1"/>
              <a:t>Telemetry</a:t>
            </a:r>
          </a:p>
          <a:p>
            <a:pPr lvl="0"/>
            <a:r>
              <a:rPr/>
              <a:t>M365 Network Telemetry HLD</a:t>
            </a:r>
          </a:p>
          <a:p>
            <a:pPr lvl="0"/>
            <a:r>
              <a:rPr/>
              <a:t>SD-WAN telemetry design</a:t>
            </a:r>
          </a:p>
          <a:p>
            <a:pPr lvl="0" indent="0" marL="0">
              <a:spcBef>
                <a:spcPts val="3000"/>
              </a:spcBef>
              <a:buNone/>
            </a:pPr>
            <a:r>
              <a:rPr b="1"/>
              <a:t>Governance</a:t>
            </a:r>
          </a:p>
          <a:p>
            <a:pPr lvl="0"/>
            <a:r>
              <a:rPr/>
              <a:t>CMDB baseline</a:t>
            </a:r>
          </a:p>
          <a:p>
            <a:pPr lvl="0"/>
            <a:r>
              <a:rPr/>
              <a:t>Drift detection framework</a:t>
            </a:r>
          </a:p>
          <a:p>
            <a:pPr lvl="0" indent="0" marL="0">
              <a:buNone/>
            </a:pPr>
            <a:r>
              <a:rPr b="1"/>
              <a:t>Milestone:</a:t>
            </a:r>
            <a:r>
              <a:rPr/>
              <a:t> All HLDs approved.</a:t>
            </a:r>
          </a:p>
          <a:p>
            <a:pPr lvl="0" indent="0" marL="0">
              <a:spcBef>
                <a:spcPts val="3000"/>
              </a:spcBef>
              <a:buNone/>
            </a:pPr>
            <a:r>
              <a:rPr b="1"/>
              <a:t>Month 2 — Configuration (LLD Phase)</a:t>
            </a:r>
          </a:p>
          <a:p>
            <a:pPr lvl="0" indent="0" marL="0">
              <a:spcBef>
                <a:spcPts val="3000"/>
              </a:spcBef>
              <a:buNone/>
            </a:pPr>
            <a:r>
              <a:rPr b="1"/>
              <a:t>Identity</a:t>
            </a:r>
          </a:p>
          <a:p>
            <a:pPr lvl="0"/>
            <a:r>
              <a:rPr/>
              <a:t>Conditional Access LLD</a:t>
            </a:r>
          </a:p>
          <a:p>
            <a:pPr lvl="0"/>
            <a:r>
              <a:rPr/>
              <a:t>PIM configuration</a:t>
            </a:r>
          </a:p>
          <a:p>
            <a:pPr lvl="0"/>
            <a:r>
              <a:rPr/>
              <a:t>Identity governance policies</a:t>
            </a:r>
          </a:p>
          <a:p>
            <a:pPr lvl="0" indent="0" marL="0">
              <a:spcBef>
                <a:spcPts val="3000"/>
              </a:spcBef>
              <a:buNone/>
            </a:pPr>
            <a:r>
              <a:rPr b="1"/>
              <a:t>Network</a:t>
            </a:r>
          </a:p>
          <a:p>
            <a:pPr lvl="0"/>
            <a:r>
              <a:rPr/>
              <a:t>SD-WAN LLD</a:t>
            </a:r>
          </a:p>
          <a:p>
            <a:pPr lvl="0"/>
            <a:r>
              <a:rPr/>
              <a:t>DIA design</a:t>
            </a:r>
          </a:p>
          <a:p>
            <a:pPr lvl="0"/>
            <a:r>
              <a:rPr/>
              <a:t>Segmentation policy draft</a:t>
            </a:r>
          </a:p>
          <a:p>
            <a:pPr lvl="0" indent="0" marL="0">
              <a:spcBef>
                <a:spcPts val="3000"/>
              </a:spcBef>
              <a:buNone/>
            </a:pPr>
            <a:r>
              <a:rPr b="1"/>
              <a:t>Addressing</a:t>
            </a:r>
          </a:p>
          <a:p>
            <a:pPr lvl="0"/>
            <a:r>
              <a:rPr/>
              <a:t>DNS/DHCP LLD</a:t>
            </a:r>
          </a:p>
          <a:p>
            <a:pPr lvl="0"/>
            <a:r>
              <a:rPr/>
              <a:t>Cloud IPAM integration design</a:t>
            </a:r>
          </a:p>
          <a:p>
            <a:pPr lvl="0" indent="0" marL="0">
              <a:spcBef>
                <a:spcPts val="3000"/>
              </a:spcBef>
              <a:buNone/>
            </a:pPr>
            <a:r>
              <a:rPr b="1"/>
              <a:t>Telemetry</a:t>
            </a:r>
          </a:p>
          <a:p>
            <a:pPr lvl="0"/>
            <a:r>
              <a:rPr/>
              <a:t>Location inference (IPAM + SD-WAN)</a:t>
            </a:r>
          </a:p>
          <a:p>
            <a:pPr lvl="0"/>
            <a:r>
              <a:rPr/>
              <a:t>E911 readiness design</a:t>
            </a:r>
          </a:p>
          <a:p>
            <a:pPr lvl="0" indent="0" marL="0">
              <a:spcBef>
                <a:spcPts val="3000"/>
              </a:spcBef>
              <a:buNone/>
            </a:pPr>
            <a:r>
              <a:rPr b="1"/>
              <a:t>Governance</a:t>
            </a:r>
          </a:p>
          <a:p>
            <a:pPr lvl="0"/>
            <a:r>
              <a:rPr/>
              <a:t>CMDB enrichment</a:t>
            </a:r>
          </a:p>
          <a:p>
            <a:pPr lvl="0"/>
            <a:r>
              <a:rPr/>
              <a:t>Intune compliance baseline</a:t>
            </a:r>
          </a:p>
          <a:p>
            <a:pPr lvl="0" indent="0" marL="0">
              <a:buNone/>
            </a:pPr>
            <a:r>
              <a:rPr b="1"/>
              <a:t>Milestone:</a:t>
            </a:r>
            <a:r>
              <a:rPr/>
              <a:t> All LLDs approved.</a:t>
            </a:r>
          </a:p>
          <a:p>
            <a:pPr lvl="0" indent="0" marL="0">
              <a:spcBef>
                <a:spcPts val="3000"/>
              </a:spcBef>
              <a:buNone/>
            </a:pPr>
            <a:r>
              <a:rPr b="1"/>
              <a:t>Month 3 — Initial Deployment</a:t>
            </a:r>
          </a:p>
          <a:p>
            <a:pPr lvl="0" indent="0" marL="0">
              <a:spcBef>
                <a:spcPts val="3000"/>
              </a:spcBef>
              <a:buNone/>
            </a:pPr>
            <a:r>
              <a:rPr b="1"/>
              <a:t>Identity</a:t>
            </a:r>
          </a:p>
          <a:p>
            <a:pPr lvl="0"/>
            <a:r>
              <a:rPr/>
              <a:t>MFA/SSPR rollout</a:t>
            </a:r>
          </a:p>
          <a:p>
            <a:pPr lvl="0"/>
            <a:r>
              <a:rPr/>
              <a:t>Conditional Access enforcement</a:t>
            </a:r>
          </a:p>
          <a:p>
            <a:pPr lvl="0"/>
            <a:r>
              <a:rPr/>
              <a:t>Identity governance activation</a:t>
            </a:r>
          </a:p>
          <a:p>
            <a:pPr lvl="0" indent="0" marL="0">
              <a:spcBef>
                <a:spcPts val="3000"/>
              </a:spcBef>
              <a:buNone/>
            </a:pPr>
            <a:r>
              <a:rPr b="1"/>
              <a:t>Network</a:t>
            </a:r>
          </a:p>
          <a:p>
            <a:pPr lvl="0"/>
            <a:r>
              <a:rPr/>
              <a:t>DIA pilot</a:t>
            </a:r>
          </a:p>
          <a:p>
            <a:pPr lvl="0"/>
            <a:r>
              <a:rPr/>
              <a:t>SD-WAN pilot</a:t>
            </a:r>
          </a:p>
          <a:p>
            <a:pPr lvl="0"/>
            <a:r>
              <a:rPr/>
              <a:t>Cloud OnRamp activation</a:t>
            </a:r>
          </a:p>
          <a:p>
            <a:pPr lvl="0" indent="0" marL="0">
              <a:spcBef>
                <a:spcPts val="3000"/>
              </a:spcBef>
              <a:buNone/>
            </a:pPr>
            <a:r>
              <a:rPr b="1"/>
              <a:t>Addressing</a:t>
            </a:r>
          </a:p>
          <a:p>
            <a:pPr lvl="0"/>
            <a:r>
              <a:rPr/>
              <a:t>Cloud IPAM pilot</a:t>
            </a:r>
          </a:p>
          <a:p>
            <a:pPr lvl="0"/>
            <a:r>
              <a:rPr/>
              <a:t>DNS/DHCP modernization pilot</a:t>
            </a:r>
          </a:p>
          <a:p>
            <a:pPr lvl="0" indent="0" marL="0">
              <a:spcBef>
                <a:spcPts val="3000"/>
              </a:spcBef>
              <a:buNone/>
            </a:pPr>
            <a:r>
              <a:rPr b="1"/>
              <a:t>Telemetry</a:t>
            </a:r>
          </a:p>
          <a:p>
            <a:pPr lvl="0"/>
            <a:r>
              <a:rPr/>
              <a:t>M365 telemetry ingestion</a:t>
            </a:r>
          </a:p>
          <a:p>
            <a:pPr lvl="0"/>
            <a:r>
              <a:rPr/>
              <a:t>SD-WAN telemetry ingestion</a:t>
            </a:r>
          </a:p>
          <a:p>
            <a:pPr lvl="0" indent="0" marL="0">
              <a:spcBef>
                <a:spcPts val="3000"/>
              </a:spcBef>
              <a:buNone/>
            </a:pPr>
            <a:r>
              <a:rPr b="1"/>
              <a:t>Governance</a:t>
            </a:r>
          </a:p>
          <a:p>
            <a:pPr lvl="0"/>
            <a:r>
              <a:rPr/>
              <a:t>CMDB reconciliation</a:t>
            </a:r>
          </a:p>
          <a:p>
            <a:pPr lvl="0"/>
            <a:r>
              <a:rPr/>
              <a:t>Intune compliance enforcement</a:t>
            </a:r>
          </a:p>
          <a:p>
            <a:pPr lvl="0" indent="0" marL="0">
              <a:buNone/>
            </a:pPr>
            <a:r>
              <a:rPr b="1"/>
              <a:t>Milestone:</a:t>
            </a:r>
            <a:r>
              <a:rPr/>
              <a:t> Identity and network pilots operational.</a:t>
            </a:r>
          </a:p>
          <a:p>
            <a:pPr lvl="0" indent="0" marL="0">
              <a:spcBef>
                <a:spcPts val="3000"/>
              </a:spcBef>
              <a:buNone/>
            </a:pPr>
            <a:r>
              <a:rPr b="1"/>
              <a:t>Month 4 — Expansion</a:t>
            </a:r>
          </a:p>
          <a:p>
            <a:pPr lvl="0" indent="0" marL="0">
              <a:spcBef>
                <a:spcPts val="3000"/>
              </a:spcBef>
              <a:buNone/>
            </a:pPr>
            <a:r>
              <a:rPr b="1"/>
              <a:t>Identity</a:t>
            </a:r>
          </a:p>
          <a:p>
            <a:pPr lvl="0"/>
            <a:r>
              <a:rPr/>
              <a:t>Full Conditional Access rollout</a:t>
            </a:r>
          </a:p>
          <a:p>
            <a:pPr lvl="0"/>
            <a:r>
              <a:rPr/>
              <a:t>PIM enforcement</a:t>
            </a:r>
          </a:p>
          <a:p>
            <a:pPr lvl="0" indent="0" marL="0">
              <a:spcBef>
                <a:spcPts val="3000"/>
              </a:spcBef>
              <a:buNone/>
            </a:pPr>
            <a:r>
              <a:rPr b="1"/>
              <a:t>Network</a:t>
            </a:r>
          </a:p>
          <a:p>
            <a:pPr lvl="0"/>
            <a:r>
              <a:rPr/>
              <a:t>Segmentation rollout</a:t>
            </a:r>
          </a:p>
          <a:p>
            <a:pPr lvl="0"/>
            <a:r>
              <a:rPr/>
              <a:t>INR integration</a:t>
            </a:r>
          </a:p>
          <a:p>
            <a:pPr lvl="0"/>
            <a:r>
              <a:rPr/>
              <a:t>DIA expansion</a:t>
            </a:r>
          </a:p>
          <a:p>
            <a:pPr lvl="0" indent="0" marL="0">
              <a:spcBef>
                <a:spcPts val="3000"/>
              </a:spcBef>
              <a:buNone/>
            </a:pPr>
            <a:r>
              <a:rPr b="1"/>
              <a:t>Addressing</a:t>
            </a:r>
          </a:p>
          <a:p>
            <a:pPr lvl="0"/>
            <a:r>
              <a:rPr/>
              <a:t>Deterministic addressing rollout</a:t>
            </a:r>
          </a:p>
          <a:p>
            <a:pPr lvl="0"/>
            <a:r>
              <a:rPr/>
              <a:t>DNS/DHCP modernization expansion</a:t>
            </a:r>
          </a:p>
          <a:p>
            <a:pPr lvl="0" indent="0" marL="0">
              <a:spcBef>
                <a:spcPts val="3000"/>
              </a:spcBef>
              <a:buNone/>
            </a:pPr>
            <a:r>
              <a:rPr b="1"/>
              <a:t>Telemetry</a:t>
            </a:r>
          </a:p>
          <a:p>
            <a:pPr lvl="0"/>
            <a:r>
              <a:rPr/>
              <a:t>Conversation-level correlation</a:t>
            </a:r>
          </a:p>
          <a:p>
            <a:pPr lvl="0"/>
            <a:r>
              <a:rPr/>
              <a:t>Location inference activation</a:t>
            </a:r>
          </a:p>
          <a:p>
            <a:pPr lvl="0" indent="0" marL="0">
              <a:spcBef>
                <a:spcPts val="3000"/>
              </a:spcBef>
              <a:buNone/>
            </a:pPr>
            <a:r>
              <a:rPr b="1"/>
              <a:t>Governance</a:t>
            </a:r>
          </a:p>
          <a:p>
            <a:pPr lvl="0"/>
            <a:r>
              <a:rPr/>
              <a:t>Drift detection automation</a:t>
            </a:r>
          </a:p>
          <a:p>
            <a:pPr lvl="0"/>
            <a:r>
              <a:rPr/>
              <a:t>ServiceNow change workflows</a:t>
            </a:r>
          </a:p>
          <a:p>
            <a:pPr lvl="0" indent="0" marL="0">
              <a:buNone/>
            </a:pPr>
            <a:r>
              <a:rPr b="1"/>
              <a:t>Milestone:</a:t>
            </a:r>
            <a:r>
              <a:rPr/>
              <a:t> Identity-aware routing operational.</a:t>
            </a:r>
          </a:p>
          <a:p>
            <a:pPr lvl="0" indent="0" marL="0">
              <a:spcBef>
                <a:spcPts val="3000"/>
              </a:spcBef>
              <a:buNone/>
            </a:pPr>
            <a:r>
              <a:rPr b="1"/>
              <a:t>Month 5 — Integration</a:t>
            </a:r>
          </a:p>
          <a:p>
            <a:pPr lvl="0" indent="0" marL="0">
              <a:spcBef>
                <a:spcPts val="3000"/>
              </a:spcBef>
              <a:buNone/>
            </a:pPr>
            <a:r>
              <a:rPr b="1"/>
              <a:t>Identity</a:t>
            </a:r>
          </a:p>
          <a:p>
            <a:pPr lvl="0"/>
            <a:r>
              <a:rPr/>
              <a:t>ICAM governance maturity</a:t>
            </a:r>
          </a:p>
          <a:p>
            <a:pPr lvl="0"/>
            <a:r>
              <a:rPr/>
              <a:t>Identity assurance tuning</a:t>
            </a:r>
          </a:p>
          <a:p>
            <a:pPr lvl="0" indent="0" marL="0">
              <a:spcBef>
                <a:spcPts val="3000"/>
              </a:spcBef>
              <a:buNone/>
            </a:pPr>
            <a:r>
              <a:rPr b="1"/>
              <a:t>Network</a:t>
            </a:r>
          </a:p>
          <a:p>
            <a:pPr lvl="0"/>
            <a:r>
              <a:rPr/>
              <a:t>Identity-aware segmentation</a:t>
            </a:r>
          </a:p>
          <a:p>
            <a:pPr lvl="0"/>
            <a:r>
              <a:rPr/>
              <a:t>SD-WAN optimization</a:t>
            </a:r>
          </a:p>
          <a:p>
            <a:pPr lvl="0" indent="0" marL="0">
              <a:spcBef>
                <a:spcPts val="3000"/>
              </a:spcBef>
              <a:buNone/>
            </a:pPr>
            <a:r>
              <a:rPr b="1"/>
              <a:t>Addressing</a:t>
            </a:r>
          </a:p>
          <a:p>
            <a:pPr lvl="0"/>
            <a:r>
              <a:rPr/>
              <a:t>IPAM automation</a:t>
            </a:r>
          </a:p>
          <a:p>
            <a:pPr lvl="0"/>
            <a:r>
              <a:rPr/>
              <a:t>Cloud/on-prem reconciliation</a:t>
            </a:r>
          </a:p>
          <a:p>
            <a:pPr lvl="0" indent="0" marL="0">
              <a:spcBef>
                <a:spcPts val="3000"/>
              </a:spcBef>
              <a:buNone/>
            </a:pPr>
            <a:r>
              <a:rPr b="1"/>
              <a:t>Telemetry</a:t>
            </a:r>
          </a:p>
          <a:p>
            <a:pPr lvl="0"/>
            <a:r>
              <a:rPr/>
              <a:t>SIEM integration</a:t>
            </a:r>
          </a:p>
          <a:p>
            <a:pPr lvl="0"/>
            <a:r>
              <a:rPr/>
              <a:t>CDM/CLAW integration</a:t>
            </a:r>
          </a:p>
          <a:p>
            <a:pPr lvl="0" indent="0" marL="0">
              <a:spcBef>
                <a:spcPts val="3000"/>
              </a:spcBef>
              <a:buNone/>
            </a:pPr>
            <a:r>
              <a:rPr b="1"/>
              <a:t>Governance</a:t>
            </a:r>
          </a:p>
          <a:p>
            <a:pPr lvl="0"/>
            <a:r>
              <a:rPr/>
              <a:t>Continuous Authorization (CA-7)</a:t>
            </a:r>
          </a:p>
          <a:p>
            <a:pPr lvl="0"/>
            <a:r>
              <a:rPr/>
              <a:t>Automated remediation</a:t>
            </a:r>
          </a:p>
          <a:p>
            <a:pPr lvl="0" indent="0" marL="0">
              <a:buNone/>
            </a:pPr>
            <a:r>
              <a:rPr b="1"/>
              <a:t>Milestone:</a:t>
            </a:r>
            <a:r>
              <a:rPr/>
              <a:t> Full telemetry integration.</a:t>
            </a:r>
          </a:p>
          <a:p>
            <a:pPr lvl="0" indent="0" marL="0">
              <a:spcBef>
                <a:spcPts val="3000"/>
              </a:spcBef>
              <a:buNone/>
            </a:pPr>
            <a:r>
              <a:rPr b="1"/>
              <a:t>Month 6 — Compliance and Readiness</a:t>
            </a:r>
          </a:p>
          <a:p>
            <a:pPr lvl="0" indent="0" marL="0">
              <a:spcBef>
                <a:spcPts val="3000"/>
              </a:spcBef>
              <a:buNone/>
            </a:pPr>
            <a:r>
              <a:rPr b="1"/>
              <a:t>Identity</a:t>
            </a:r>
          </a:p>
          <a:p>
            <a:pPr lvl="0"/>
            <a:r>
              <a:rPr/>
              <a:t>NIST 800-63 alignment</a:t>
            </a:r>
          </a:p>
          <a:p>
            <a:pPr lvl="0"/>
            <a:r>
              <a:rPr/>
              <a:t>Identity assurance validation</a:t>
            </a:r>
          </a:p>
          <a:p>
            <a:pPr lvl="0" indent="0" marL="0">
              <a:spcBef>
                <a:spcPts val="3000"/>
              </a:spcBef>
              <a:buNone/>
            </a:pPr>
            <a:r>
              <a:rPr b="1"/>
              <a:t>Network</a:t>
            </a:r>
          </a:p>
          <a:p>
            <a:pPr lvl="0"/>
            <a:r>
              <a:rPr/>
              <a:t>TIC 3.0 Cloud Use Case</a:t>
            </a:r>
          </a:p>
          <a:p>
            <a:pPr lvl="0"/>
            <a:r>
              <a:rPr/>
              <a:t>TIC 3.0 Branch Use Case</a:t>
            </a:r>
          </a:p>
          <a:p>
            <a:pPr lvl="0" indent="0" marL="0">
              <a:spcBef>
                <a:spcPts val="3000"/>
              </a:spcBef>
              <a:buNone/>
            </a:pPr>
            <a:r>
              <a:rPr b="1"/>
              <a:t>Addressing</a:t>
            </a:r>
          </a:p>
          <a:p>
            <a:pPr lvl="0"/>
            <a:r>
              <a:rPr/>
              <a:t>Deterministic addressing validation</a:t>
            </a:r>
          </a:p>
          <a:p>
            <a:pPr lvl="0"/>
            <a:r>
              <a:rPr/>
              <a:t>DNS/DHCP modernization complete</a:t>
            </a:r>
          </a:p>
          <a:p>
            <a:pPr lvl="0" indent="0" marL="0">
              <a:spcBef>
                <a:spcPts val="3000"/>
              </a:spcBef>
              <a:buNone/>
            </a:pPr>
            <a:r>
              <a:rPr b="1"/>
              <a:t>Telemetry</a:t>
            </a:r>
          </a:p>
          <a:p>
            <a:pPr lvl="0"/>
            <a:r>
              <a:rPr/>
              <a:t>KSI generation</a:t>
            </a:r>
          </a:p>
          <a:p>
            <a:pPr lvl="0"/>
            <a:r>
              <a:rPr/>
              <a:t>FedRAMP 20x evidence readiness</a:t>
            </a:r>
          </a:p>
          <a:p>
            <a:pPr lvl="0" indent="0" marL="0">
              <a:spcBef>
                <a:spcPts val="3000"/>
              </a:spcBef>
              <a:buNone/>
            </a:pPr>
            <a:r>
              <a:rPr b="1"/>
              <a:t>Governance</a:t>
            </a:r>
          </a:p>
          <a:p>
            <a:pPr lvl="0"/>
            <a:r>
              <a:rPr/>
              <a:t>CMDB authoritative</a:t>
            </a:r>
          </a:p>
          <a:p>
            <a:pPr lvl="0"/>
            <a:r>
              <a:rPr/>
              <a:t>Drift-resistant operations</a:t>
            </a:r>
          </a:p>
          <a:p>
            <a:pPr lvl="0" indent="0" marL="0">
              <a:buNone/>
            </a:pPr>
            <a:r>
              <a:rPr b="1"/>
              <a:t>Milestone:</a:t>
            </a:r>
            <a:r>
              <a:rPr/>
              <a:t> FedRAMP 20x Phase 2 readiness.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9. Dependencies and Sequencing</a:t>
            </a:r>
          </a:p>
        </p:txBody>
      </p:sp>
      <p:sp>
        <p:nvSpPr>
          <p:cNvPr id="3" name="Content Placeholder 2"/>
          <p:cNvSpPr>
            <a:spLocks noGrp="1"/>
          </p:cNvSpPr>
          <p:nvPr>
            <p:ph idx="1"/>
          </p:nvPr>
        </p:nvSpPr>
        <p:spPr/>
        <p:txBody>
          <a:bodyPr/>
          <a:lstStyle/>
          <a:p>
            <a:pPr lvl="0" indent="0" marL="0">
              <a:spcBef>
                <a:spcPts val="3000"/>
              </a:spcBef>
              <a:buNone/>
            </a:pPr>
            <a:r>
              <a:rPr b="1"/>
              <a:t>Upstream Dependencies</a:t>
            </a:r>
          </a:p>
          <a:p>
            <a:pPr lvl="0"/>
            <a:r>
              <a:rPr/>
              <a:t>Identity modernization</a:t>
            </a:r>
          </a:p>
          <a:p>
            <a:pPr lvl="0"/>
            <a:r>
              <a:rPr/>
              <a:t>IPAM modernization</a:t>
            </a:r>
          </a:p>
          <a:p>
            <a:pPr lvl="0"/>
            <a:r>
              <a:rPr/>
              <a:t>SD-WAN overlay deployment</a:t>
            </a:r>
          </a:p>
          <a:p>
            <a:pPr lvl="0" indent="0" marL="0">
              <a:spcBef>
                <a:spcPts val="3000"/>
              </a:spcBef>
              <a:buNone/>
            </a:pPr>
            <a:r>
              <a:rPr b="1"/>
              <a:t>Downstream Dependencies</a:t>
            </a:r>
          </a:p>
          <a:p>
            <a:pPr lvl="0"/>
            <a:r>
              <a:rPr/>
              <a:t>TIC 3.0 packages</a:t>
            </a:r>
          </a:p>
          <a:p>
            <a:pPr lvl="0"/>
            <a:r>
              <a:rPr/>
              <a:t>FedRAMP 20x evidence generation</a:t>
            </a:r>
          </a:p>
          <a:p>
            <a:pPr lvl="0"/>
            <a:r>
              <a:rPr/>
              <a:t>Leadership reporting</a:t>
            </a:r>
          </a:p>
          <a:p>
            <a:pPr lvl="0" indent="0" marL="0">
              <a:spcBef>
                <a:spcPts val="3000"/>
              </a:spcBef>
              <a:buNone/>
            </a:pPr>
            <a:r>
              <a:rPr b="1"/>
              <a:t>Critical Path</a:t>
            </a:r>
          </a:p>
          <a:p>
            <a:pPr lvl="0" indent="0" marL="0">
              <a:buNone/>
            </a:pPr>
            <a:r>
              <a:rPr/>
              <a:t>Identity - Addressing - Network - Telemetry - Governance - Compliance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10. Governance and Drift Controls</a:t>
            </a:r>
          </a:p>
        </p:txBody>
      </p:sp>
      <p:sp>
        <p:nvSpPr>
          <p:cNvPr id="3" name="Content Placeholder 2"/>
          <p:cNvSpPr>
            <a:spLocks noGrp="1"/>
          </p:cNvSpPr>
          <p:nvPr>
            <p:ph idx="1"/>
          </p:nvPr>
        </p:nvSpPr>
        <p:spPr/>
        <p:txBody>
          <a:bodyPr/>
          <a:lstStyle/>
          <a:p>
            <a:pPr lvl="0" indent="0" marL="0">
              <a:spcBef>
                <a:spcPts val="3000"/>
              </a:spcBef>
              <a:buNone/>
            </a:pPr>
            <a:r>
              <a:rPr b="1"/>
              <a:t>Source of Authority</a:t>
            </a:r>
          </a:p>
          <a:p>
            <a:pPr lvl="0"/>
            <a:r>
              <a:rPr/>
              <a:t>HR — identity lifecycle</a:t>
            </a:r>
          </a:p>
          <a:p>
            <a:pPr lvl="0"/>
            <a:r>
              <a:rPr/>
              <a:t>Network architecture — addressing</a:t>
            </a:r>
          </a:p>
          <a:p>
            <a:pPr lvl="0"/>
            <a:r>
              <a:rPr/>
              <a:t>PKI — certificate trust</a:t>
            </a:r>
          </a:p>
          <a:p>
            <a:pPr lvl="0"/>
            <a:r>
              <a:rPr/>
              <a:t>System owners — configuration baselines</a:t>
            </a:r>
          </a:p>
          <a:p>
            <a:pPr lvl="0" indent="0" marL="0">
              <a:spcBef>
                <a:spcPts val="3000"/>
              </a:spcBef>
              <a:buNone/>
            </a:pPr>
            <a:r>
              <a:rPr b="1"/>
              <a:t>Drift Detection</a:t>
            </a:r>
          </a:p>
          <a:p>
            <a:pPr lvl="0"/>
            <a:r>
              <a:rPr/>
              <a:t>CMDB reconciliation</a:t>
            </a:r>
          </a:p>
          <a:p>
            <a:pPr lvl="0"/>
            <a:r>
              <a:rPr/>
              <a:t>Intune compliance</a:t>
            </a:r>
          </a:p>
          <a:p>
            <a:pPr lvl="0"/>
            <a:r>
              <a:rPr/>
              <a:t>SD-WAN overlay validation</a:t>
            </a:r>
          </a:p>
          <a:p>
            <a:pPr lvl="0"/>
            <a:r>
              <a:rPr/>
              <a:t>IPAM reconciliation</a:t>
            </a:r>
          </a:p>
          <a:p>
            <a:pPr lvl="0" indent="0" marL="0">
              <a:spcBef>
                <a:spcPts val="3000"/>
              </a:spcBef>
              <a:buNone/>
            </a:pPr>
            <a:r>
              <a:rPr b="1"/>
              <a:t>Remediation Workflow</a:t>
            </a:r>
          </a:p>
          <a:p>
            <a:pPr lvl="0"/>
            <a:r>
              <a:rPr/>
              <a:t>Automated ServiceNow change</a:t>
            </a:r>
          </a:p>
          <a:p>
            <a:pPr lvl="0"/>
            <a:r>
              <a:rPr/>
              <a:t>Conditional Access enforcement</a:t>
            </a:r>
          </a:p>
          <a:p>
            <a:pPr lvl="0"/>
            <a:r>
              <a:rPr/>
              <a:t>Certificate renewal</a:t>
            </a:r>
          </a:p>
          <a:p>
            <a:pPr lvl="0"/>
            <a:r>
              <a:rPr/>
              <a:t>IPAM correction</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11. Appendices</a:t>
            </a:r>
          </a:p>
        </p:txBody>
      </p:sp>
      <p:sp>
        <p:nvSpPr>
          <p:cNvPr id="3" name="Content Placeholder 2"/>
          <p:cNvSpPr>
            <a:spLocks noGrp="1"/>
          </p:cNvSpPr>
          <p:nvPr>
            <p:ph idx="1"/>
          </p:nvPr>
        </p:nvSpPr>
        <p:spPr/>
        <p:txBody>
          <a:bodyPr/>
          <a:lstStyle/>
          <a:p>
            <a:pPr lvl="0" indent="0" marL="0">
              <a:spcBef>
                <a:spcPts val="3000"/>
              </a:spcBef>
              <a:buNone/>
            </a:pPr>
            <a:r>
              <a:rPr b="1"/>
              <a:t>Appendix A: Definitions</a:t>
            </a:r>
          </a:p>
          <a:p>
            <a:pPr lvl="0" indent="0" marL="0">
              <a:buNone/>
            </a:pPr>
            <a:r>
              <a:rPr i="1"/>
              <a:t>See </a:t>
            </a:r>
            <a:r>
              <a:rPr i="1">
                <a:latin typeface="Courier"/>
              </a:rPr>
              <a:t>docs/glossary.md</a:t>
            </a:r>
          </a:p>
          <a:p>
            <a:pPr lvl="0" indent="0" marL="0">
              <a:spcBef>
                <a:spcPts val="3000"/>
              </a:spcBef>
              <a:buNone/>
            </a:pPr>
            <a:r>
              <a:rPr b="1"/>
              <a:t>Appendix B: Tables</a:t>
            </a:r>
          </a:p>
          <a:p>
            <a:pPr lvl="0" indent="0" marL="0">
              <a:buNone/>
            </a:pPr>
            <a:r>
              <a:rPr i="1"/>
              <a:t>Control Plane Alignment table is in Section 4. Modernization Timeline is in Section 8.</a:t>
            </a:r>
          </a:p>
          <a:p>
            <a:pPr lvl="0" indent="0" marL="0">
              <a:spcBef>
                <a:spcPts val="3000"/>
              </a:spcBef>
              <a:buNone/>
            </a:pPr>
            <a:r>
              <a:rPr b="1"/>
              <a:t>Appendix C: Diagram References</a:t>
            </a:r>
          </a:p>
          <a:p>
            <a:pPr lvl="0" indent="0" marL="0">
              <a:buNone/>
            </a:pPr>
            <a:r>
              <a:rPr i="1"/>
              <a:t>See </a:t>
            </a:r>
            <a:r>
              <a:rPr i="1">
                <a:latin typeface="Courier"/>
              </a:rPr>
              <a:t>docs/images/</a:t>
            </a:r>
            <a:r>
              <a:rPr i="1"/>
              <a:t> for all referenced architecture diagrams.</a:t>
            </a:r>
          </a:p>
          <a:p>
            <a:pPr lvl="0" indent="0" marL="0">
              <a:spcBef>
                <a:spcPts val="3000"/>
              </a:spcBef>
              <a:buNone/>
            </a:pPr>
            <a:r>
              <a:rPr b="1"/>
              <a:t>Appendix D: Evidence Sources</a:t>
            </a:r>
          </a:p>
          <a:p>
            <a:pPr lvl="0" indent="0" marL="0">
              <a:buNone/>
            </a:pPr>
            <a:r>
              <a:rPr i="1"/>
              <a:t>See </a:t>
            </a:r>
            <a:r>
              <a:rPr i="1">
                <a:latin typeface="Courier"/>
              </a:rPr>
              <a:t>data/parameters.yml</a:t>
            </a:r>
            <a:r>
              <a:rPr i="1"/>
              <a:t> and control-library entries for evidence source catalogs.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12. Revision History</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Version</a:t>
                      </a:r>
                    </a:p>
                  </a:txBody>
                  <a:tcPr/>
                </a:tc>
                <a:tc>
                  <a:txBody>
                    <a:bodyPr/>
                    <a:lstStyle/>
                    <a:p>
                      <a:pPr lvl="0" indent="0" marL="0">
                        <a:buNone/>
                      </a:pPr>
                      <a:r>
                        <a:rPr/>
                        <a:t>Date</a:t>
                      </a:r>
                    </a:p>
                  </a:txBody>
                  <a:tcPr/>
                </a:tc>
                <a:tc>
                  <a:txBody>
                    <a:bodyPr/>
                    <a:lstStyle/>
                    <a:p>
                      <a:pPr lvl="0" indent="0" marL="0">
                        <a:buNone/>
                      </a:pPr>
                      <a:r>
                        <a:rPr/>
                        <a:t>Author</a:t>
                      </a:r>
                    </a:p>
                  </a:txBody>
                  <a:tcPr/>
                </a:tc>
                <a:tc>
                  <a:txBody>
                    <a:bodyPr/>
                    <a:lstStyle/>
                    <a:p>
                      <a:pPr lvl="0" indent="0" marL="0">
                        <a:buNone/>
                      </a:pPr>
                      <a:r>
                        <a:rPr/>
                        <a:t>Summary</a:t>
                      </a:r>
                    </a:p>
                  </a:txBody>
                  <a:tcPr/>
                </a:tc>
              </a:tr>
              <a:tr h="0">
                <a:tc>
                  <a:txBody>
                    <a:bodyPr/>
                    <a:lstStyle/>
                    <a:p>
                      <a:pPr lvl="0" indent="0" marL="0">
                        <a:buNone/>
                      </a:pPr>
                      <a:r>
                        <a:rPr/>
                        <a:t>1.0</a:t>
                      </a:r>
                    </a:p>
                  </a:txBody>
                </a:tc>
                <a:tc>
                  <a:txBody>
                    <a:bodyPr/>
                    <a:lstStyle/>
                    <a:p>
                      <a:pPr lvl="0" indent="0" marL="0">
                        <a:buNone/>
                      </a:pPr>
                      <a:r>
                        <a:rPr/>
                        <a:t>2026-03</a:t>
                      </a:r>
                    </a:p>
                  </a:txBody>
                </a:tc>
                <a:tc>
                  <a:txBody>
                    <a:bodyPr/>
                    <a:lstStyle/>
                    <a:p>
                      <a:pPr lvl="0" indent="0" marL="0">
                        <a:buNone/>
                      </a:pPr>
                      <a:r>
                        <a:rPr/>
                        <a:t>UIAO Canon Engine</a:t>
                      </a:r>
                    </a:p>
                  </a:txBody>
                </a:tc>
                <a:tc>
                  <a:txBody>
                    <a:bodyPr/>
                    <a:lstStyle/>
                    <a:p>
                      <a:pPr lvl="0" indent="0" marL="0">
                        <a:buNone/>
                      </a:pPr>
                      <a:r>
                        <a:rPr/>
                        <a:t>Initial canonical release</a:t>
                      </a:r>
                    </a:p>
                  </a:txBody>
                </a:tc>
              </a:tr>
            </a:tbl>
          </a:graphicData>
        </a:graphic>
      </p:graphicFrame>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08 Modernizationtimeline</dc:title>
  <dc:creator>UIAO Modernization Program</dc:creator>
  <cp:keywords/>
  <dcterms:created xsi:type="dcterms:W3CDTF">2026-04-03T14:32:31Z</dcterms:created>
  <dcterms:modified xsi:type="dcterms:W3CDTF">2026-04-03T14:32:31Z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rossref">
    <vt:lpwstr/>
  </property>
  <property fmtid="{D5CDD505-2E9C-101B-9397-08002B2CF9AE}" pid="6" name="date">
    <vt:lpwstr>April 3, 2026</vt:lpwstr>
  </property>
  <property fmtid="{D5CDD505-2E9C-101B-9397-08002B2CF9AE}" pid="7" name="date-format">
    <vt:lpwstr>MMMM D, YYYY</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mermaid">
    <vt:lpwstr/>
  </property>
  <property fmtid="{D5CDD505-2E9C-101B-9397-08002B2CF9AE}" pid="13" name="toc-title">
    <vt:lpwstr>Table of contents</vt:lpwstr>
  </property>
</Properties>
</file>