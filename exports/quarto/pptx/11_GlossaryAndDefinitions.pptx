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5" Type="http://schemas.openxmlformats.org/officeDocument/2006/relationships/viewProps" Target="viewProps.xml" /><Relationship Id="rId1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7" Type="http://schemas.openxmlformats.org/officeDocument/2006/relationships/tableStyles" Target="tableStyles.xml" /><Relationship Id="rId1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11 Glossaryanddefinitions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br/>
            <a:br/>
            <a:r>
              <a:rPr/>
              <a:t>UIAO Modernization Program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10" sz="half" type="dt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March 31, 2026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UIAO Glossary and Definitions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Title Page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14800"/>
                <a:gridCol w="41148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Field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Value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Version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Date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March 2026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Classification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CUI/FOUO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Source Planes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Network, Addressing, Telemetry, Security, Management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 b="1"/>
                        <a:t>Document Type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Canon Glossary (02_Appendices)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2. Purpose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document provides the authoritative glossary for the Unified Identity-Addressing-Overlay (UIAO) canon. It defines all core terms, architectural concepts, control-plane vocabulary, compliance terminology, and modernization language used throughout the 12-document corpus. These definitions are frozen and must not be altered without a formal canon revision.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3.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Included</a:t>
            </a:r>
          </a:p>
          <a:p>
            <a:pPr lvl="0"/>
            <a:r>
              <a:rPr/>
              <a:t>Canonical definitions of all UIAO terms</a:t>
            </a:r>
          </a:p>
          <a:p>
            <a:pPr lvl="0"/>
            <a:r>
              <a:rPr/>
              <a:t>Control-plane terminology</a:t>
            </a:r>
          </a:p>
          <a:p>
            <a:pPr lvl="0"/>
            <a:r>
              <a:rPr/>
              <a:t>Compliance and governance vocabulary</a:t>
            </a:r>
          </a:p>
          <a:p>
            <a:pPr lvl="0"/>
            <a:r>
              <a:rPr/>
              <a:t>Acronyms and abbreviations</a:t>
            </a:r>
          </a:p>
          <a:p>
            <a:pPr lvl="0"/>
            <a:r>
              <a:rPr/>
              <a:t>Cross-plane conceptual language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Excluded</a:t>
            </a:r>
          </a:p>
          <a:p>
            <a:pPr lvl="0"/>
            <a:r>
              <a:rPr/>
              <a:t>Vendor-specific product documentation</a:t>
            </a:r>
          </a:p>
          <a:p>
            <a:pPr lvl="0"/>
            <a:r>
              <a:rPr/>
              <a:t>Implementation-specific terminology</a:t>
            </a:r>
          </a:p>
          <a:p>
            <a:pPr lvl="0"/>
            <a:r>
              <a:rPr/>
              <a:t>Non-canonical slang or shorthand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/>
          <a:lstStyle/>
          <a:p>
            <a:pPr lvl="0" indent="0" marL="0">
              <a:buNone/>
            </a:pPr>
            <a:r>
              <a:rPr/>
              <a:t>4. Control Plane Alignment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glossary spans all six UIAO control planes: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Plane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Vocabulary Domain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Identity, assurance, lifecycle, governance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Network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Routing, segmentation, overlay, DIA, INR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Addressing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IPAM, DNS/DHCP, deterministic addressing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 and Location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Telemetry, location inference, KSI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Security and Compliance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Zero Trust, TIC 3.0, FedRAMP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Management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CMDB, drift detection, configuration baselines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5. Core Concepts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glossary includes the frozen definitions of the Seven Core Concepts: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Conversation as the Atomic Unit</a:t>
            </a:r>
          </a:p>
          <a:p>
            <a:pPr lvl="0" indent="0" marL="0">
              <a:buNone/>
            </a:pPr>
            <a:r>
              <a:rPr/>
              <a:t>A correlated interaction consisting of identity, addressing, certificates, path, QoS, and telemetry.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Identity as the Root Namespace</a:t>
            </a:r>
          </a:p>
          <a:p>
            <a:pPr lvl="0" indent="0" marL="0">
              <a:buNone/>
            </a:pPr>
            <a:r>
              <a:rPr/>
              <a:t>Identity governs addressing, certificates, segmentation, and policy.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Deterministic Addressing</a:t>
            </a:r>
          </a:p>
          <a:p>
            <a:pPr lvl="0" indent="0" marL="0">
              <a:buNone/>
            </a:pPr>
            <a:r>
              <a:rPr/>
              <a:t>IP addresses derived from identity attributes and policy, not spreadsheets or manual assignment.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Certificate-Anchored Overlay</a:t>
            </a:r>
          </a:p>
          <a:p>
            <a:pPr lvl="0" indent="0" marL="0">
              <a:buNone/>
            </a:pPr>
            <a:r>
              <a:rPr/>
              <a:t>mTLS-anchored tunnels and service chains that enforce identity-aware routing.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Telemetry as Control</a:t>
            </a:r>
          </a:p>
          <a:p>
            <a:pPr lvl="0" indent="0" marL="0">
              <a:buNone/>
            </a:pPr>
            <a:r>
              <a:rPr/>
              <a:t>Telemetry is a real-time control input for routing, access, segmentation, and compliance.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Embedded Governance and Automation</a:t>
            </a:r>
          </a:p>
          <a:p>
            <a:pPr lvl="0" indent="0" marL="0">
              <a:buNone/>
            </a:pPr>
            <a:r>
              <a:rPr/>
              <a:t>Governance executed through automated workflows, not manual tickets.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Public Service First</a:t>
            </a:r>
          </a:p>
          <a:p>
            <a:pPr lvl="0" indent="0" marL="0">
              <a:buNone/>
            </a:pPr>
            <a:r>
              <a:rPr/>
              <a:t>Citizen experience, accessibility, and privacy are top-level design constraints.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6. Glossary (Canonical Definitions)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Below is the authoritative glossary for the UIAO canon.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</a:t>
            </a:r>
          </a:p>
          <a:p>
            <a:pPr lvl="0" indent="0" marL="0">
              <a:buNone/>
            </a:pPr>
            <a:r>
              <a:rPr b="1"/>
              <a:t>AC-4 (Access Control)</a:t>
            </a:r>
            <a:r>
              <a:rPr/>
              <a:t> NIST control governing segmentation and identity-aware routing.</a:t>
            </a:r>
          </a:p>
          <a:p>
            <a:pPr lvl="0" indent="0" marL="0">
              <a:buNone/>
            </a:pPr>
            <a:r>
              <a:rPr b="1"/>
              <a:t>Addressing Control Plane</a:t>
            </a:r>
            <a:r>
              <a:rPr/>
              <a:t> The plane responsible for deterministic IPAM, DNS/DHCP, and identity-derived addressing.</a:t>
            </a:r>
          </a:p>
          <a:p>
            <a:pPr lvl="0" indent="0" marL="0">
              <a:buNone/>
            </a:pPr>
            <a:r>
              <a:rPr b="1"/>
              <a:t>Asset Inventory (CM-8)</a:t>
            </a:r>
            <a:r>
              <a:rPr/>
              <a:t> Authoritative list of hardware, software, and virtual assets maintained through CMDB and IPAM.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B</a:t>
            </a:r>
          </a:p>
          <a:p>
            <a:pPr lvl="0" indent="0" marL="0">
              <a:buNone/>
            </a:pPr>
            <a:r>
              <a:rPr b="1"/>
              <a:t>Baseline Configuration (CM-2)</a:t>
            </a:r>
            <a:r>
              <a:rPr/>
              <a:t> Approved configuration settings enforced through Intune and validated through CMDB.</a:t>
            </a:r>
          </a:p>
          <a:p>
            <a:pPr lvl="0" indent="0" marL="0">
              <a:buNone/>
            </a:pPr>
            <a:r>
              <a:rPr b="1"/>
              <a:t>Branch Modernization</a:t>
            </a:r>
            <a:r>
              <a:rPr/>
              <a:t> TIC 3.0 Branch Use Case implementation using SD-WAN and identity-aware segmentation.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C</a:t>
            </a:r>
          </a:p>
          <a:p>
            <a:pPr lvl="0" indent="0" marL="0">
              <a:buNone/>
            </a:pPr>
            <a:r>
              <a:rPr b="1"/>
              <a:t>CA-7 (Continuous Monitoring)</a:t>
            </a:r>
            <a:r>
              <a:rPr/>
              <a:t> NIST control requiring real-time telemetry and automated evidence generation.</a:t>
            </a:r>
          </a:p>
          <a:p>
            <a:pPr lvl="0" indent="0" marL="0">
              <a:buNone/>
            </a:pPr>
            <a:r>
              <a:rPr b="1"/>
              <a:t>Certificate-Anchored Overlay</a:t>
            </a:r>
            <a:r>
              <a:rPr/>
              <a:t> mTLS-anchored tunnels that enforce identity-aware routing and segmentation.</a:t>
            </a:r>
          </a:p>
          <a:p>
            <a:pPr lvl="0" indent="0" marL="0">
              <a:buNone/>
            </a:pPr>
            <a:r>
              <a:rPr b="1"/>
              <a:t>CMDB (Configuration Management Database)</a:t>
            </a:r>
            <a:r>
              <a:rPr/>
              <a:t> Authoritative system of record for assets, configurations, and relationships.</a:t>
            </a:r>
          </a:p>
          <a:p>
            <a:pPr lvl="0" indent="0" marL="0">
              <a:buNone/>
            </a:pPr>
            <a:r>
              <a:rPr b="1"/>
              <a:t>Conditional Access</a:t>
            </a:r>
            <a:r>
              <a:rPr/>
              <a:t> Identity-driven access control based on device posture, location, and assurance.</a:t>
            </a:r>
          </a:p>
          <a:p>
            <a:pPr lvl="0" indent="0" marL="0">
              <a:buNone/>
            </a:pPr>
            <a:r>
              <a:rPr b="1"/>
              <a:t>Conversation</a:t>
            </a:r>
            <a:r>
              <a:rPr/>
              <a:t> The atomic unit of UIAO runtime behavior.</a:t>
            </a:r>
          </a:p>
          <a:p>
            <a:pPr lvl="0" indent="0" marL="0">
              <a:buNone/>
            </a:pPr>
            <a:r>
              <a:rPr b="1"/>
              <a:t>Crosswalk</a:t>
            </a:r>
            <a:r>
              <a:rPr/>
              <a:t> A mapping between UIAO concepts and external compliance frameworks.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</a:t>
            </a:r>
          </a:p>
          <a:p>
            <a:pPr lvl="0" indent="0" marL="0">
              <a:buNone/>
            </a:pPr>
            <a:r>
              <a:rPr b="1"/>
              <a:t>Deterministic Addressing</a:t>
            </a:r>
            <a:r>
              <a:rPr/>
              <a:t> Identity-derived IP addressing that eliminates manual assignment and spreadsheet drift.</a:t>
            </a:r>
          </a:p>
          <a:p>
            <a:pPr lvl="0" indent="0" marL="0">
              <a:buNone/>
            </a:pPr>
            <a:r>
              <a:rPr b="1"/>
              <a:t>DIA (Direct Internet Access)</a:t>
            </a:r>
            <a:r>
              <a:rPr/>
              <a:t> Cloud-first routing model that bypasses legacy TIC 2.0 bottlenecks.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E</a:t>
            </a:r>
          </a:p>
          <a:p>
            <a:pPr lvl="0" indent="0" marL="0">
              <a:buNone/>
            </a:pPr>
            <a:r>
              <a:rPr b="1"/>
              <a:t>E911</a:t>
            </a:r>
            <a:r>
              <a:rPr/>
              <a:t> Emergency location services requiring accurate, real-time location inference.</a:t>
            </a:r>
          </a:p>
          <a:p>
            <a:pPr lvl="0" indent="0" marL="0">
              <a:buNone/>
            </a:pPr>
            <a:r>
              <a:rPr b="1"/>
              <a:t>Entra ID</a:t>
            </a:r>
            <a:r>
              <a:rPr/>
              <a:t> Authoritative identity provider for UIAO.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F</a:t>
            </a:r>
          </a:p>
          <a:p>
            <a:pPr lvl="0" indent="0" marL="0">
              <a:buNone/>
            </a:pPr>
            <a:r>
              <a:rPr b="1"/>
              <a:t>FedRAMP 20x</a:t>
            </a:r>
            <a:r>
              <a:rPr/>
              <a:t> Telemetry-based validation framework for federal cloud services.</a:t>
            </a:r>
          </a:p>
          <a:p>
            <a:pPr lvl="0" indent="0" marL="0">
              <a:buNone/>
            </a:pPr>
            <a:r>
              <a:rPr b="1"/>
              <a:t>Frozen State</a:t>
            </a:r>
            <a:r>
              <a:rPr/>
              <a:t> Legacy architectural constraints that prevent modernization.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G</a:t>
            </a:r>
          </a:p>
          <a:p>
            <a:pPr lvl="0" indent="0" marL="0">
              <a:buNone/>
            </a:pPr>
            <a:r>
              <a:rPr b="1"/>
              <a:t>Governance</a:t>
            </a:r>
            <a:r>
              <a:rPr/>
              <a:t> Automated enforcement of identity, configuration, and compliance policies.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H</a:t>
            </a:r>
          </a:p>
          <a:p>
            <a:pPr lvl="0" indent="0" marL="0">
              <a:buNone/>
            </a:pPr>
            <a:r>
              <a:rPr b="1"/>
              <a:t>HLD (High-Level Design)</a:t>
            </a:r>
            <a:r>
              <a:rPr/>
              <a:t> Architecture-level design documents defining system behavior and boundaries.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I</a:t>
            </a:r>
          </a:p>
          <a:p>
            <a:pPr lvl="0" indent="0" marL="0">
              <a:buNone/>
            </a:pPr>
            <a:r>
              <a:rPr b="1"/>
              <a:t>Identity Assurance</a:t>
            </a:r>
            <a:r>
              <a:rPr/>
              <a:t> Confidence level in the authenticity of an identity, governed by NIST 800-63.</a:t>
            </a:r>
          </a:p>
          <a:p>
            <a:pPr lvl="0" indent="0" marL="0">
              <a:buNone/>
            </a:pPr>
            <a:r>
              <a:rPr b="1"/>
              <a:t>Identity Control Plane</a:t>
            </a:r>
            <a:r>
              <a:rPr/>
              <a:t> The plane responsible for identity lifecycle, authentication, and assurance.</a:t>
            </a:r>
          </a:p>
          <a:p>
            <a:pPr lvl="0" indent="0" marL="0">
              <a:buNone/>
            </a:pPr>
            <a:r>
              <a:rPr b="1"/>
              <a:t>INR (Intelligent Network Routing)</a:t>
            </a:r>
            <a:r>
              <a:rPr/>
              <a:t> Location-aware routing based on telemetry and identity.</a:t>
            </a:r>
          </a:p>
          <a:p>
            <a:pPr lvl="0" indent="0" marL="0">
              <a:buNone/>
            </a:pPr>
            <a:r>
              <a:rPr b="1"/>
              <a:t>IPAM (IP Address Management)</a:t>
            </a:r>
            <a:r>
              <a:rPr/>
              <a:t> Authoritative addressing system for deterministic IP allocation.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K</a:t>
            </a:r>
          </a:p>
          <a:p>
            <a:pPr lvl="0" indent="0" marL="0">
              <a:buNone/>
            </a:pPr>
            <a:r>
              <a:rPr b="1"/>
              <a:t>KSI (Key Security Indicator)</a:t>
            </a:r>
            <a:r>
              <a:rPr/>
              <a:t> Telemetry-based evidence required for FedRAMP 20x validation.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L</a:t>
            </a:r>
          </a:p>
          <a:p>
            <a:pPr lvl="0" indent="0" marL="0">
              <a:buNone/>
            </a:pPr>
            <a:r>
              <a:rPr b="1"/>
              <a:t>LLD (Low-Level Design)</a:t>
            </a:r>
            <a:r>
              <a:rPr/>
              <a:t> Implementation-level design documents defining configuration details.</a:t>
            </a:r>
          </a:p>
          <a:p>
            <a:pPr lvl="0" indent="0" marL="0">
              <a:buNone/>
            </a:pPr>
            <a:r>
              <a:rPr b="1"/>
              <a:t>Location Inference</a:t>
            </a:r>
            <a:r>
              <a:rPr/>
              <a:t> Determining user or device location based on IPAM, SD-WAN, and telemetry.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M</a:t>
            </a:r>
          </a:p>
          <a:p>
            <a:pPr lvl="0" indent="0" marL="0">
              <a:buNone/>
            </a:pPr>
            <a:r>
              <a:rPr b="1"/>
              <a:t>Management Plane</a:t>
            </a:r>
            <a:r>
              <a:rPr/>
              <a:t> The plane responsible for CMDB, drift detection, device compliance, and governance.</a:t>
            </a:r>
          </a:p>
          <a:p>
            <a:pPr lvl="0" indent="0" marL="0">
              <a:buNone/>
            </a:pPr>
            <a:r>
              <a:rPr b="1"/>
              <a:t>mTLS (Mutual TLS)</a:t>
            </a:r>
            <a:r>
              <a:rPr/>
              <a:t> Certificate-based authentication used for overlay tunnels.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N</a:t>
            </a:r>
          </a:p>
          <a:p>
            <a:pPr lvl="0" indent="0" marL="0">
              <a:buNone/>
            </a:pPr>
            <a:r>
              <a:rPr b="1"/>
              <a:t>NIST SP 800-53 Rev 5</a:t>
            </a:r>
            <a:r>
              <a:rPr/>
              <a:t> Primary federal security control framework.</a:t>
            </a:r>
          </a:p>
          <a:p>
            <a:pPr lvl="0" indent="0" marL="0">
              <a:buNone/>
            </a:pPr>
            <a:r>
              <a:rPr b="1"/>
              <a:t>NIST SP 800-63</a:t>
            </a:r>
            <a:r>
              <a:rPr/>
              <a:t> Identity assurance and authentication framework.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O</a:t>
            </a:r>
          </a:p>
          <a:p>
            <a:pPr lvl="0" indent="0" marL="0">
              <a:buNone/>
            </a:pPr>
            <a:r>
              <a:rPr b="1"/>
              <a:t>Overlay</a:t>
            </a:r>
            <a:r>
              <a:rPr/>
              <a:t> Identity-anchored, certificate-secured virtual network layer.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P</a:t>
            </a:r>
          </a:p>
          <a:p>
            <a:pPr lvl="0" indent="0" marL="0">
              <a:buNone/>
            </a:pPr>
            <a:r>
              <a:rPr b="1"/>
              <a:t>PIM (Privileged Identity Management)</a:t>
            </a:r>
            <a:r>
              <a:rPr/>
              <a:t> Governance system for privileged access.</a:t>
            </a:r>
          </a:p>
          <a:p>
            <a:pPr lvl="0" indent="0" marL="0">
              <a:buNone/>
            </a:pPr>
            <a:r>
              <a:rPr b="1"/>
              <a:t>Public Service First</a:t>
            </a:r>
            <a:r>
              <a:rPr/>
              <a:t> Design principle prioritizing citizen experience and accessibility.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R</a:t>
            </a:r>
          </a:p>
          <a:p>
            <a:pPr lvl="0" indent="0" marL="0">
              <a:buNone/>
            </a:pPr>
            <a:r>
              <a:rPr b="1"/>
              <a:t>Runtime Model</a:t>
            </a:r>
            <a:r>
              <a:rPr/>
              <a:t> UIAO’s operational model based on conversation-level evaluation.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S</a:t>
            </a:r>
          </a:p>
          <a:p>
            <a:pPr lvl="0" indent="0" marL="0">
              <a:buNone/>
            </a:pPr>
            <a:r>
              <a:rPr b="1"/>
              <a:t>SCuBA</a:t>
            </a:r>
            <a:r>
              <a:rPr/>
              <a:t> CISA’s M365 hardening and identity governance framework.</a:t>
            </a:r>
          </a:p>
          <a:p>
            <a:pPr lvl="0" indent="0" marL="0">
              <a:buNone/>
            </a:pPr>
            <a:r>
              <a:rPr b="1"/>
              <a:t>SD-WAN</a:t>
            </a:r>
            <a:r>
              <a:rPr/>
              <a:t> Software-defined WAN used for cloud-first routing and segmentation.</a:t>
            </a:r>
          </a:p>
          <a:p>
            <a:pPr lvl="0" indent="0" marL="0">
              <a:buNone/>
            </a:pPr>
            <a:r>
              <a:rPr b="1"/>
              <a:t>Segmentation</a:t>
            </a:r>
            <a:r>
              <a:rPr/>
              <a:t> Identity-aware network separation enforced through SD-WAN.</a:t>
            </a:r>
          </a:p>
          <a:p>
            <a:pPr lvl="0" indent="0" marL="0">
              <a:buNone/>
            </a:pPr>
            <a:r>
              <a:rPr b="1"/>
              <a:t>ServiceNow</a:t>
            </a:r>
            <a:r>
              <a:rPr/>
              <a:t> Authoritative system for CMDB, change control, and drift detection.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T</a:t>
            </a:r>
          </a:p>
          <a:p>
            <a:pPr lvl="0" indent="0" marL="0">
              <a:buNone/>
            </a:pPr>
            <a:r>
              <a:rPr b="1"/>
              <a:t>Telemetry</a:t>
            </a:r>
            <a:r>
              <a:rPr/>
              <a:t> Real-time signals used for routing, access, segmentation, and compliance.</a:t>
            </a:r>
          </a:p>
          <a:p>
            <a:pPr lvl="0" indent="0" marL="0">
              <a:buNone/>
            </a:pPr>
            <a:r>
              <a:rPr b="1"/>
              <a:t>TIC 3.0</a:t>
            </a:r>
            <a:r>
              <a:rPr/>
              <a:t> Modern federal perimeter and cloud security framework.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Z</a:t>
            </a:r>
          </a:p>
          <a:p>
            <a:pPr lvl="0" indent="0" marL="0">
              <a:buNone/>
            </a:pPr>
            <a:r>
              <a:rPr b="1"/>
              <a:t>Zero Trust</a:t>
            </a:r>
            <a:r>
              <a:rPr/>
              <a:t> Security model requiring continuous verification of identity, device, and context.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7. Dependencies and Sequencing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Upstream Dependencies</a:t>
            </a:r>
          </a:p>
          <a:p>
            <a:pPr lvl="0"/>
            <a:r>
              <a:rPr/>
              <a:t>Identity modernization</a:t>
            </a:r>
          </a:p>
          <a:p>
            <a:pPr lvl="0"/>
            <a:r>
              <a:rPr/>
              <a:t>IPAM modernization</a:t>
            </a:r>
          </a:p>
          <a:p>
            <a:pPr lvl="0"/>
            <a:r>
              <a:rPr/>
              <a:t>SD-WAN overlay deployment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Downstream Dependencies</a:t>
            </a:r>
          </a:p>
          <a:p>
            <a:pPr lvl="0"/>
            <a:r>
              <a:rPr/>
              <a:t>Crosswalk generation</a:t>
            </a:r>
          </a:p>
          <a:p>
            <a:pPr lvl="0"/>
            <a:r>
              <a:rPr/>
              <a:t>Leadership reporting</a:t>
            </a:r>
          </a:p>
          <a:p>
            <a:pPr lvl="0"/>
            <a:r>
              <a:rPr/>
              <a:t>Governance automation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8. Governance and Drift Controls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Source of Authority</a:t>
            </a:r>
          </a:p>
          <a:p>
            <a:pPr lvl="0"/>
            <a:r>
              <a:rPr/>
              <a:t>HR — identity lifecycle</a:t>
            </a:r>
          </a:p>
          <a:p>
            <a:pPr lvl="0"/>
            <a:r>
              <a:rPr/>
              <a:t>Network architecture — addressing</a:t>
            </a:r>
          </a:p>
          <a:p>
            <a:pPr lvl="0"/>
            <a:r>
              <a:rPr/>
              <a:t>PKI — certificate trust</a:t>
            </a:r>
          </a:p>
          <a:p>
            <a:pPr lvl="0"/>
            <a:r>
              <a:rPr/>
              <a:t>System owners — configuration baselines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Drift Detection</a:t>
            </a:r>
          </a:p>
          <a:p>
            <a:pPr lvl="0"/>
            <a:r>
              <a:rPr/>
              <a:t>CMDB reconciliation</a:t>
            </a:r>
          </a:p>
          <a:p>
            <a:pPr lvl="0"/>
            <a:r>
              <a:rPr/>
              <a:t>Intune compliance</a:t>
            </a:r>
          </a:p>
          <a:p>
            <a:pPr lvl="0"/>
            <a:r>
              <a:rPr/>
              <a:t>SD-WAN overlay validation</a:t>
            </a:r>
          </a:p>
          <a:p>
            <a:pPr lvl="0"/>
            <a:r>
              <a:rPr/>
              <a:t>IPAM reconciliation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9. Appendices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Appendix A: Acronyms</a:t>
            </a:r>
          </a:p>
          <a:p>
            <a:pPr lvl="0" indent="0" marL="0">
              <a:buNone/>
            </a:pPr>
            <a:r>
              <a:rPr i="1"/>
              <a:t>All acronyms are defined inline within Section 6.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B: Extended Definitions</a:t>
            </a:r>
          </a:p>
          <a:p>
            <a:pPr lvl="0" indent="0" marL="0">
              <a:buNone/>
            </a:pPr>
            <a:r>
              <a:rPr i="1"/>
              <a:t>See individual canonical documents for extended context on each term.</a:t>
            </a:r>
          </a:p>
          <a:p>
            <a:pPr lvl="0" indent="0" marL="0">
              <a:spcBef>
                <a:spcPts val="3000"/>
              </a:spcBef>
              <a:buNone/>
            </a:pPr>
            <a:r>
              <a:rPr b="1"/>
              <a:t>Appendix C: Evidence Sources</a:t>
            </a:r>
          </a:p>
          <a:p>
            <a:pPr lvl="0" indent="0" marL="0">
              <a:buNone/>
            </a:pPr>
            <a:r>
              <a:rPr i="1"/>
              <a:t>See </a:t>
            </a:r>
            <a:r>
              <a:rPr i="1">
                <a:latin typeface="Courier"/>
              </a:rPr>
              <a:t>data/parameters.yml</a:t>
            </a:r>
            <a:r>
              <a:rPr i="1"/>
              <a:t> and control-library entries for evidence source catalogs.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10. Revision History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457200" y="1193800"/>
          <a:ext cx="8229600" cy="33909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Version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Date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Author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Summary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1.0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2026-03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UIAO Canon Engine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Initial canonical release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11 Glossaryanddefinitions</dc:title>
  <dc:creator>UIAO Modernization Program</dc:creator>
  <cp:keywords/>
  <dcterms:created xsi:type="dcterms:W3CDTF">2026-03-31T17:10:45Z</dcterms:created>
  <dcterms:modified xsi:type="dcterms:W3CDTF">2026-03-31T17:10:45Z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crossref">
    <vt:lpwstr/>
  </property>
  <property fmtid="{D5CDD505-2E9C-101B-9397-08002B2CF9AE}" pid="6" name="date">
    <vt:lpwstr>March 31, 2026</vt:lpwstr>
  </property>
  <property fmtid="{D5CDD505-2E9C-101B-9397-08002B2CF9AE}" pid="7" name="date-format">
    <vt:lpwstr>MMMM D, YYYY</vt:lpwstr>
  </property>
  <property fmtid="{D5CDD505-2E9C-101B-9397-08002B2CF9AE}" pid="8" name="header-includes">
    <vt:lpwstr/>
  </property>
  <property fmtid="{D5CDD505-2E9C-101B-9397-08002B2CF9AE}" pid="9" name="include-after">
    <vt:lpwstr/>
  </property>
  <property fmtid="{D5CDD505-2E9C-101B-9397-08002B2CF9AE}" pid="10" name="include-before">
    <vt:lpwstr/>
  </property>
  <property fmtid="{D5CDD505-2E9C-101B-9397-08002B2CF9AE}" pid="11" name="labels">
    <vt:lpwstr/>
  </property>
  <property fmtid="{D5CDD505-2E9C-101B-9397-08002B2CF9AE}" pid="12" name="mermaid">
    <vt:lpwstr/>
  </property>
  <property fmtid="{D5CDD505-2E9C-101B-9397-08002B2CF9AE}" pid="13" name="toc-title">
    <vt:lpwstr>Table of contents</vt:lpwstr>
  </property>
</Properties>
</file>