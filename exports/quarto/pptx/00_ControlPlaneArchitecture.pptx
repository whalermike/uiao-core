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00 Controlplanearchitecture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Plane 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Architectural Specification (00_Core)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six control planes that form the foundation of the Unified Identity-Addressing-Overlay (UIAO) architecture. It establishes the authoritative structure, responsibilities, boundaries, and interactions of each plane, ensuring deterministic behavior across identity, network, addressing, telemetry, security, and management domains.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Canonical definitions of all six control planes</a:t>
            </a:r>
          </a:p>
          <a:p>
            <a:pPr lvl="0"/>
            <a:r>
              <a:rPr/>
              <a:t>Responsibilities and boundaries for each plane</a:t>
            </a:r>
          </a:p>
          <a:p>
            <a:pPr lvl="0"/>
            <a:r>
              <a:rPr/>
              <a:t>Cross-plane interactions</a:t>
            </a:r>
          </a:p>
          <a:p>
            <a:pPr lvl="0"/>
            <a:r>
              <a:rPr/>
              <a:t>Runtime alignment with UIAO’s conversation-centric model</a:t>
            </a:r>
          </a:p>
          <a:p>
            <a:pPr lvl="0"/>
            <a:r>
              <a:rPr/>
              <a:t>Compliance and governance anchors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Implementation-specific configurations</a:t>
            </a:r>
          </a:p>
          <a:p>
            <a:pPr lvl="0"/>
            <a:r>
              <a:rPr/>
              <a:t>Vendor-specific deployment guides</a:t>
            </a:r>
          </a:p>
          <a:p>
            <a:pPr lvl="0"/>
            <a:r>
              <a:rPr/>
              <a:t>Project plans (covered in modernization appendices)</a:t>
            </a:r>
          </a:p>
          <a:p>
            <a:pPr lvl="0"/>
            <a:r>
              <a:rPr/>
              <a:t>Diagrams (referenced but not embedded)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all six UIAO control planes and establishes their relationships.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source of truth for identity, assurance, and access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Routing, segmentation, and path selection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DNS, DHCP, and identity-derived 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signals for routing, security, and compliance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enforcement, FedRAMP alignment, TIC 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drift detection, CMDB,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other UIAO documents reference this plane model.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six control planes operate according to the Seven Core Concepts of UIAO: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</a:t>
            </a:r>
          </a:p>
          <a:p>
            <a:pPr lvl="0" indent="-342900" marL="342900">
              <a:buAutoNum type="arabicPeriod"/>
            </a:pPr>
            <a:r>
              <a:rPr/>
              <a:t>Identity as the root namespace</a:t>
            </a:r>
          </a:p>
          <a:p>
            <a:pPr lvl="0" indent="-342900" marL="342900">
              <a:buAutoNum type="arabicPeriod"/>
            </a:pPr>
            <a:r>
              <a:rPr/>
              <a:t>Deterministic addressing</a:t>
            </a:r>
          </a:p>
          <a:p>
            <a:pPr lvl="0" indent="-342900" marL="342900">
              <a:buAutoNum type="arabicPeriod"/>
            </a:pPr>
            <a:r>
              <a:rPr/>
              <a:t>Certificate-anchored overlay</a:t>
            </a:r>
          </a:p>
          <a:p>
            <a:pPr lvl="0" indent="-342900" marL="342900">
              <a:buAutoNum type="arabicPeriod"/>
            </a:pPr>
            <a:r>
              <a:rPr/>
              <a:t>Telemetry as control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</a:t>
            </a:r>
          </a:p>
          <a:p>
            <a:pPr lvl="0" indent="-342900" marL="342900">
              <a:buAutoNum type="arabicPeriod"/>
            </a:pPr>
            <a:r>
              <a:rPr/>
              <a:t>Public service first</a:t>
            </a:r>
          </a:p>
          <a:p>
            <a:pPr lvl="0" indent="0" marL="0">
              <a:buNone/>
            </a:pPr>
            <a:r>
              <a:rPr/>
              <a:t>These concepts are frozen and must appear identically across all UIAO documents.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Overview</a:t>
            </a:r>
          </a:p>
          <a:p>
            <a:pPr lvl="0" indent="0" marL="0">
              <a:buNone/>
            </a:pPr>
            <a:r>
              <a:rPr/>
              <a:t>The UIAO architecture replaces legacy perimeter-centric models with a federated, identity-driven, telemetry-informed control plane system. Each plane is authoritative for a specific domain but interoperates through deterministic, identity-anchored relationships.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Plane Definitions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Control Plane</a:t>
            </a:r>
          </a:p>
          <a:p>
            <a:pPr lvl="0"/>
            <a:r>
              <a:rPr b="1"/>
              <a:t>Authoritative System:</a:t>
            </a:r>
            <a:r>
              <a:rPr/>
              <a:t> Microsoft Entra ID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Identity lifecycle (joiner/mover/leaver)</a:t>
            </a:r>
          </a:p>
          <a:p>
            <a:pPr lvl="1"/>
            <a:r>
              <a:rPr/>
              <a:t>Authentication and assurance</a:t>
            </a:r>
          </a:p>
          <a:p>
            <a:pPr lvl="1"/>
            <a:r>
              <a:rPr/>
              <a:t>Conditional Access</a:t>
            </a:r>
          </a:p>
          <a:p>
            <a:pPr lvl="1"/>
            <a:r>
              <a:rPr/>
              <a:t>Privileged Identity Management</a:t>
            </a:r>
          </a:p>
          <a:p>
            <a:pPr lvl="1"/>
            <a:r>
              <a:rPr/>
              <a:t>Device trust (via Intune)</a:t>
            </a:r>
          </a:p>
          <a:p>
            <a:pPr lvl="1"/>
            <a:r>
              <a:rPr/>
              <a:t>Identity-derived addressing and policy</a:t>
            </a:r>
          </a:p>
          <a:p>
            <a:pPr lvl="0"/>
            <a:r>
              <a:rPr b="1"/>
              <a:t>Inputs:</a:t>
            </a:r>
            <a:r>
              <a:rPr/>
              <a:t> HRIS, device compliance, certificate status</a:t>
            </a:r>
          </a:p>
          <a:p>
            <a:pPr lvl="0"/>
            <a:r>
              <a:rPr b="1"/>
              <a:t>Outputs:</a:t>
            </a:r>
            <a:r>
              <a:rPr/>
              <a:t> Tokens, claims, identity attributes, assurance signals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Control Plane</a:t>
            </a:r>
          </a:p>
          <a:p>
            <a:pPr lvl="0"/>
            <a:r>
              <a:rPr b="1"/>
              <a:t>Authoritative System:</a:t>
            </a:r>
            <a:r>
              <a:rPr/>
              <a:t> Cisco Catalyst SD-WAN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Routing and path selection</a:t>
            </a:r>
          </a:p>
          <a:p>
            <a:pPr lvl="1"/>
            <a:r>
              <a:rPr/>
              <a:t>Identity-aware segmentation</a:t>
            </a:r>
          </a:p>
          <a:p>
            <a:pPr lvl="1"/>
            <a:r>
              <a:rPr/>
              <a:t>Cloud OnRamp for M365</a:t>
            </a:r>
          </a:p>
          <a:p>
            <a:pPr lvl="1"/>
            <a:r>
              <a:rPr/>
              <a:t>DIA and branch modernization</a:t>
            </a:r>
          </a:p>
          <a:p>
            <a:pPr lvl="1"/>
            <a:r>
              <a:rPr/>
              <a:t>mTLS-anchored overlay enforcement</a:t>
            </a:r>
          </a:p>
          <a:p>
            <a:pPr lvl="0"/>
            <a:r>
              <a:rPr b="1"/>
              <a:t>Inputs:</a:t>
            </a:r>
            <a:r>
              <a:rPr/>
              <a:t> Identity attributes, addressing, telemetry</a:t>
            </a:r>
          </a:p>
          <a:p>
            <a:pPr lvl="0"/>
            <a:r>
              <a:rPr b="1"/>
              <a:t>Outputs:</a:t>
            </a:r>
            <a:r>
              <a:rPr/>
              <a:t> Segmentation decisions, path selection, overlay tunnels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Control Plane</a:t>
            </a:r>
          </a:p>
          <a:p>
            <a:pPr lvl="0"/>
            <a:r>
              <a:rPr b="1"/>
              <a:t>Authoritative System:</a:t>
            </a:r>
            <a:r>
              <a:rPr/>
              <a:t> Infoblox BloxOne IPAM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Deterministic IP assignment</a:t>
            </a:r>
          </a:p>
          <a:p>
            <a:pPr lvl="1"/>
            <a:r>
              <a:rPr/>
              <a:t>DNS/DHCP modernization</a:t>
            </a:r>
          </a:p>
          <a:p>
            <a:pPr lvl="1"/>
            <a:r>
              <a:rPr/>
              <a:t>Cloud/on-prem reconciliation</a:t>
            </a:r>
          </a:p>
          <a:p>
            <a:pPr lvl="1"/>
            <a:r>
              <a:rPr/>
              <a:t>Identity-derived addressing</a:t>
            </a:r>
          </a:p>
          <a:p>
            <a:pPr lvl="1"/>
            <a:r>
              <a:rPr/>
              <a:t>Location inference</a:t>
            </a:r>
          </a:p>
          <a:p>
            <a:pPr lvl="0"/>
            <a:r>
              <a:rPr b="1"/>
              <a:t>Inputs:</a:t>
            </a:r>
            <a:r>
              <a:rPr/>
              <a:t> Identity attributes, network boundaries</a:t>
            </a:r>
          </a:p>
          <a:p>
            <a:pPr lvl="0"/>
            <a:r>
              <a:rPr b="1"/>
              <a:t>Outputs:</a:t>
            </a:r>
            <a:r>
              <a:rPr/>
              <a:t> IP allocations, DNS records, DHCP leases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&amp; Location Control Plane</a:t>
            </a:r>
          </a:p>
          <a:p>
            <a:pPr lvl="0"/>
            <a:r>
              <a:rPr b="1"/>
              <a:t>Authoritative Systems:</a:t>
            </a:r>
            <a:r>
              <a:rPr/>
              <a:t> M365 Network Telemetry, SD-WAN telemetry, Defender/Intune, DNS telemetry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Real-time conversation-level telemetry</a:t>
            </a:r>
          </a:p>
          <a:p>
            <a:pPr lvl="1"/>
            <a:r>
              <a:rPr/>
              <a:t>Location inference (INR, IPAM, SD-WAN)</a:t>
            </a:r>
          </a:p>
          <a:p>
            <a:pPr lvl="1"/>
            <a:r>
              <a:rPr/>
              <a:t>E911 readiness</a:t>
            </a:r>
          </a:p>
          <a:p>
            <a:pPr lvl="1"/>
            <a:r>
              <a:rPr/>
              <a:t>SIEM ingestion</a:t>
            </a:r>
          </a:p>
          <a:p>
            <a:pPr lvl="1"/>
            <a:r>
              <a:rPr/>
              <a:t>Automated control inputs</a:t>
            </a:r>
          </a:p>
          <a:p>
            <a:pPr lvl="0"/>
            <a:r>
              <a:rPr b="1"/>
              <a:t>Inputs:</a:t>
            </a:r>
            <a:r>
              <a:rPr/>
              <a:t> Network flows, identity events, device posture</a:t>
            </a:r>
          </a:p>
          <a:p>
            <a:pPr lvl="0"/>
            <a:r>
              <a:rPr b="1"/>
              <a:t>Outputs:</a:t>
            </a:r>
            <a:r>
              <a:rPr/>
              <a:t> Assurance signals, routing modifiers, compliance indicators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&amp; Compliance Plane</a:t>
            </a:r>
          </a:p>
          <a:p>
            <a:pPr lvl="0"/>
            <a:r>
              <a:rPr b="1"/>
              <a:t>Authoritative Systems:</a:t>
            </a:r>
            <a:r>
              <a:rPr/>
              <a:t> TIC 3.0, Zero Trust, FedRAMP 20x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Zero Trust enforcement</a:t>
            </a:r>
          </a:p>
          <a:p>
            <a:pPr lvl="1"/>
            <a:r>
              <a:rPr/>
              <a:t>FedRAMP 20x telemetry-based validation</a:t>
            </a:r>
          </a:p>
          <a:p>
            <a:pPr lvl="1"/>
            <a:r>
              <a:rPr/>
              <a:t>NIST 800-63 identity governance</a:t>
            </a:r>
          </a:p>
          <a:p>
            <a:pPr lvl="1"/>
            <a:r>
              <a:rPr/>
              <a:t>Policy enforcement across planes</a:t>
            </a:r>
          </a:p>
          <a:p>
            <a:pPr lvl="0"/>
            <a:r>
              <a:rPr b="1"/>
              <a:t>Inputs:</a:t>
            </a:r>
            <a:r>
              <a:rPr/>
              <a:t> Identity, telemetry, addressing, device posture</a:t>
            </a:r>
          </a:p>
          <a:p>
            <a:pPr lvl="0"/>
            <a:r>
              <a:rPr b="1"/>
              <a:t>Outputs:</a:t>
            </a:r>
            <a:r>
              <a:rPr/>
              <a:t> Allow/deny decisions, audit artifacts, compliance posture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Management Plane</a:t>
            </a:r>
          </a:p>
          <a:p>
            <a:pPr lvl="0"/>
            <a:r>
              <a:rPr b="1"/>
              <a:t>Authoritative Systems:</a:t>
            </a:r>
            <a:r>
              <a:rPr/>
              <a:t> ServiceNow, Microsoft Intune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CMDB and asset inventory</a:t>
            </a:r>
          </a:p>
          <a:p>
            <a:pPr lvl="1"/>
            <a:r>
              <a:rPr/>
              <a:t>Drift detection and remediation</a:t>
            </a:r>
          </a:p>
          <a:p>
            <a:pPr lvl="1"/>
            <a:r>
              <a:rPr/>
              <a:t>Device compliance enforcement</a:t>
            </a:r>
          </a:p>
          <a:p>
            <a:pPr lvl="1"/>
            <a:r>
              <a:rPr/>
              <a:t>Change control and incident lifecycle</a:t>
            </a:r>
          </a:p>
          <a:p>
            <a:pPr lvl="1"/>
            <a:r>
              <a:rPr/>
              <a:t>Continuous Authorization (CA-7)</a:t>
            </a:r>
          </a:p>
          <a:p>
            <a:pPr lvl="0"/>
            <a:r>
              <a:rPr b="1"/>
              <a:t>Inputs:</a:t>
            </a:r>
            <a:r>
              <a:rPr/>
              <a:t> Telemetry, configuration baselines, identity lifecycle</a:t>
            </a:r>
          </a:p>
          <a:p>
            <a:pPr lvl="0"/>
            <a:r>
              <a:rPr b="1"/>
              <a:t>Outputs:</a:t>
            </a:r>
            <a:r>
              <a:rPr/>
              <a:t> Governance actions, remediation workflows, audit trails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operates on conversations as the atomic unit.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-342900" marL="342900">
              <a:buAutoNum type="arabicPeriod"/>
            </a:pPr>
            <a:r>
              <a:rPr/>
              <a:t>Identity initiates</a:t>
            </a:r>
          </a:p>
          <a:p>
            <a:pPr lvl="0" indent="-342900" marL="342900">
              <a:buAutoNum type="arabicPeriod"/>
            </a:pPr>
            <a:r>
              <a:rPr/>
              <a:t>Addressing binds</a:t>
            </a:r>
          </a:p>
          <a:p>
            <a:pPr lvl="0" indent="-342900" marL="342900">
              <a:buAutoNum type="arabicPeriod"/>
            </a:pPr>
            <a:r>
              <a:rPr/>
              <a:t>Certificates authenticate</a:t>
            </a:r>
          </a:p>
          <a:p>
            <a:pPr lvl="0" indent="-342900" marL="342900">
              <a:buAutoNum type="arabicPeriod"/>
            </a:pPr>
            <a:r>
              <a:rPr/>
              <a:t>Overlay establishes path</a:t>
            </a:r>
          </a:p>
          <a:p>
            <a:pPr lvl="0" indent="-342900" marL="342900">
              <a:buAutoNum type="arabicPeriod"/>
            </a:pPr>
            <a:r>
              <a:rPr/>
              <a:t>Telemetry validates</a:t>
            </a:r>
          </a:p>
          <a:p>
            <a:pPr lvl="0" indent="-342900" marL="342900">
              <a:buAutoNum type="arabicPeriod"/>
            </a:pPr>
            <a:r>
              <a:rPr/>
              <a:t>Policy evaluates continuously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Determinism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must produce the same decision across clouds, agencies, and implementations.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modifies routing, access, and segmentation decisions in real time.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Alignment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NIST 800-53 Rev 5 Controls</a:t>
            </a:r>
          </a:p>
          <a:p>
            <a:pPr lvl="0" indent="0" marL="0">
              <a:buNone/>
            </a:pPr>
            <a:r>
              <a:rPr/>
              <a:t>Mapped via the canonical crosswalk: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Flow Enforcement (segmentation)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Identification and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Authenticator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Component Inventory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 Confidentiality and Integrity (mTLS)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Monitoring (telemetry)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KSI Categories</a:t>
            </a:r>
          </a:p>
          <a:p>
            <a:pPr lvl="0"/>
            <a:r>
              <a:rPr/>
              <a:t>KSI-IAM</a:t>
            </a:r>
          </a:p>
          <a:p>
            <a:pPr lvl="0"/>
            <a:r>
              <a:rPr/>
              <a:t>KSI-PIY</a:t>
            </a:r>
          </a:p>
          <a:p>
            <a:pPr lvl="0"/>
            <a:r>
              <a:rPr/>
              <a:t>KSI-MLA</a:t>
            </a:r>
          </a:p>
          <a:p>
            <a:pPr lvl="0"/>
            <a:r>
              <a:rPr/>
              <a:t>KSI-SVC</a:t>
            </a:r>
          </a:p>
          <a:p>
            <a:pPr lvl="0"/>
            <a:r>
              <a:rPr/>
              <a:t>KSI-CMT</a:t>
            </a:r>
          </a:p>
          <a:p>
            <a:pPr lvl="0"/>
            <a:r>
              <a:rPr/>
              <a:t>KSI-CNA</a:t>
            </a:r>
          </a:p>
          <a:p>
            <a:pPr lvl="0"/>
            <a:r>
              <a:rPr/>
              <a:t>KSI-CED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</a:t>
            </a:r>
          </a:p>
          <a:p>
            <a:pPr lvl="0"/>
            <a:r>
              <a:rPr/>
              <a:t>HRIS</a:t>
            </a:r>
          </a:p>
          <a:p>
            <a:pPr lvl="0"/>
            <a:r>
              <a:rPr/>
              <a:t>PKI</a:t>
            </a:r>
          </a:p>
          <a:p>
            <a:pPr lvl="0"/>
            <a:r>
              <a:rPr/>
              <a:t>CMDB</a:t>
            </a:r>
          </a:p>
          <a:p>
            <a:pPr lvl="0"/>
            <a:r>
              <a:rPr/>
              <a:t>Network underlay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</a:t>
            </a:r>
          </a:p>
          <a:p>
            <a:pPr lvl="0"/>
            <a:r>
              <a:rPr/>
              <a:t>Project plans (A-D)</a:t>
            </a:r>
          </a:p>
          <a:p>
            <a:pPr lvl="0"/>
            <a:r>
              <a:rPr/>
              <a:t>Modernization timeline</a:t>
            </a:r>
          </a:p>
          <a:p>
            <a:pPr lvl="0"/>
            <a:r>
              <a:rPr/>
              <a:t>FedRAMP crosswalk</a:t>
            </a:r>
          </a:p>
          <a:p>
            <a:pPr lvl="0"/>
            <a:r>
              <a:rPr/>
              <a:t>Leadership briefing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of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(human identity), Network architecture (addressing), System owners (configuration), PKI (credential trust)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ServiceNow CMDB reconciliation, Intune compliance, SD-WAN overlay validation, IPAM reconciliation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Remediation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ServiceNow change, Conditional Access enforcement, Certificate renewal, IPAM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Anchors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 logs, Infoblox API records, SD-WAN telemetry, Intune compliance reports, ServiceNow audit trails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summary tables are embedded in Section 4 and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and </a:t>
            </a:r>
            <a:r>
              <a:rPr i="1">
                <a:latin typeface="Courier"/>
              </a:rPr>
              <a:t>docs/fedramp22_summary_v1.0.md</a:t>
            </a:r>
            <a:r>
              <a:rPr i="1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Controlplanearchitecture</dc:title>
  <dc:creator>UIAO Modernization Program</dc:creator>
  <cp:keywords/>
  <dcterms:created xsi:type="dcterms:W3CDTF">2026-03-31T17:09:48Z</dcterms:created>
  <dcterms:modified xsi:type="dcterms:W3CDTF">2026-03-31T17:09:48Z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