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02 Canonspecification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Unified Identity-Addressing-Overlay Architecture (UIAO)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Canon Specification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Plane(s)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Canon Volume (01_Canon)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the UIAO Canon — the doctrinal, architectural, and operational framework that explains why federal IT is structurally frozen and what must change to achieve a modern, identity-driven, telemetry-informed enterprise. It establishes the modernization canon, the source-of-authority domains, the runtime model, and the conditions required for deterministic, cross-agency interoperability.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Canon thesis and modernization rationale</a:t>
            </a:r>
          </a:p>
          <a:p>
            <a:pPr lvl="0"/>
            <a:r>
              <a:rPr/>
              <a:t>Structural constraints of federal IT</a:t>
            </a:r>
          </a:p>
          <a:p>
            <a:pPr lvl="0"/>
            <a:r>
              <a:rPr/>
              <a:t>The 17-Point Modernization Canon</a:t>
            </a:r>
          </a:p>
          <a:p>
            <a:pPr lvl="0"/>
            <a:r>
              <a:rPr/>
              <a:t>Source-of-Authority domains</a:t>
            </a:r>
          </a:p>
          <a:p>
            <a:pPr lvl="0"/>
            <a:r>
              <a:rPr/>
              <a:t>Runtime model and determinism</a:t>
            </a:r>
          </a:p>
          <a:p>
            <a:pPr lvl="0"/>
            <a:r>
              <a:rPr/>
              <a:t>Identity fragmentation analysis</a:t>
            </a:r>
          </a:p>
          <a:p>
            <a:pPr lvl="0"/>
            <a:r>
              <a:rPr/>
              <a:t>Compliance drivers and cost of inaction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Plane-specific architecture (see </a:t>
            </a:r>
            <a:r>
              <a:rPr>
                <a:latin typeface="Courier"/>
              </a:rPr>
              <a:t>00_ControlPlaneArchitecture.md</a:t>
            </a:r>
            <a:r>
              <a:rPr/>
              <a:t>)</a:t>
            </a:r>
          </a:p>
          <a:p>
            <a:pPr lvl="0"/>
            <a:r>
              <a:rPr/>
              <a:t>Unified architecture model (see </a:t>
            </a:r>
            <a:r>
              <a:rPr>
                <a:latin typeface="Courier"/>
              </a:rPr>
              <a:t>01_UnifiedArchitecture.md</a:t>
            </a:r>
            <a:r>
              <a:rPr/>
              <a:t>)</a:t>
            </a:r>
          </a:p>
          <a:p>
            <a:pPr lvl="0"/>
            <a:r>
              <a:rPr/>
              <a:t>Project plans and timelines</a:t>
            </a:r>
          </a:p>
          <a:p>
            <a:pPr lvl="0"/>
            <a:r>
              <a:rPr/>
              <a:t>Vendor-specific implementation details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canon governs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Canonical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Root namespace and assurance engine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Transport, segmentation, and overlay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 and DNS/DHCP authority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&amp;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Truth source for runtime decisions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&amp;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Zero Trust enforcement and FedRAMP alignment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Governance, drift detection, and continuous authorization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canon defines the principles that govern these planes.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canon is anchored in the Seven Core Concepts, which define the philosophical and operational foundation of UIAO:</a:t>
            </a:r>
          </a:p>
          <a:p>
            <a:pPr lvl="0" indent="-342900" marL="342900">
              <a:buAutoNum type="arabicPeriod"/>
            </a:pPr>
            <a:r>
              <a:rPr/>
              <a:t>Conversation as the atomic unit</a:t>
            </a:r>
          </a:p>
          <a:p>
            <a:pPr lvl="0" indent="-342900" marL="342900">
              <a:buAutoNum type="arabicPeriod"/>
            </a:pPr>
            <a:r>
              <a:rPr/>
              <a:t>Identity as the root namespace</a:t>
            </a:r>
          </a:p>
          <a:p>
            <a:pPr lvl="0" indent="-342900" marL="342900">
              <a:buAutoNum type="arabicPeriod"/>
            </a:pPr>
            <a:r>
              <a:rPr/>
              <a:t>Deterministic addressing</a:t>
            </a:r>
          </a:p>
          <a:p>
            <a:pPr lvl="0" indent="-342900" marL="342900">
              <a:buAutoNum type="arabicPeriod"/>
            </a:pPr>
            <a:r>
              <a:rPr/>
              <a:t>Certificate-anchored overlay</a:t>
            </a:r>
          </a:p>
          <a:p>
            <a:pPr lvl="0" indent="-342900" marL="342900">
              <a:buAutoNum type="arabicPeriod"/>
            </a:pPr>
            <a:r>
              <a:rPr/>
              <a:t>Telemetry as control</a:t>
            </a:r>
          </a:p>
          <a:p>
            <a:pPr lvl="0" indent="-342900" marL="342900">
              <a:buAutoNum type="arabicPeriod"/>
            </a:pPr>
            <a:r>
              <a:rPr/>
              <a:t>Embedded governance &amp; automation</a:t>
            </a:r>
          </a:p>
          <a:p>
            <a:pPr lvl="0" indent="-342900" marL="342900">
              <a:buAutoNum type="arabicPeriod"/>
            </a:pPr>
            <a:r>
              <a:rPr/>
              <a:t>Public service first</a:t>
            </a:r>
          </a:p>
          <a:p>
            <a:pPr lvl="0" indent="0" marL="0">
              <a:buNone/>
            </a:pPr>
            <a:r>
              <a:rPr/>
              <a:t>These concepts are frozen and must appear identically across all UIAO documents.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Core Thesis</a:t>
            </a:r>
          </a:p>
          <a:p>
            <a:pPr lvl="0" indent="0" marL="0">
              <a:buNone/>
            </a:pPr>
            <a:r>
              <a:rPr/>
              <a:t>Federal IT is structurally frozen at the Client/Server L2-L4 perimeter era.</a:t>
            </a:r>
          </a:p>
          <a:p>
            <a:pPr lvl="0" indent="0" marL="0">
              <a:buNone/>
            </a:pPr>
            <a:r>
              <a:rPr/>
              <a:t>Identity-forward modernization — where identity becomes the root namespace and primary security perimeter — is the only viable path forward.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Why Incremental Patching Fails</a:t>
            </a:r>
          </a:p>
          <a:p>
            <a:pPr lvl="0" indent="0" marL="0">
              <a:buNone/>
            </a:pPr>
            <a:r>
              <a:rPr/>
              <a:t>Federal environments are constrained by five systemic failures: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Problem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Frozen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Required State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inverted-identity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Authenticate once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 identity signal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backwards-trust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Inside = trusted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Trust nothing, verify everything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disconnected-telemetry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Siloed logs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Conversation-level correlation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manual-governance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Human review cycles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Automated enforcement at machine speed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no-data-control-plane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Perimeter-based data protection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Data-level controls that travel with data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Incremental patching cannot overcome these structural constraints.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6.3 The 17-Point Modernization Canon</a:t>
            </a:r>
          </a:p>
          <a:p>
            <a:pPr lvl="0" indent="0" marL="0">
              <a:buNone/>
            </a:pPr>
            <a:r>
              <a:rPr/>
              <a:t>The canon is organized into three tiers: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Tier 1 — Historical Foundations</a:t>
            </a:r>
          </a:p>
          <a:p>
            <a:pPr lvl="0" indent="-342900" marL="342900">
              <a:buAutoNum type="arabicPeriod"/>
            </a:pPr>
            <a:r>
              <a:rPr/>
              <a:t>Evolution of compute, networking, and cybersecurity</a:t>
            </a:r>
          </a:p>
          <a:p>
            <a:pPr lvl="0" indent="-342900" marL="342900">
              <a:buAutoNum type="arabicPeriod"/>
            </a:pPr>
            <a:r>
              <a:rPr/>
              <a:t>Federal freeze points</a:t>
            </a:r>
          </a:p>
          <a:p>
            <a:pPr lvl="0" indent="-342900" marL="342900">
              <a:buAutoNum type="arabicPeriod"/>
            </a:pPr>
            <a:r>
              <a:rPr/>
              <a:t>Legacy perimeter architectures</a:t>
            </a:r>
          </a:p>
          <a:p>
            <a:pPr lvl="0" indent="-342900" marL="342900">
              <a:buAutoNum type="arabicPeriod"/>
            </a:pPr>
            <a:r>
              <a:rPr/>
              <a:t>Fragmented identity regimes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Tier 2 — Structural Constraints</a:t>
            </a:r>
          </a:p>
          <a:p>
            <a:pPr lvl="0" indent="-342900" marL="342900">
              <a:buAutoNum startAt="5" type="arabicPeriod"/>
            </a:pPr>
            <a:r>
              <a:rPr/>
              <a:t>Bureaucratic overlays</a:t>
            </a:r>
          </a:p>
          <a:p>
            <a:pPr lvl="0" indent="-342900" marL="342900">
              <a:buAutoNum startAt="5" type="arabicPeriod"/>
            </a:pPr>
            <a:r>
              <a:rPr/>
              <a:t>Funding model mismatches</a:t>
            </a:r>
          </a:p>
          <a:p>
            <a:pPr lvl="0" indent="-342900" marL="342900">
              <a:buAutoNum startAt="5" type="arabicPeriod"/>
            </a:pPr>
            <a:r>
              <a:rPr/>
              <a:t>L2-L4 vs L5-L7 architectural gaps</a:t>
            </a:r>
          </a:p>
          <a:p>
            <a:pPr lvl="0" indent="-342900" marL="342900">
              <a:buAutoNum startAt="5" type="arabicPeriod"/>
            </a:pPr>
            <a:r>
              <a:rPr/>
              <a:t>Siloed governance and telemetry</a:t>
            </a:r>
          </a:p>
          <a:p>
            <a:pPr lvl="0" indent="-342900" marL="342900">
              <a:buAutoNum startAt="5" type="arabicPeriod"/>
            </a:pPr>
            <a:r>
              <a:rPr/>
              <a:t>Source-of-truth fragmentation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Tier 3 — Modern Requirements</a:t>
            </a:r>
          </a:p>
          <a:p>
            <a:pPr lvl="0" indent="-342900" marL="342900">
              <a:buAutoNum startAt="10" type="arabicPeriod"/>
            </a:pPr>
            <a:r>
              <a:rPr/>
              <a:t>Telemetry and location as mandatory inputs</a:t>
            </a:r>
          </a:p>
          <a:p>
            <a:pPr lvl="0" indent="-342900" marL="342900">
              <a:buAutoNum startAt="10" type="arabicPeriod"/>
            </a:pPr>
            <a:r>
              <a:rPr/>
              <a:t>Identity as the root namespace</a:t>
            </a:r>
          </a:p>
          <a:p>
            <a:pPr lvl="0" indent="-342900" marL="342900">
              <a:buAutoNum startAt="10" type="arabicPeriod"/>
            </a:pPr>
            <a:r>
              <a:rPr/>
              <a:t>Deterministic addressing</a:t>
            </a:r>
          </a:p>
          <a:p>
            <a:pPr lvl="0" indent="-342900" marL="342900">
              <a:buAutoNum startAt="10" type="arabicPeriod"/>
            </a:pPr>
            <a:r>
              <a:rPr/>
              <a:t>Certificate-anchored overlays</a:t>
            </a:r>
          </a:p>
          <a:p>
            <a:pPr lvl="0" indent="-342900" marL="342900">
              <a:buAutoNum startAt="10" type="arabicPeriod"/>
            </a:pPr>
            <a:r>
              <a:rPr/>
              <a:t>AI-assisted correlation</a:t>
            </a:r>
          </a:p>
          <a:p>
            <a:pPr lvl="0" indent="-342900" marL="342900">
              <a:buAutoNum startAt="10" type="arabicPeriod"/>
            </a:pPr>
            <a:r>
              <a:rPr/>
              <a:t>Inter-agency truth fabric</a:t>
            </a:r>
          </a:p>
          <a:p>
            <a:pPr lvl="0" indent="-342900" marL="342900">
              <a:buAutoNum startAt="10" type="arabicPeriod"/>
            </a:pPr>
            <a:r>
              <a:rPr/>
              <a:t>Data as perimeter</a:t>
            </a:r>
          </a:p>
          <a:p>
            <a:pPr lvl="0" indent="-342900" marL="342900">
              <a:buAutoNum startAt="10" type="arabicPeriod"/>
            </a:pPr>
            <a:r>
              <a:rPr/>
              <a:t>Modernized risk models</a:t>
            </a:r>
          </a:p>
          <a:p>
            <a:pPr lvl="0" indent="0" marL="0">
              <a:buNone/>
            </a:pPr>
            <a:r>
              <a:rPr/>
              <a:t>These 17 points form the doctrinal spine of UIAO.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 operates on conversations as the atomic unit of runtime behavior.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 Flow</a:t>
            </a:r>
          </a:p>
          <a:p>
            <a:pPr lvl="0" indent="-342900" marL="342900">
              <a:buAutoNum type="arabicPeriod"/>
            </a:pPr>
            <a:r>
              <a:rPr/>
              <a:t>Identity initiates</a:t>
            </a:r>
          </a:p>
          <a:p>
            <a:pPr lvl="0" indent="-342900" marL="342900">
              <a:buAutoNum type="arabicPeriod"/>
            </a:pPr>
            <a:r>
              <a:rPr/>
              <a:t>Addressing binds</a:t>
            </a:r>
          </a:p>
          <a:p>
            <a:pPr lvl="0" indent="-342900" marL="342900">
              <a:buAutoNum type="arabicPeriod"/>
            </a:pPr>
            <a:r>
              <a:rPr/>
              <a:t>Certificates authenticate</a:t>
            </a:r>
          </a:p>
          <a:p>
            <a:pPr lvl="0" indent="-342900" marL="342900">
              <a:buAutoNum type="arabicPeriod"/>
            </a:pPr>
            <a:r>
              <a:rPr/>
              <a:t>Overlay establishes path</a:t>
            </a:r>
          </a:p>
          <a:p>
            <a:pPr lvl="0" indent="-342900" marL="342900">
              <a:buAutoNum type="arabicPeriod"/>
            </a:pPr>
            <a:r>
              <a:rPr/>
              <a:t>Telemetry validates</a:t>
            </a:r>
          </a:p>
          <a:p>
            <a:pPr lvl="0" indent="-342900" marL="342900">
              <a:buAutoNum type="arabicPeriod"/>
            </a:pPr>
            <a:r>
              <a:rPr/>
              <a:t>Policy evaluates continuously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Determinism</a:t>
            </a:r>
          </a:p>
          <a:p>
            <a:pPr lvl="0" indent="0" marL="0">
              <a:buNone/>
            </a:pPr>
            <a:r>
              <a:rPr/>
              <a:t>Given identical identity, boundary, telemetry, and assurance inputs, the system must produce the same decision across:</a:t>
            </a:r>
          </a:p>
          <a:p>
            <a:pPr lvl="0"/>
            <a:r>
              <a:rPr/>
              <a:t>Clouds</a:t>
            </a:r>
          </a:p>
          <a:p>
            <a:pPr lvl="0"/>
            <a:r>
              <a:rPr/>
              <a:t>Agencies</a:t>
            </a:r>
          </a:p>
          <a:p>
            <a:pPr lvl="0"/>
            <a:r>
              <a:rPr/>
              <a:t>Implementations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Telemetry modifies routing, access, and segmentation decisions in real time.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7.4 Assurance Signals</a:t>
            </a:r>
          </a:p>
          <a:p>
            <a:pPr lvl="0"/>
            <a:r>
              <a:rPr/>
              <a:t>Identity assurance</a:t>
            </a:r>
          </a:p>
          <a:p>
            <a:pPr lvl="0"/>
            <a:r>
              <a:rPr/>
              <a:t>Device posture</a:t>
            </a:r>
          </a:p>
          <a:p>
            <a:pPr lvl="0"/>
            <a:r>
              <a:rPr/>
              <a:t>Path quality</a:t>
            </a:r>
          </a:p>
          <a:p>
            <a:pPr lvl="0"/>
            <a:r>
              <a:rPr/>
              <a:t>Location inference</a:t>
            </a:r>
          </a:p>
          <a:p>
            <a:pPr lvl="0"/>
            <a:r>
              <a:rPr/>
              <a:t>Certificate validity</a:t>
            </a:r>
          </a:p>
          <a:p>
            <a:pPr lvl="0" indent="0" marL="0">
              <a:buNone/>
            </a:pPr>
            <a:r>
              <a:rPr/>
              <a:t>These signals drive continuous policy evaluation.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8.1 FedRAMP 20x Alignment</a:t>
            </a:r>
          </a:p>
          <a:p>
            <a:pPr lvl="0" indent="0" marL="0">
              <a:buNone/>
            </a:pPr>
            <a:r>
              <a:rPr/>
              <a:t>The canon supports:</a:t>
            </a:r>
          </a:p>
          <a:p>
            <a:pPr lvl="0"/>
            <a:r>
              <a:rPr/>
              <a:t>Class C (Moderate)</a:t>
            </a:r>
          </a:p>
          <a:p>
            <a:pPr lvl="0"/>
            <a:r>
              <a:rPr/>
              <a:t>Telemetry-based validation</a:t>
            </a:r>
          </a:p>
          <a:p>
            <a:pPr lvl="0"/>
            <a:r>
              <a:rPr/>
              <a:t>OSCAL machine-readability</a:t>
            </a:r>
          </a:p>
          <a:p>
            <a:pPr lvl="0"/>
            <a:r>
              <a:rPr/>
              <a:t>Automated evidence generation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8.2 NIST 800-53 Rev 5 Controls</a:t>
            </a:r>
          </a:p>
          <a:p>
            <a:pPr lvl="0" indent="0" marL="0">
              <a:buNone/>
            </a:pPr>
            <a:r>
              <a:rPr/>
              <a:t>Mapped via the canonical crosswalk: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Name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Flow Enforcement (segmentation)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Identification and Authentication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Authenticator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Component Inventory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Transmission Confidentiality and Integrity (mTLS)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CA-7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 Monitoring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Monitoring (telemetry)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8.3 KSI Categories</a:t>
            </a:r>
          </a:p>
          <a:p>
            <a:pPr lvl="0"/>
            <a:r>
              <a:rPr/>
              <a:t>KSI-IAM</a:t>
            </a:r>
          </a:p>
          <a:p>
            <a:pPr lvl="0"/>
            <a:r>
              <a:rPr/>
              <a:t>KSI-PIY</a:t>
            </a:r>
          </a:p>
          <a:p>
            <a:pPr lvl="0"/>
            <a:r>
              <a:rPr/>
              <a:t>KSI-MLA</a:t>
            </a:r>
          </a:p>
          <a:p>
            <a:pPr lvl="0"/>
            <a:r>
              <a:rPr/>
              <a:t>KSI-SVC</a:t>
            </a:r>
          </a:p>
          <a:p>
            <a:pPr lvl="0"/>
            <a:r>
              <a:rPr/>
              <a:t>KSI-CMT</a:t>
            </a:r>
          </a:p>
          <a:p>
            <a:pPr lvl="0"/>
            <a:r>
              <a:rPr/>
              <a:t>KSI-CNA</a:t>
            </a:r>
          </a:p>
          <a:p>
            <a:pPr lvl="0"/>
            <a:r>
              <a:rPr/>
              <a:t>KSI-CED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&amp;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HRIS</a:t>
            </a:r>
          </a:p>
          <a:p>
            <a:pPr lvl="0"/>
            <a:r>
              <a:rPr/>
              <a:t>PKI</a:t>
            </a:r>
          </a:p>
          <a:p>
            <a:pPr lvl="0"/>
            <a:r>
              <a:rPr/>
              <a:t>CMDB</a:t>
            </a:r>
          </a:p>
          <a:p>
            <a:pPr lvl="0"/>
            <a:r>
              <a:rPr/>
              <a:t>Network underlay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All architecture specs</a:t>
            </a:r>
          </a:p>
          <a:p>
            <a:pPr lvl="0"/>
            <a:r>
              <a:rPr/>
              <a:t>All project plans</a:t>
            </a:r>
          </a:p>
          <a:p>
            <a:pPr lvl="0"/>
            <a:r>
              <a:rPr/>
              <a:t>All modernization appendices</a:t>
            </a:r>
          </a:p>
          <a:p>
            <a:pPr lvl="0"/>
            <a:r>
              <a:rPr/>
              <a:t>FedRAMP crosswalk</a:t>
            </a:r>
          </a:p>
          <a:p>
            <a:pPr lvl="0"/>
            <a:r>
              <a:rPr/>
              <a:t>Leadership briefing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Timeline Alignment</a:t>
            </a:r>
          </a:p>
          <a:p>
            <a:pPr lvl="0" indent="0" marL="0">
              <a:buNone/>
            </a:pPr>
            <a:r>
              <a:rPr/>
              <a:t>The canon informs all phases of the modernization timeline.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10. Governance &amp; Drift Controls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 Domains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Target System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human-identity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non-person-entities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 owners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&amp; asset systems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contractor-identity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Contracting authority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citizen-identity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Citizen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Federated identity providers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ip-addressing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architecture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IPAM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assets-configuration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System owners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CMDB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data-classification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owners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Policy engines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physical-location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 property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partner-authority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Shared authorities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Federation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credential-trust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Federal PKI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Certificate authorities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domains define who may create, modify, or revoke data.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ServiceNow 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Audit Anchors</a:t>
            </a:r>
          </a:p>
          <a:p>
            <a:pPr lvl="0"/>
            <a:r>
              <a:rPr/>
              <a:t>Entra ID logs</a:t>
            </a:r>
          </a:p>
          <a:p>
            <a:pPr lvl="0"/>
            <a:r>
              <a:rPr/>
              <a:t>Infoblox API records</a:t>
            </a:r>
          </a:p>
          <a:p>
            <a:pPr lvl="0"/>
            <a:r>
              <a:rPr/>
              <a:t>SD-WAN telemetry</a:t>
            </a:r>
          </a:p>
          <a:p>
            <a:pPr lvl="0"/>
            <a:r>
              <a:rPr/>
              <a:t>Intune compliance reports</a:t>
            </a:r>
          </a:p>
          <a:p>
            <a:pPr lvl="0"/>
            <a:r>
              <a:rPr/>
              <a:t>ServiceNow audit trails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Systemic failures table is in Section 6.2. Source of Authority Domains table is in Section 10.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Crosswalk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data/crosswalk-index.yml</a:t>
            </a:r>
            <a:r>
              <a:rPr i="1"/>
              <a:t> and </a:t>
            </a:r>
            <a:r>
              <a:rPr i="1">
                <a:latin typeface="Courier"/>
              </a:rPr>
              <a:t>docs/fedramp22_summary_v1.0.md</a:t>
            </a:r>
            <a:r>
              <a:rPr i="1"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E: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of Changes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02 Canonspecification</dc:title>
  <dc:creator>UIAO Modernization Program</dc:creator>
  <cp:keywords/>
  <dcterms:created xsi:type="dcterms:W3CDTF">2026-03-31T17:37:23Z</dcterms:created>
  <dcterms:modified xsi:type="dcterms:W3CDTF">2026-03-31T17:37:23Z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