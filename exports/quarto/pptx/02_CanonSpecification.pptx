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0_CorePrinciples.md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02 Canonspecification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3,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Canon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Volume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UIAO Canon — the doctrinal, architectural, and operational framework that explains why federal IT is structurally frozen and what must change to achieve a modern, identity-driven, telemetry-informed enterprise. It establishes the modernization canon, the source-of-authority domains, the runtime model, and the conditions required for deterministic, cross-agency interoperability.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 thesis and modernization rationale</a:t>
            </a:r>
          </a:p>
          <a:p>
            <a:pPr lvl="0"/>
            <a:r>
              <a:rPr/>
              <a:t>Structural constraints of federal IT</a:t>
            </a:r>
          </a:p>
          <a:p>
            <a:pPr lvl="0"/>
            <a:r>
              <a:rPr/>
              <a:t>The 17-Point Modernization Canon</a:t>
            </a:r>
          </a:p>
          <a:p>
            <a:pPr lvl="0"/>
            <a:r>
              <a:rPr/>
              <a:t>Source-of-Authority domains</a:t>
            </a:r>
          </a:p>
          <a:p>
            <a:pPr lvl="0"/>
            <a:r>
              <a:rPr/>
              <a:t>Runtime model and determinism</a:t>
            </a:r>
          </a:p>
          <a:p>
            <a:pPr lvl="0"/>
            <a:r>
              <a:rPr/>
              <a:t>Identity fragmentation analysis</a:t>
            </a:r>
          </a:p>
          <a:p>
            <a:pPr lvl="0"/>
            <a:r>
              <a:rPr/>
              <a:t>Compliance drivers and cost of inaction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Plane-specific architecture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Unified architecture model (see </a:t>
            </a:r>
            <a:r>
              <a:rPr>
                <a:latin typeface="Courier"/>
              </a:rPr>
              <a:t>01_UnifiedArchitecture.md</a:t>
            </a:r>
            <a:r>
              <a:rPr/>
              <a:t>)</a:t>
            </a:r>
          </a:p>
          <a:p>
            <a:pPr lvl="0"/>
            <a:r>
              <a:rPr/>
              <a:t>Project plans and timelines</a:t>
            </a:r>
          </a:p>
          <a:p>
            <a:pPr lvl="0"/>
            <a:r>
              <a:rPr/>
              <a:t>Vendor-specific implementation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governs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Transport, segmentation, and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Truth source for runtime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defines the principles that govern these planes.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eight core principles governing UIAO are defined in a single source-of-truth document:</a:t>
            </a:r>
          </a:p>
          <a:p>
            <a:pPr lvl="0" indent="0" marL="1270000">
              <a:buNone/>
            </a:pPr>
            <a:r>
              <a:rPr sz="2000" b="1"/>
              <a:t>Canonical reference:</a:t>
            </a:r>
            <a:r>
              <a:rPr sz="2000"/>
              <a:t> </a:t>
            </a:r>
            <a:r>
              <a:rPr sz="2000">
                <a:hlinkClick r:id="rId2"/>
              </a:rPr>
              <a:t>00_CorePrinciples.md</a:t>
            </a:r>
          </a:p>
          <a:p>
            <a:pPr lvl="0" indent="0" marL="0">
              <a:buNone/>
            </a:pPr>
            <a:r>
              <a:rPr/>
              <a:t>All UIAO documents MUST reference that file rather than duplicating principle text. Any expansion, amendment, or reordering of the principles MUST occur in </a:t>
            </a:r>
            <a:r>
              <a:rPr>
                <a:latin typeface="Courier"/>
              </a:rPr>
              <a:t>00_CorePrinciples.md</a:t>
            </a:r>
            <a:r>
              <a:rPr/>
              <a:t> first; downstream documents inherit by pointer.</a:t>
            </a:r>
          </a:p>
          <a:p>
            <a:pPr lvl="0" indent="0" marL="0">
              <a:buNone/>
            </a:pPr>
            <a:r>
              <a:rPr/>
              <a:t>For quick orientation the eight principles are:</a:t>
            </a:r>
          </a:p>
          <a:p>
            <a:pPr lvl="0" indent="-342900" marL="342900">
              <a:buAutoNum type="arabicPeriod"/>
            </a:pPr>
            <a:r>
              <a:rPr/>
              <a:t>Single Source of Truth (SSOT)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See </a:t>
            </a:r>
            <a:r>
              <a:rPr>
                <a:latin typeface="Courier"/>
              </a:rPr>
              <a:t>00_CorePrinciples.md</a:t>
            </a:r>
            <a:r>
              <a:rPr/>
              <a:t> for full definitions, rationale, and compliance anchors.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Core Thesis</a:t>
            </a:r>
          </a:p>
          <a:p>
            <a:pPr lvl="0" indent="0" marL="0">
              <a:buNone/>
            </a:pPr>
            <a:r>
              <a:rPr/>
              <a:t>Federal IT is structurally frozen at the Client/Server L2-L4 perimeter era.</a:t>
            </a:r>
          </a:p>
          <a:p>
            <a:pPr lvl="0" indent="0" marL="0">
              <a:buNone/>
            </a:pPr>
            <a:r>
              <a:rPr/>
              <a:t>Identity-forward modernization — where identity becomes the root namespace and primary security perimeter — is the only viable path forward.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Why Incremental Patching Fails</a:t>
            </a:r>
          </a:p>
          <a:p>
            <a:pPr lvl="0" indent="0" marL="0">
              <a:buNone/>
            </a:pPr>
            <a:r>
              <a:rPr/>
              <a:t>Federal environments are constrained by five systemic failures: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inverted-identity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Authenticate once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identity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backwards-trust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Inside = trusted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Trust nothing, verify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disconnected-telemetry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manual-governance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review cycles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 at machine speed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no-data-control-plane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Perimeter-based 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Data-level controls that travel with data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Incremental patching cannot overcome these structural constraints.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The 17-Point Modernization Canon</a:t>
            </a:r>
          </a:p>
          <a:p>
            <a:pPr lvl="0" indent="0" marL="0">
              <a:buNone/>
            </a:pPr>
            <a:r>
              <a:rPr/>
              <a:t>The canon is organized into three tiers: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1 — Historical Foundations</a:t>
            </a:r>
          </a:p>
          <a:p>
            <a:pPr lvl="0" indent="-342900" marL="342900">
              <a:buAutoNum type="arabicPeriod"/>
            </a:pPr>
            <a:r>
              <a:rPr/>
              <a:t>Evolution of compute, networking, and cybersecurity</a:t>
            </a:r>
          </a:p>
          <a:p>
            <a:pPr lvl="0" indent="-342900" marL="342900">
              <a:buAutoNum type="arabicPeriod"/>
            </a:pPr>
            <a:r>
              <a:rPr/>
              <a:t>Federal freeze points</a:t>
            </a:r>
          </a:p>
          <a:p>
            <a:pPr lvl="0" indent="-342900" marL="342900">
              <a:buAutoNum type="arabicPeriod"/>
            </a:pPr>
            <a:r>
              <a:rPr/>
              <a:t>Legacy perimeter architectures</a:t>
            </a:r>
          </a:p>
          <a:p>
            <a:pPr lvl="0" indent="-342900" marL="342900">
              <a:buAutoNum type="arabicPeriod"/>
            </a:pPr>
            <a:r>
              <a:rPr/>
              <a:t>Fragmented identity regimes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2 — Structural Constraints</a:t>
            </a:r>
          </a:p>
          <a:p>
            <a:pPr lvl="0" indent="-342900" marL="342900">
              <a:buAutoNum startAt="5" type="arabicPeriod"/>
            </a:pPr>
            <a:r>
              <a:rPr/>
              <a:t>Bureaucratic overlays</a:t>
            </a:r>
          </a:p>
          <a:p>
            <a:pPr lvl="0" indent="-342900" marL="342900">
              <a:buAutoNum startAt="5" type="arabicPeriod"/>
            </a:pPr>
            <a:r>
              <a:rPr/>
              <a:t>Funding model mismatches</a:t>
            </a:r>
          </a:p>
          <a:p>
            <a:pPr lvl="0" indent="-342900" marL="342900">
              <a:buAutoNum startAt="5" type="arabicPeriod"/>
            </a:pPr>
            <a:r>
              <a:rPr/>
              <a:t>L2-L4 vs L5-L7 architectural gaps</a:t>
            </a:r>
          </a:p>
          <a:p>
            <a:pPr lvl="0" indent="-342900" marL="342900">
              <a:buAutoNum startAt="5" type="arabicPeriod"/>
            </a:pPr>
            <a:r>
              <a:rPr/>
              <a:t>Siloed governance and telemetry</a:t>
            </a:r>
          </a:p>
          <a:p>
            <a:pPr lvl="0" indent="-342900" marL="342900">
              <a:buAutoNum startAt="5" type="arabicPeriod"/>
            </a:pPr>
            <a:r>
              <a:rPr/>
              <a:t>Source-of-truth fragmentation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3 — Modern Requirements</a:t>
            </a:r>
          </a:p>
          <a:p>
            <a:pPr lvl="0" indent="-342900" marL="342900">
              <a:buAutoNum startAt="10" type="arabicPeriod"/>
            </a:pPr>
            <a:r>
              <a:rPr/>
              <a:t>Telemetry and location as mandatory inputs</a:t>
            </a:r>
          </a:p>
          <a:p>
            <a:pPr lvl="0" indent="-342900" marL="342900">
              <a:buAutoNum startAt="10" type="arabicPeriod"/>
            </a:pPr>
            <a:r>
              <a:rPr/>
              <a:t>Identity as the root namespace</a:t>
            </a:r>
          </a:p>
          <a:p>
            <a:pPr lvl="0" indent="-342900" marL="342900">
              <a:buAutoNum startAt="10" type="arabicPeriod"/>
            </a:pPr>
            <a:r>
              <a:rPr/>
              <a:t>Deterministic addressing</a:t>
            </a:r>
          </a:p>
          <a:p>
            <a:pPr lvl="0" indent="-342900" marL="342900">
              <a:buAutoNum startAt="10" type="arabicPeriod"/>
            </a:pPr>
            <a:r>
              <a:rPr/>
              <a:t>Certificate-anchored overlays</a:t>
            </a:r>
          </a:p>
          <a:p>
            <a:pPr lvl="0" indent="-342900" marL="342900">
              <a:buAutoNum startAt="10" type="arabicPeriod"/>
            </a:pPr>
            <a:r>
              <a:rPr/>
              <a:t>AI-assisted correlation</a:t>
            </a:r>
          </a:p>
          <a:p>
            <a:pPr lvl="0" indent="-342900" marL="342900">
              <a:buAutoNum startAt="10" type="arabicPeriod"/>
            </a:pPr>
            <a:r>
              <a:rPr/>
              <a:t>Inter-agency truth fabric</a:t>
            </a:r>
          </a:p>
          <a:p>
            <a:pPr lvl="0" indent="-342900" marL="342900">
              <a:buAutoNum startAt="10" type="arabicPeriod"/>
            </a:pPr>
            <a:r>
              <a:rPr/>
              <a:t>Data as perimeter</a:t>
            </a:r>
          </a:p>
          <a:p>
            <a:pPr lvl="0" indent="-342900" marL="342900">
              <a:buAutoNum startAt="10" type="arabicPeriod"/>
            </a:pPr>
            <a:r>
              <a:rPr/>
              <a:t>Modernized risk models</a:t>
            </a:r>
          </a:p>
          <a:p>
            <a:pPr lvl="0" indent="0" marL="0">
              <a:buNone/>
            </a:pPr>
            <a:r>
              <a:rPr/>
              <a:t>These 17 points form the doctrinal spine of UIAO.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canon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All architecture specs</a:t>
            </a:r>
          </a:p>
          <a:p>
            <a:pPr lvl="0"/>
            <a:r>
              <a:rPr/>
              <a:t>All project plans</a:t>
            </a:r>
          </a:p>
          <a:p>
            <a:pPr lvl="0"/>
            <a:r>
              <a:rPr/>
              <a:t>All modernization appendices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canon informs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 Domains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System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non-person-entities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asset systems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contractor-identity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Contracting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Federated identity providers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ip-addressing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assets-configuration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Policy engines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physical-location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property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partner-authority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Shared authorities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credential-trust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Federal PKI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authorities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domains define who may create, modify, or revoke data.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Systemic failures table is in Section 6.2. Source of Authority Domains table is in Section 10.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 Canonspecification</dc:title>
  <dc:creator>UIAO Modernization Program</dc:creator>
  <cp:keywords/>
  <dcterms:created xsi:type="dcterms:W3CDTF">2026-04-03T14:22:33Z</dcterms:created>
  <dcterms:modified xsi:type="dcterms:W3CDTF">2026-04-03T14:22:33Z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April 3,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