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06 Programvision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Unified Identity-Addressing-Overlay Architecture (UIAO)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Program Vision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a:t>Document Type</a:t>
                      </a:r>
                    </a:p>
                  </a:txBody>
                </a:tc>
                <a:tc>
                  <a:txBody>
                    <a:bodyPr/>
                    <a:lstStyle/>
                    <a:p>
                      <a:pPr lvl="0" indent="0" marL="0">
                        <a:buNone/>
                      </a:pPr>
                      <a:r>
                        <a:rPr/>
                        <a:t>Leadership Vision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Program Vision for the Unified Identity-Addressing-Overlay (UIAO) modernization initiative. UIAO is a drop-in overlay that restores cross-service telemetry and identity correlation in FedRAMP Moderate environments where native platforms cannot. It articulates the strategic intent, mission alignment, guiding principles, and end-state outcomes required to deliver deterministic identity correlation, provenance, drift detection, and continuous compliance – without requiring rip-and-replace of existing platforms – aligned with Zero Trust, TIC 3.0, NIST 800-63, and FedRAMP 20x.</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Strategic modernization vision</a:t>
            </a:r>
          </a:p>
          <a:p>
            <a:pPr lvl="0"/>
            <a:r>
              <a:rPr/>
              <a:t>Mission alignment and business drivers</a:t>
            </a:r>
          </a:p>
          <a:p>
            <a:pPr lvl="0"/>
            <a:r>
              <a:rPr/>
              <a:t>Guiding principles</a:t>
            </a:r>
          </a:p>
          <a:p>
            <a:pPr lvl="0"/>
            <a:r>
              <a:rPr/>
              <a:t>End-state architectural outcomes</a:t>
            </a:r>
          </a:p>
          <a:p>
            <a:pPr lvl="0"/>
            <a:r>
              <a:rPr/>
              <a:t>Technology pillars supporting the program</a:t>
            </a:r>
          </a:p>
          <a:p>
            <a:pPr lvl="0" indent="0" marL="0">
              <a:spcBef>
                <a:spcPts val="3000"/>
              </a:spcBef>
              <a:buNone/>
            </a:pPr>
            <a:r>
              <a:rPr b="1"/>
              <a:t>Excluded</a:t>
            </a:r>
          </a:p>
          <a:p>
            <a:pPr lvl="0"/>
            <a:r>
              <a:rPr/>
              <a:t>Detailed architecture (see foundational documents)</a:t>
            </a:r>
          </a:p>
          <a:p>
            <a:pPr lvl="0"/>
            <a:r>
              <a:rPr/>
              <a:t>Compliance mappings (see FedRAMP crosswalk)</a:t>
            </a:r>
          </a:p>
          <a:p>
            <a:pPr lvl="0"/>
            <a:r>
              <a:rPr/>
              <a:t>Project sequencing (see modernization timeline)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Program Vision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Strategic Role</a:t>
                      </a:r>
                    </a:p>
                  </a:txBody>
                  <a:tcPr/>
                </a:tc>
              </a:tr>
              <a:tr h="0">
                <a:tc>
                  <a:txBody>
                    <a:bodyPr/>
                    <a:lstStyle/>
                    <a:p>
                      <a:pPr lvl="0" indent="0" marL="0">
                        <a:buNone/>
                      </a:pPr>
                      <a:r>
                        <a:rPr/>
                        <a:t>Identity</a:t>
                      </a:r>
                    </a:p>
                  </a:txBody>
                </a:tc>
                <a:tc>
                  <a:txBody>
                    <a:bodyPr/>
                    <a:lstStyle/>
                    <a:p>
                      <a:pPr lvl="0" indent="0" marL="0">
                        <a:buNone/>
                      </a:pPr>
                      <a:r>
                        <a:rPr/>
                        <a:t>Foundation of Zero Trust and access governance</a:t>
                      </a:r>
                    </a:p>
                  </a:txBody>
                </a:tc>
              </a:tr>
              <a:tr h="0">
                <a:tc>
                  <a:txBody>
                    <a:bodyPr/>
                    <a:lstStyle/>
                    <a:p>
                      <a:pPr lvl="0" indent="0" marL="0">
                        <a:buNone/>
                      </a:pPr>
                      <a:r>
                        <a:rPr/>
                        <a:t>Network</a:t>
                      </a:r>
                    </a:p>
                  </a:txBody>
                </a:tc>
                <a:tc>
                  <a:txBody>
                    <a:bodyPr/>
                    <a:lstStyle/>
                    <a:p>
                      <a:pPr lvl="0" indent="0" marL="0">
                        <a:buNone/>
                      </a:pPr>
                      <a:r>
                        <a:rPr/>
                        <a:t>Cloud-first routing and segmentation</a:t>
                      </a:r>
                    </a:p>
                  </a:txBody>
                </a:tc>
              </a:tr>
              <a:tr h="0">
                <a:tc>
                  <a:txBody>
                    <a:bodyPr/>
                    <a:lstStyle/>
                    <a:p>
                      <a:pPr lvl="0" indent="0" marL="0">
                        <a:buNone/>
                      </a:pPr>
                      <a:r>
                        <a:rPr/>
                        <a:t>Addressing</a:t>
                      </a:r>
                    </a:p>
                  </a:txBody>
                </a:tc>
                <a:tc>
                  <a:txBody>
                    <a:bodyPr/>
                    <a:lstStyle/>
                    <a:p>
                      <a:pPr lvl="0" indent="0" marL="0">
                        <a:buNone/>
                      </a:pPr>
                      <a:r>
                        <a:rPr/>
                        <a:t>Deterministic IPAM and location intelligence</a:t>
                      </a:r>
                    </a:p>
                  </a:txBody>
                </a:tc>
              </a:tr>
              <a:tr h="0">
                <a:tc>
                  <a:txBody>
                    <a:bodyPr/>
                    <a:lstStyle/>
                    <a:p>
                      <a:pPr lvl="0" indent="0" marL="0">
                        <a:buNone/>
                      </a:pPr>
                      <a:r>
                        <a:rPr/>
                        <a:t>Telemetry &amp; Location</a:t>
                      </a:r>
                    </a:p>
                  </a:txBody>
                </a:tc>
                <a:tc>
                  <a:txBody>
                    <a:bodyPr/>
                    <a:lstStyle/>
                    <a:p>
                      <a:pPr lvl="0" indent="0" marL="0">
                        <a:buNone/>
                      </a:pPr>
                      <a:r>
                        <a:rPr/>
                        <a:t>Real-time truth source for decisions</a:t>
                      </a:r>
                    </a:p>
                  </a:txBody>
                </a:tc>
              </a:tr>
              <a:tr h="0">
                <a:tc>
                  <a:txBody>
                    <a:bodyPr/>
                    <a:lstStyle/>
                    <a:p>
                      <a:pPr lvl="0" indent="0" marL="0">
                        <a:buNone/>
                      </a:pPr>
                      <a:r>
                        <a:rPr/>
                        <a:t>Security &amp; Compliance</a:t>
                      </a:r>
                    </a:p>
                  </a:txBody>
                </a:tc>
                <a:tc>
                  <a:txBody>
                    <a:bodyPr/>
                    <a:lstStyle/>
                    <a:p>
                      <a:pPr lvl="0" indent="0" marL="0">
                        <a:buNone/>
                      </a:pPr>
                      <a:r>
                        <a:rPr/>
                        <a:t>Alignment with TIC 3.0, FedRAMP 20x, NIST 800-63</a:t>
                      </a:r>
                    </a:p>
                  </a:txBody>
                </a:tc>
              </a:tr>
              <a:tr h="0">
                <a:tc>
                  <a:txBody>
                    <a:bodyPr/>
                    <a:lstStyle/>
                    <a:p>
                      <a:pPr lvl="0" indent="0" marL="0">
                        <a:buNone/>
                      </a:pPr>
                      <a:r>
                        <a:rPr/>
                        <a:t>Management</a:t>
                      </a:r>
                    </a:p>
                  </a:txBody>
                </a:tc>
                <a:tc>
                  <a:txBody>
                    <a:bodyPr/>
                    <a:lstStyle/>
                    <a:p>
                      <a:pPr lvl="0" indent="0" marL="0">
                        <a:buNone/>
                      </a:pPr>
                      <a:r>
                        <a:rPr/>
                        <a:t>Governance, drift detection, and continuous authorization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vision describes how these planes unify into a single modernization program.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Program Vision is anchored in the Eight Core Concepts of UIAO:</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a:t>
            </a:r>
          </a:p>
          <a:p>
            <a:pPr lvl="0" indent="-342900" marL="342900">
              <a:buAutoNum type="arabicPeriod"/>
            </a:pPr>
            <a:r>
              <a:rPr/>
              <a:t>Identity as the root namespace</a:t>
            </a:r>
          </a:p>
          <a:p>
            <a:pPr lvl="0" indent="-342900" marL="342900">
              <a:buAutoNum type="arabicPeriod"/>
            </a:pPr>
            <a:r>
              <a:rPr/>
              <a:t>Deterministic addressing</a:t>
            </a:r>
          </a:p>
          <a:p>
            <a:pPr lvl="0" indent="-342900" marL="342900">
              <a:buAutoNum type="arabicPeriod"/>
            </a:pPr>
            <a:r>
              <a:rPr/>
              <a:t>Certificate-anchored overlay</a:t>
            </a:r>
          </a:p>
          <a:p>
            <a:pPr lvl="0" indent="-342900" marL="342900">
              <a:buAutoNum type="arabicPeriod"/>
            </a:pPr>
            <a:r>
              <a:rPr/>
              <a:t>Telemetry as control</a:t>
            </a:r>
          </a:p>
          <a:p>
            <a:pPr lvl="0" indent="-342900" marL="342900">
              <a:buAutoNum type="arabicPeriod"/>
            </a:pPr>
            <a:r>
              <a:rPr/>
              <a:t>Embedded governance &amp; automation</a:t>
            </a:r>
          </a:p>
          <a:p>
            <a:pPr lvl="0" indent="-342900" marL="342900">
              <a:buAutoNum type="arabicPeriod"/>
            </a:pPr>
            <a:r>
              <a:rPr/>
              <a:t>Public service first</a:t>
            </a:r>
          </a:p>
          <a:p>
            <a:pPr lvl="0" indent="0" marL="0">
              <a:buNone/>
            </a:pPr>
            <a:r>
              <a:rPr/>
              <a:t>These concepts define the modernization philosophy and guide all program decisions.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Purpose of the Modernization Program</a:t>
            </a:r>
          </a:p>
          <a:p>
            <a:pPr lvl="0" indent="0" marL="0">
              <a:buNone/>
            </a:pPr>
            <a:r>
              <a:rPr/>
              <a:t>The agency must modernize to:</a:t>
            </a:r>
          </a:p>
          <a:p>
            <a:pPr lvl="0"/>
            <a:r>
              <a:rPr/>
              <a:t>Improve mission readiness</a:t>
            </a:r>
          </a:p>
          <a:p>
            <a:pPr lvl="0"/>
            <a:r>
              <a:rPr/>
              <a:t>Reduce cyber risk</a:t>
            </a:r>
          </a:p>
          <a:p>
            <a:pPr lvl="0"/>
            <a:r>
              <a:rPr/>
              <a:t>Meet federal mandates</a:t>
            </a:r>
          </a:p>
          <a:p>
            <a:pPr lvl="0"/>
            <a:r>
              <a:rPr/>
              <a:t>Improve citizen-facing services</a:t>
            </a:r>
          </a:p>
          <a:p>
            <a:pPr lvl="0"/>
            <a:r>
              <a:rPr/>
              <a:t>Replace legacy perimeter architectures</a:t>
            </a:r>
          </a:p>
          <a:p>
            <a:pPr lvl="0"/>
            <a:r>
              <a:rPr/>
              <a:t>Enable cloud-first operations</a:t>
            </a:r>
          </a:p>
          <a:p>
            <a:pPr lvl="0"/>
            <a:r>
              <a:rPr/>
              <a:t>Support real-time telemetry and location services</a:t>
            </a:r>
          </a:p>
          <a:p>
            <a:pPr lvl="0" indent="0" marL="0">
              <a:buNone/>
            </a:pPr>
            <a:r>
              <a:rPr/>
              <a:t>UIAO provides a drop-in overlay that restores the cross-service telemetry and identity correlation required for this transformation.</a:t>
            </a:r>
          </a:p>
          <a:p>
            <a:pPr lvl="0" indent="0" marL="0">
              <a:spcBef>
                <a:spcPts val="3000"/>
              </a:spcBef>
              <a:buNone/>
            </a:pPr>
            <a:r>
              <a:rPr b="1"/>
              <a:t>6.2 Technology Pillars</a:t>
            </a:r>
          </a:p>
          <a:p>
            <a:pPr lvl="0" indent="0" marL="0">
              <a:buNone/>
            </a:pPr>
            <a:r>
              <a:rPr/>
              <a:t>The modernization program is built on real, production-grade federal technologies:</a:t>
            </a:r>
          </a:p>
          <a:p>
            <a:pPr lvl="0"/>
            <a:r>
              <a:rPr b="1"/>
              <a:t>Microsoft Entra ID</a:t>
            </a:r>
            <a:r>
              <a:rPr/>
              <a:t> — Identity Control Plane</a:t>
            </a:r>
          </a:p>
          <a:p>
            <a:pPr lvl="0"/>
            <a:r>
              <a:rPr b="1"/>
              <a:t>ICAM (NIST 800-63, OMB M-19-17)</a:t>
            </a:r>
            <a:r>
              <a:rPr/>
              <a:t> — Governance backbone</a:t>
            </a:r>
          </a:p>
          <a:p>
            <a:pPr lvl="0"/>
            <a:r>
              <a:rPr b="1"/>
              <a:t>InfoBlox IPAM</a:t>
            </a:r>
            <a:r>
              <a:rPr/>
              <a:t> — Authoritative Addressing Control Plane</a:t>
            </a:r>
          </a:p>
          <a:p>
            <a:pPr lvl="0"/>
            <a:r>
              <a:rPr b="1"/>
              <a:t>Cisco Catalyst SD-WAN</a:t>
            </a:r>
            <a:r>
              <a:rPr/>
              <a:t> — Network Control Plane</a:t>
            </a:r>
          </a:p>
          <a:p>
            <a:pPr lvl="0"/>
            <a:r>
              <a:rPr b="1"/>
              <a:t>Cloud Telemetry + Location Services</a:t>
            </a:r>
            <a:r>
              <a:rPr/>
              <a:t> — Telemetry Control Plane</a:t>
            </a:r>
          </a:p>
          <a:p>
            <a:pPr lvl="0"/>
            <a:r>
              <a:rPr b="1"/>
              <a:t>TIC 3.0 Cloud + Branch</a:t>
            </a:r>
            <a:r>
              <a:rPr/>
              <a:t> — Security &amp; Compliance Plane</a:t>
            </a:r>
          </a:p>
          <a:p>
            <a:pPr lvl="0" indent="0" marL="0">
              <a:buNone/>
            </a:pPr>
            <a:r>
              <a:rPr/>
              <a:t>These pillars form the operational substrate of UIAO.</a:t>
            </a:r>
          </a:p>
          <a:p>
            <a:pPr lvl="0" indent="0" marL="0">
              <a:spcBef>
                <a:spcPts val="3000"/>
              </a:spcBef>
              <a:buNone/>
            </a:pPr>
            <a:r>
              <a:rPr b="1"/>
              <a:t>6.3 Guiding Principles</a:t>
            </a:r>
          </a:p>
          <a:p>
            <a:pPr lvl="0" indent="0" marL="0">
              <a:buNone/>
            </a:pPr>
            <a:r>
              <a:rPr/>
              <a:t>The modernization program is governed by the following principles:</a:t>
            </a:r>
          </a:p>
          <a:p>
            <a:pPr lvl="0"/>
            <a:r>
              <a:rPr/>
              <a:t>Zero Trust by default</a:t>
            </a:r>
          </a:p>
          <a:p>
            <a:pPr lvl="0"/>
            <a:r>
              <a:rPr/>
              <a:t>Identity as the new perimeter</a:t>
            </a:r>
          </a:p>
          <a:p>
            <a:pPr lvl="0"/>
            <a:r>
              <a:rPr/>
              <a:t>Telemetry as the truth source</a:t>
            </a:r>
          </a:p>
          <a:p>
            <a:pPr lvl="0"/>
            <a:r>
              <a:rPr/>
              <a:t>Cloud-first routing</a:t>
            </a:r>
          </a:p>
          <a:p>
            <a:pPr lvl="0"/>
            <a:r>
              <a:rPr/>
              <a:t>Incremental modernization (no big-bang)</a:t>
            </a:r>
          </a:p>
          <a:p>
            <a:pPr lvl="0"/>
            <a:r>
              <a:rPr/>
              <a:t>FedRAMP-aligned controls</a:t>
            </a:r>
          </a:p>
          <a:p>
            <a:pPr lvl="0"/>
            <a:r>
              <a:rPr/>
              <a:t>Modular, extensible architecture</a:t>
            </a:r>
          </a:p>
          <a:p>
            <a:pPr lvl="0" indent="0" marL="0">
              <a:buNone/>
            </a:pPr>
            <a:r>
              <a:rPr/>
              <a:t>These principles ensure modernization is sustainable, compliant, and mission-aligned.</a:t>
            </a:r>
          </a:p>
          <a:p>
            <a:pPr lvl="0" indent="0" marL="0">
              <a:spcBef>
                <a:spcPts val="3000"/>
              </a:spcBef>
              <a:buNone/>
            </a:pPr>
            <a:r>
              <a:rPr b="1"/>
              <a:t>6.4 End-State Vision</a:t>
            </a:r>
          </a:p>
          <a:p>
            <a:pPr lvl="0" indent="0" marL="0">
              <a:buNone/>
            </a:pPr>
            <a:r>
              <a:rPr/>
              <a:t>The end state is a FedRAMP Moderate environment with restored cross-service telemetry and deterministic identity correlation where:</a:t>
            </a:r>
          </a:p>
          <a:p>
            <a:pPr lvl="0"/>
            <a:r>
              <a:rPr/>
              <a:t>Identity governs access, addressing, certificates, and policy</a:t>
            </a:r>
          </a:p>
          <a:p>
            <a:pPr lvl="0"/>
            <a:r>
              <a:rPr/>
              <a:t>Routing is cloud-first and performance-optimized</a:t>
            </a:r>
          </a:p>
          <a:p>
            <a:pPr lvl="0"/>
            <a:r>
              <a:rPr/>
              <a:t>Addressing is deterministic and identity-derived</a:t>
            </a:r>
          </a:p>
          <a:p>
            <a:pPr lvl="0"/>
            <a:r>
              <a:rPr/>
              <a:t>Telemetry provides real-time assurance and location inference</a:t>
            </a:r>
          </a:p>
          <a:p>
            <a:pPr lvl="0"/>
            <a:r>
              <a:rPr/>
              <a:t>Governance is automated and drift-resistant</a:t>
            </a:r>
          </a:p>
          <a:p>
            <a:pPr lvl="0"/>
            <a:r>
              <a:rPr/>
              <a:t>Security is continuous and Zero Trust-aligned</a:t>
            </a:r>
          </a:p>
          <a:p>
            <a:pPr lvl="0"/>
            <a:r>
              <a:rPr/>
              <a:t>Citizen experience is prioritized in every decision</a:t>
            </a:r>
          </a:p>
          <a:p>
            <a:pPr lvl="0" indent="0" marL="0">
              <a:buNone/>
            </a:pPr>
            <a:r>
              <a:rPr/>
              <a:t>This is the target end state – a drop-in overlay delivering what native platforms cannot.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Program Vision adopts the UIAO runtime model:</a:t>
            </a:r>
          </a:p>
          <a:p>
            <a:pPr lvl="0" indent="0" marL="0">
              <a:spcBef>
                <a:spcPts val="3000"/>
              </a:spcBef>
              <a:buNone/>
            </a:pPr>
            <a:r>
              <a:rPr b="1"/>
              <a:t>7.1 Conversation-Centric Operation</a:t>
            </a:r>
          </a:p>
          <a:p>
            <a:pPr lvl="0" indent="0" marL="0">
              <a:buNone/>
            </a:pPr>
            <a:r>
              <a:rPr/>
              <a:t>Every interaction is treated as a conversation with:</a:t>
            </a:r>
          </a:p>
          <a:p>
            <a:pPr lvl="0"/>
            <a:r>
              <a:rPr/>
              <a:t>Identity</a:t>
            </a:r>
          </a:p>
          <a:p>
            <a:pPr lvl="0"/>
            <a:r>
              <a:rPr/>
              <a:t>Addressing</a:t>
            </a:r>
          </a:p>
          <a:p>
            <a:pPr lvl="0"/>
            <a:r>
              <a:rPr/>
              <a:t>Certificates</a:t>
            </a:r>
          </a:p>
          <a:p>
            <a:pPr lvl="0"/>
            <a:r>
              <a:rPr/>
              <a:t>Path</a:t>
            </a:r>
          </a:p>
          <a:p>
            <a:pPr lvl="0"/>
            <a:r>
              <a:rPr/>
              <a:t>QoS</a:t>
            </a:r>
          </a:p>
          <a:p>
            <a:pPr lvl="0"/>
            <a:r>
              <a:rPr/>
              <a:t>Telemetry</a:t>
            </a:r>
          </a:p>
          <a:p>
            <a:pPr lvl="0" indent="0" marL="0">
              <a:buNone/>
            </a:pPr>
            <a:r>
              <a:rPr/>
              <a:t>bound together as a single correlated unit.</a:t>
            </a:r>
          </a:p>
          <a:p>
            <a:pPr lvl="0" indent="0" marL="0">
              <a:spcBef>
                <a:spcPts val="3000"/>
              </a:spcBef>
              <a:buNone/>
            </a:pPr>
            <a:r>
              <a:rPr b="1"/>
              <a:t>7.2 Deterministic Behavior</a:t>
            </a:r>
          </a:p>
          <a:p>
            <a:pPr lvl="0" indent="0" marL="0">
              <a:buNone/>
            </a:pPr>
            <a:r>
              <a:rPr/>
              <a:t>Given identical identity, boundary, telemetry, and assurance inputs, the system produces identical decisions across clouds and agencies.</a:t>
            </a:r>
          </a:p>
          <a:p>
            <a:pPr lvl="0" indent="0" marL="0">
              <a:spcBef>
                <a:spcPts val="3000"/>
              </a:spcBef>
              <a:buNone/>
            </a:pPr>
            <a:r>
              <a:rPr b="1"/>
              <a:t>7.3 Continuous Evaluation</a:t>
            </a:r>
          </a:p>
          <a:p>
            <a:pPr lvl="0" indent="0" marL="0">
              <a:buNone/>
            </a:pPr>
            <a:r>
              <a:rPr/>
              <a:t>Telemetry continuously informs:</a:t>
            </a:r>
          </a:p>
          <a:p>
            <a:pPr lvl="0"/>
            <a:r>
              <a:rPr/>
              <a:t>Routing</a:t>
            </a:r>
          </a:p>
          <a:p>
            <a:pPr lvl="0"/>
            <a:r>
              <a:rPr/>
              <a:t>Access</a:t>
            </a:r>
          </a:p>
          <a:p>
            <a:pPr lvl="0"/>
            <a:r>
              <a:rPr/>
              <a:t>Segmentation</a:t>
            </a:r>
          </a:p>
          <a:p>
            <a:pPr lvl="0"/>
            <a:r>
              <a:rPr/>
              <a:t>Compliance posture</a:t>
            </a:r>
          </a:p>
          <a:p>
            <a:pPr lvl="0" indent="0" marL="0">
              <a:buNone/>
            </a:pPr>
            <a:r>
              <a:rPr/>
              <a:t>This ensures real-time alignment with Zero Trust and FedRAMP 20x.</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Program Vision aligns with:</a:t>
            </a:r>
          </a:p>
          <a:p>
            <a:pPr lvl="0" indent="0" marL="0">
              <a:spcBef>
                <a:spcPts val="3000"/>
              </a:spcBef>
              <a:buNone/>
            </a:pPr>
            <a:r>
              <a:rPr b="1"/>
              <a:t>8.1 FedRAMP 20x</a:t>
            </a:r>
          </a:p>
          <a:p>
            <a:pPr lvl="0"/>
            <a:r>
              <a:rPr/>
              <a:t>Class C (Moderate)</a:t>
            </a:r>
          </a:p>
          <a:p>
            <a:pPr lvl="0"/>
            <a:r>
              <a:rPr/>
              <a:t>Telemetry-based validation</a:t>
            </a:r>
          </a:p>
          <a:p>
            <a:pPr lvl="0"/>
            <a:r>
              <a:rPr/>
              <a:t>OSCAL machine-readability</a:t>
            </a:r>
          </a:p>
          <a:p>
            <a:pPr lvl="0"/>
            <a:r>
              <a:rPr/>
              <a:t>Automated evidence generation</a:t>
            </a:r>
          </a:p>
          <a:p>
            <a:pPr lvl="0" indent="0" marL="0">
              <a:spcBef>
                <a:spcPts val="3000"/>
              </a:spcBef>
              <a:buNone/>
            </a:pPr>
            <a:r>
              <a:rPr b="1"/>
              <a:t>8.2 TIC 3.0</a:t>
            </a:r>
          </a:p>
          <a:p>
            <a:pPr lvl="0"/>
            <a:r>
              <a:rPr/>
              <a:t>Cloud Use Case</a:t>
            </a:r>
          </a:p>
          <a:p>
            <a:pPr lvl="0"/>
            <a:r>
              <a:rPr/>
              <a:t>Branch Use Case</a:t>
            </a:r>
          </a:p>
          <a:p>
            <a:pPr lvl="0"/>
            <a:r>
              <a:rPr/>
              <a:t>Identity-centric segmentation</a:t>
            </a:r>
          </a:p>
          <a:p>
            <a:pPr lvl="0" indent="0" marL="0">
              <a:spcBef>
                <a:spcPts val="3000"/>
              </a:spcBef>
              <a:buNone/>
            </a:pPr>
            <a:r>
              <a:rPr b="1"/>
              <a:t>8.3 NIST 800-63</a:t>
            </a:r>
          </a:p>
          <a:p>
            <a:pPr lvl="0"/>
            <a:r>
              <a:rPr/>
              <a:t>Identity assurance</a:t>
            </a:r>
          </a:p>
          <a:p>
            <a:pPr lvl="0"/>
            <a:r>
              <a:rPr/>
              <a:t>Authentication modernization</a:t>
            </a:r>
          </a:p>
          <a:p>
            <a:pPr lvl="0"/>
            <a:r>
              <a:rPr/>
              <a:t>ICAM governance</a:t>
            </a:r>
          </a:p>
          <a:p>
            <a:pPr lvl="0" indent="0" marL="0">
              <a:spcBef>
                <a:spcPts val="3000"/>
              </a:spcBef>
              <a:buNone/>
            </a:pPr>
            <a:r>
              <a:rPr b="1"/>
              <a:t>8.4 SCuBA</a:t>
            </a:r>
          </a:p>
          <a:p>
            <a:pPr lvl="0"/>
            <a:r>
              <a:rPr/>
              <a:t>M365 hardening</a:t>
            </a:r>
          </a:p>
          <a:p>
            <a:pPr lvl="0"/>
            <a:r>
              <a:rPr/>
              <a:t>Identity governance</a:t>
            </a:r>
          </a:p>
          <a:p>
            <a:pPr lvl="0"/>
            <a:r>
              <a:rPr/>
              <a:t>Telemetry integration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Network modernization</a:t>
            </a:r>
          </a:p>
          <a:p>
            <a:pPr lvl="0"/>
            <a:r>
              <a:rPr/>
              <a:t>IPAM modernization</a:t>
            </a:r>
          </a:p>
          <a:p>
            <a:pPr lvl="0"/>
            <a:r>
              <a:rPr/>
              <a:t>Telemetry integration</a:t>
            </a:r>
          </a:p>
          <a:p>
            <a:pPr lvl="0" indent="0" marL="0">
              <a:spcBef>
                <a:spcPts val="3000"/>
              </a:spcBef>
              <a:buNone/>
            </a:pPr>
            <a:r>
              <a:rPr b="1"/>
              <a:t>Downstream Dependencies</a:t>
            </a:r>
          </a:p>
          <a:p>
            <a:pPr lvl="0"/>
            <a:r>
              <a:rPr/>
              <a:t>Leadership briefing</a:t>
            </a:r>
          </a:p>
          <a:p>
            <a:pPr lvl="0"/>
            <a:r>
              <a:rPr/>
              <a:t>Modernization timeline</a:t>
            </a:r>
          </a:p>
          <a:p>
            <a:pPr lvl="0"/>
            <a:r>
              <a:rPr/>
              <a:t>TIC 3.0 packages</a:t>
            </a:r>
          </a:p>
          <a:p>
            <a:pPr lvl="0"/>
            <a:r>
              <a:rPr/>
              <a:t>FedRAMP crosswalk</a:t>
            </a:r>
          </a:p>
          <a:p>
            <a:pPr lvl="0" indent="0" marL="0">
              <a:spcBef>
                <a:spcPts val="3000"/>
              </a:spcBef>
              <a:buNone/>
            </a:pPr>
            <a:r>
              <a:rPr b="1"/>
              <a:t>Timeline Alignment</a:t>
            </a:r>
          </a:p>
          <a:p>
            <a:pPr lvl="0" indent="0" marL="0">
              <a:buNone/>
            </a:pPr>
            <a:r>
              <a:rPr/>
              <a:t>The Program Vision informs all phases of the modernization timeline.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Technology Pillars are in Section 6.2.</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Programvision</dc:title>
  <dc:creator>UIAO Modernization Program</dc:creator>
  <cp:keywords/>
  <dcterms:created xsi:type="dcterms:W3CDTF">2026-04-03T14:32:19Z</dcterms:created>
  <dcterms:modified xsi:type="dcterms:W3CDTF">2026-04-03T14:32:19Z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