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00 Core Principles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Canon Steward</a:t>
            </a:r>
          </a:p>
        </p:txBody>
      </p:sp>
      <p:sp>
        <p:nvSpPr>
          <p:cNvPr id="4" name="Date Placeholder 3"/>
          <p:cNvSpPr>
            <a:spLocks noGrp="1"/>
          </p:cNvSpPr>
          <p:nvPr>
            <p:ph idx="10" sz="half" type="dt"/>
          </p:nvPr>
        </p:nvSpPr>
        <p:spPr/>
        <p:txBody>
          <a:bodyPr/>
          <a:lstStyle/>
          <a:p>
            <a:pPr lvl="0" indent="0" marL="0">
              <a:buNone/>
            </a:pPr>
            <a:r>
              <a:rPr/>
              <a:t>April 3,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UIAO Core Principles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This document is the Single Source of Truth (Principle 1)</a:t>
            </a:r>
            <a:r>
              <a:rPr/>
              <a:t> for all UIAO Core Principles.</a:t>
            </a:r>
          </a:p>
          <a:p>
            <a:pPr lvl="0" indent="0" marL="0">
              <a:buNone/>
            </a:pPr>
            <a:r>
              <a:rPr/>
              <a:t>All other UIAO documents must reference this file and </a:t>
            </a:r>
            <a:r>
              <a:rPr b="1"/>
              <a:t>shall not</a:t>
            </a:r>
            <a:r>
              <a:rPr/>
              <a:t> duplicate the full list of principles without explicit Canon Steward approval and drift validation.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Eight Core Principles</a:t>
            </a:r>
          </a:p>
        </p:txBody>
      </p:sp>
      <p:sp>
        <p:nvSpPr>
          <p:cNvPr id="3" name="Content Placeholder 2"/>
          <p:cNvSpPr>
            <a:spLocks noGrp="1"/>
          </p:cNvSpPr>
          <p:nvPr>
            <p:ph idx="1"/>
          </p:nvPr>
        </p:nvSpPr>
        <p:spPr/>
        <p:txBody>
          <a:bodyPr/>
          <a:lstStyle/>
          <a:p>
            <a:pPr lvl="0" indent="-342900" marL="342900">
              <a:buAutoNum type="arabicPeriod"/>
            </a:pPr>
            <a:r>
              <a:rPr b="1"/>
              <a:t>Single Source of Truth (SSOT)</a:t>
            </a:r>
            <a:r>
              <a:rPr/>
              <a:t> — Every canonical claim in UIAO has exactly one authoritative origin. All other representations are derived pointers, never copies. This guarantees provenance, prevents drift, and enables secure federated truth resolution across federal, SLTT, and regulated industry boundaries.</a:t>
            </a:r>
          </a:p>
          <a:p>
            <a:pPr lvl="0" indent="-342900" marL="342900">
              <a:buAutoNum type="arabicPeriod"/>
            </a:pPr>
            <a:r>
              <a:rPr b="1"/>
              <a:t>Conversation as the atomic unit</a:t>
            </a:r>
            <a:r>
              <a:rPr/>
              <a:t> — Every interaction binds identity, certificates, addressing, path, QoS, and telemetry.</a:t>
            </a:r>
          </a:p>
          <a:p>
            <a:pPr lvl="0" indent="-342900" marL="342900">
              <a:buAutoNum type="arabicPeriod"/>
            </a:pPr>
            <a:r>
              <a:rPr b="1"/>
              <a:t>Identity as the root namespace</a:t>
            </a:r>
            <a:r>
              <a:rPr/>
              <a:t> — Every IP, certificate, subnet, policy, and telemetry event is derived from identity.</a:t>
            </a:r>
          </a:p>
          <a:p>
            <a:pPr lvl="0" indent="-342900" marL="342900">
              <a:buAutoNum type="arabicPeriod"/>
            </a:pPr>
            <a:r>
              <a:rPr b="1"/>
              <a:t>Deterministic addressing</a:t>
            </a:r>
            <a:r>
              <a:rPr/>
              <a:t> — Addressing is identity-derived and policy-driven.</a:t>
            </a:r>
          </a:p>
          <a:p>
            <a:pPr lvl="0" indent="-342900" marL="342900">
              <a:buAutoNum type="arabicPeriod"/>
            </a:pPr>
            <a:r>
              <a:rPr b="1"/>
              <a:t>Certificate-anchored overlay</a:t>
            </a:r>
            <a:r>
              <a:rPr/>
              <a:t> — mTLS anchors tunnels, services, and trust relationships.</a:t>
            </a:r>
          </a:p>
          <a:p>
            <a:pPr lvl="0" indent="-342900" marL="342900">
              <a:buAutoNum type="arabicPeriod"/>
            </a:pPr>
            <a:r>
              <a:rPr b="1"/>
              <a:t>Telemetry as control</a:t>
            </a:r>
            <a:r>
              <a:rPr/>
              <a:t> — Telemetry is a real-time control input, not passive reporting.</a:t>
            </a:r>
          </a:p>
          <a:p>
            <a:pPr lvl="0" indent="-342900" marL="342900">
              <a:buAutoNum type="arabicPeriod"/>
            </a:pPr>
            <a:r>
              <a:rPr b="1"/>
              <a:t>Embedded governance and automation</a:t>
            </a:r>
            <a:r>
              <a:rPr/>
              <a:t> — Governance is executed through orchestrated workflows, not manual tickets.</a:t>
            </a:r>
          </a:p>
          <a:p>
            <a:pPr lvl="0" indent="-342900" marL="342900">
              <a:buAutoNum type="arabicPeriod"/>
            </a:pPr>
            <a:r>
              <a:rPr b="1"/>
              <a:t>Public service first</a:t>
            </a:r>
            <a:r>
              <a:rPr/>
              <a:t> — Citizen experience, accessibility, and privacy are top-level design constraints.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Rule</a:t>
            </a:r>
          </a:p>
        </p:txBody>
      </p:sp>
      <p:sp>
        <p:nvSpPr>
          <p:cNvPr id="3" name="Content Placeholder 2"/>
          <p:cNvSpPr>
            <a:spLocks noGrp="1"/>
          </p:cNvSpPr>
          <p:nvPr>
            <p:ph idx="1"/>
          </p:nvPr>
        </p:nvSpPr>
        <p:spPr/>
        <p:txBody>
          <a:bodyPr/>
          <a:lstStyle/>
          <a:p>
            <a:pPr lvl="0" indent="0" marL="0">
              <a:buNone/>
            </a:pPr>
            <a:r>
              <a:rPr/>
              <a:t>These principles are </a:t>
            </a:r>
            <a:r>
              <a:rPr b="1"/>
              <a:t>frozen</a:t>
            </a:r>
            <a:r>
              <a:rPr/>
              <a:t> at the architecture level. Any proposed modification requires: - Canon Steward review - Update only to this master file - Propagation via controlled remediation workflow - Generation of a KSI evidence bundle documenting the change</a:t>
            </a:r>
          </a:p>
          <a:p>
            <a:pPr lvl="0" indent="0" marL="0">
              <a:buNone/>
            </a:pPr>
            <a:r>
              <a:rPr b="1"/>
              <a:t>Reference convention</a:t>
            </a:r>
            <a:r>
              <a:rPr/>
              <a:t>: Other documents should link to or include this file rather than duplicating the list.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 Core Principles</dc:title>
  <dc:creator>UIAO Canon Steward</dc:creator>
  <cp:keywords/>
  <dcterms:created xsi:type="dcterms:W3CDTF">2026-04-03T14:22:23Z</dcterms:created>
  <dcterms:modified xsi:type="dcterms:W3CDTF">2026-04-03T14:22:23Z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3,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