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4" Type="http://schemas.openxmlformats.org/officeDocument/2006/relationships/viewProps" Target="viewProps.xml" /><Relationship Id="rId23" Type="http://schemas.openxmlformats.org/officeDocument/2006/relationships/presProps" Target="presProps.xml" /><Relationship Id="rId1" Type="http://schemas.openxmlformats.org/officeDocument/2006/relationships/slideMaster" Target="slideMasters/slideMaster1.xml" /><Relationship Id="rId26" Type="http://schemas.openxmlformats.org/officeDocument/2006/relationships/tableStyles" Target="tableStyles.xml" /><Relationship Id="rId2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05 Managementstack</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UIAO Modernization Program</a:t>
            </a:r>
          </a:p>
        </p:txBody>
      </p:sp>
      <p:sp>
        <p:nvSpPr>
          <p:cNvPr id="4" name="Date Placeholder 3"/>
          <p:cNvSpPr>
            <a:spLocks noGrp="1"/>
          </p:cNvSpPr>
          <p:nvPr>
            <p:ph idx="10" sz="half" type="dt"/>
          </p:nvPr>
        </p:nvSpPr>
        <p:spPr/>
        <p:txBody>
          <a:bodyPr/>
          <a:lstStyle/>
          <a:p>
            <a:pPr lvl="0" indent="0" marL="0">
              <a:buNone/>
            </a:pPr>
            <a:r>
              <a:rPr/>
              <a:t>March 31,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UIAO Management Stack — FedRAMP Control Definitions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Field</a:t>
                      </a:r>
                    </a:p>
                  </a:txBody>
                  <a:tcPr/>
                </a:tc>
                <a:tc>
                  <a:txBody>
                    <a:bodyPr/>
                    <a:lstStyle/>
                    <a:p>
                      <a:pPr lvl="0" indent="0" marL="0">
                        <a:buNone/>
                      </a:pPr>
                      <a:r>
                        <a:rPr/>
                        <a:t>Value</a:t>
                      </a:r>
                    </a:p>
                  </a:txBody>
                  <a:tcPr/>
                </a:tc>
              </a:tr>
              <a:tr h="0">
                <a:tc>
                  <a:txBody>
                    <a:bodyPr/>
                    <a:lstStyle/>
                    <a:p>
                      <a:pPr lvl="0" indent="0" marL="0">
                        <a:buNone/>
                      </a:pPr>
                      <a:r>
                        <a:rPr/>
                        <a:t>Version</a:t>
                      </a:r>
                    </a:p>
                  </a:txBody>
                </a:tc>
                <a:tc>
                  <a:txBody>
                    <a:bodyPr/>
                    <a:lstStyle/>
                    <a:p>
                      <a:pPr lvl="0" indent="0" marL="0">
                        <a:buNone/>
                      </a:pPr>
                      <a:r>
                        <a:rPr/>
                        <a:t>1.0</a:t>
                      </a:r>
                    </a:p>
                  </a:txBody>
                </a:tc>
              </a:tr>
              <a:tr h="0">
                <a:tc>
                  <a:txBody>
                    <a:bodyPr/>
                    <a:lstStyle/>
                    <a:p>
                      <a:pPr lvl="0" indent="0" marL="0">
                        <a:buNone/>
                      </a:pPr>
                      <a:r>
                        <a:rPr/>
                        <a:t>Date</a:t>
                      </a:r>
                    </a:p>
                  </a:txBody>
                </a:tc>
                <a:tc>
                  <a:txBody>
                    <a:bodyPr/>
                    <a:lstStyle/>
                    <a:p>
                      <a:pPr lvl="0" indent="0" marL="0">
                        <a:buNone/>
                      </a:pPr>
                      <a:r>
                        <a:rPr/>
                        <a:t>2026-03</a:t>
                      </a:r>
                    </a:p>
                  </a:txBody>
                </a:tc>
              </a:tr>
              <a:tr h="0">
                <a:tc>
                  <a:txBody>
                    <a:bodyPr/>
                    <a:lstStyle/>
                    <a:p>
                      <a:pPr lvl="0" indent="0" marL="0">
                        <a:buNone/>
                      </a:pPr>
                      <a:r>
                        <a:rPr/>
                        <a:t>Classification</a:t>
                      </a:r>
                    </a:p>
                  </a:txBody>
                </a:tc>
                <a:tc>
                  <a:txBody>
                    <a:bodyPr/>
                    <a:lstStyle/>
                    <a:p>
                      <a:pPr lvl="0" indent="0" marL="0">
                        <a:buNone/>
                      </a:pPr>
                      <a:r>
                        <a:rPr/>
                        <a:t>CUI/FOUO</a:t>
                      </a:r>
                    </a:p>
                  </a:txBody>
                </a:tc>
              </a:tr>
              <a:tr h="0">
                <a:tc>
                  <a:txBody>
                    <a:bodyPr/>
                    <a:lstStyle/>
                    <a:p>
                      <a:pPr lvl="0" indent="0" marL="0">
                        <a:buNone/>
                      </a:pPr>
                      <a:r>
                        <a:rPr/>
                        <a:t>Source Plane(s)</a:t>
                      </a:r>
                    </a:p>
                  </a:txBody>
                </a:tc>
                <a:tc>
                  <a:txBody>
                    <a:bodyPr/>
                    <a:lstStyle/>
                    <a:p>
                      <a:pPr lvl="0" indent="0" marL="0">
                        <a:buNone/>
                      </a:pPr>
                      <a:r>
                        <a:rPr/>
                        <a:t>Management, Identity, Security, Telemetry</a:t>
                      </a:r>
                    </a:p>
                  </a:txBody>
                </a:tc>
              </a:tr>
              <a:tr h="0">
                <a:tc>
                  <a:txBody>
                    <a:bodyPr/>
                    <a:lstStyle/>
                    <a:p>
                      <a:pPr lvl="0" indent="0" marL="0">
                        <a:buNone/>
                      </a:pPr>
                      <a:r>
                        <a:rPr/>
                        <a:t>Document Type</a:t>
                      </a:r>
                    </a:p>
                  </a:txBody>
                </a:tc>
                <a:tc>
                  <a:txBody>
                    <a:bodyPr/>
                    <a:lstStyle/>
                    <a:p>
                      <a:pPr lvl="0" indent="0" marL="0">
                        <a:buNone/>
                      </a:pPr>
                      <a:r>
                        <a:rPr/>
                        <a:t>Architectural Specification (00_Core)</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Purpose</a:t>
            </a:r>
          </a:p>
        </p:txBody>
      </p:sp>
      <p:sp>
        <p:nvSpPr>
          <p:cNvPr id="3" name="Content Placeholder 2"/>
          <p:cNvSpPr>
            <a:spLocks noGrp="1"/>
          </p:cNvSpPr>
          <p:nvPr>
            <p:ph idx="1"/>
          </p:nvPr>
        </p:nvSpPr>
        <p:spPr/>
        <p:txBody>
          <a:bodyPr/>
          <a:lstStyle/>
          <a:p>
            <a:pPr lvl="0" indent="0" marL="0">
              <a:buNone/>
            </a:pPr>
            <a:r>
              <a:rPr/>
              <a:t>This document defines the Management Plane of the Unified Identity-Addressing-Overlay (UIAO) architecture. It establishes ServiceNow and Microsoft Intune as the authoritative governance systems responsible for drift detection, configuration integrity, device compliance, continuous authorization, and operational lifecycle management. It also maps their capabilities to NIST SP 800-53 Rev 5 controls required for FedRAMP 20x (Class C) authorization.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Scope</a:t>
            </a:r>
          </a:p>
        </p:txBody>
      </p:sp>
      <p:sp>
        <p:nvSpPr>
          <p:cNvPr id="3" name="Content Placeholder 2"/>
          <p:cNvSpPr>
            <a:spLocks noGrp="1"/>
          </p:cNvSpPr>
          <p:nvPr>
            <p:ph idx="1"/>
          </p:nvPr>
        </p:nvSpPr>
        <p:spPr/>
        <p:txBody>
          <a:bodyPr/>
          <a:lstStyle/>
          <a:p>
            <a:pPr lvl="0" indent="0" marL="0">
              <a:spcBef>
                <a:spcPts val="3000"/>
              </a:spcBef>
              <a:buNone/>
            </a:pPr>
            <a:r>
              <a:rPr b="1"/>
              <a:t>Included</a:t>
            </a:r>
          </a:p>
          <a:p>
            <a:pPr lvl="0"/>
            <a:r>
              <a:rPr/>
              <a:t>Canonical definition of the Management Plane</a:t>
            </a:r>
          </a:p>
          <a:p>
            <a:pPr lvl="0"/>
            <a:r>
              <a:rPr/>
              <a:t>ServiceNow and Intune roles, responsibilities, and evidence sources</a:t>
            </a:r>
          </a:p>
          <a:p>
            <a:pPr lvl="0"/>
            <a:r>
              <a:rPr/>
              <a:t>NIST 800-53 Rev 5 control mappings</a:t>
            </a:r>
          </a:p>
          <a:p>
            <a:pPr lvl="0"/>
            <a:r>
              <a:rPr/>
              <a:t>Integration bindings across UIAO control planes</a:t>
            </a:r>
          </a:p>
          <a:p>
            <a:pPr lvl="0"/>
            <a:r>
              <a:rPr/>
              <a:t>Governance and drift-remediation workflows</a:t>
            </a:r>
          </a:p>
          <a:p>
            <a:pPr lvl="0" indent="0" marL="0">
              <a:spcBef>
                <a:spcPts val="3000"/>
              </a:spcBef>
              <a:buNone/>
            </a:pPr>
            <a:r>
              <a:rPr b="1"/>
              <a:t>Excluded</a:t>
            </a:r>
          </a:p>
          <a:p>
            <a:pPr lvl="0"/>
            <a:r>
              <a:rPr/>
              <a:t>Vendor-specific deployment instructions</a:t>
            </a:r>
          </a:p>
          <a:p>
            <a:pPr lvl="0"/>
            <a:r>
              <a:rPr/>
              <a:t>Detailed CMDB schema design</a:t>
            </a:r>
          </a:p>
          <a:p>
            <a:pPr lvl="0"/>
            <a:r>
              <a:rPr/>
              <a:t>Device configuration baselines (covered in Intune profiles)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4. Control Plane Alignment</a:t>
            </a:r>
          </a:p>
        </p:txBody>
      </p:sp>
      <p:sp>
        <p:nvSpPr>
          <p:cNvPr id="4" name="Text Placeholder 3"/>
          <p:cNvSpPr>
            <a:spLocks noGrp="1"/>
          </p:cNvSpPr>
          <p:nvPr>
            <p:ph idx="2" sz="half" type="body"/>
          </p:nvPr>
        </p:nvSpPr>
        <p:spPr/>
        <p:txBody>
          <a:bodyPr/>
          <a:lstStyle/>
          <a:p>
            <a:pPr lvl="0" indent="0" marL="0">
              <a:buNone/>
            </a:pPr>
            <a:r>
              <a:rPr/>
              <a:t>The Management Plane governs and enforces configuration integrity across all six UIAO control planes: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Plane</a:t>
                      </a:r>
                    </a:p>
                  </a:txBody>
                  <a:tcPr/>
                </a:tc>
                <a:tc>
                  <a:txBody>
                    <a:bodyPr/>
                    <a:lstStyle/>
                    <a:p>
                      <a:pPr lvl="0" indent="0" marL="0">
                        <a:buNone/>
                      </a:pPr>
                      <a:r>
                        <a:rPr/>
                        <a:t>Management Role</a:t>
                      </a:r>
                    </a:p>
                  </a:txBody>
                  <a:tcPr/>
                </a:tc>
              </a:tr>
              <a:tr h="0">
                <a:tc>
                  <a:txBody>
                    <a:bodyPr/>
                    <a:lstStyle/>
                    <a:p>
                      <a:pPr lvl="0" indent="0" marL="0">
                        <a:buNone/>
                      </a:pPr>
                      <a:r>
                        <a:rPr/>
                        <a:t>Identity</a:t>
                      </a:r>
                    </a:p>
                  </a:txBody>
                </a:tc>
                <a:tc>
                  <a:txBody>
                    <a:bodyPr/>
                    <a:lstStyle/>
                    <a:p>
                      <a:pPr lvl="0" indent="0" marL="0">
                        <a:buNone/>
                      </a:pPr>
                      <a:r>
                        <a:rPr/>
                        <a:t>Device trust, lifecycle synchronization</a:t>
                      </a:r>
                    </a:p>
                  </a:txBody>
                </a:tc>
              </a:tr>
              <a:tr h="0">
                <a:tc>
                  <a:txBody>
                    <a:bodyPr/>
                    <a:lstStyle/>
                    <a:p>
                      <a:pPr lvl="0" indent="0" marL="0">
                        <a:buNone/>
                      </a:pPr>
                      <a:r>
                        <a:rPr/>
                        <a:t>Network</a:t>
                      </a:r>
                    </a:p>
                  </a:txBody>
                </a:tc>
                <a:tc>
                  <a:txBody>
                    <a:bodyPr/>
                    <a:lstStyle/>
                    <a:p>
                      <a:pPr lvl="0" indent="0" marL="0">
                        <a:buNone/>
                      </a:pPr>
                      <a:r>
                        <a:rPr/>
                        <a:t>Overlay drift detection, segmentation enforcement</a:t>
                      </a:r>
                    </a:p>
                  </a:txBody>
                </a:tc>
              </a:tr>
              <a:tr h="0">
                <a:tc>
                  <a:txBody>
                    <a:bodyPr/>
                    <a:lstStyle/>
                    <a:p>
                      <a:pPr lvl="0" indent="0" marL="0">
                        <a:buNone/>
                      </a:pPr>
                      <a:r>
                        <a:rPr/>
                        <a:t>Addressing</a:t>
                      </a:r>
                    </a:p>
                  </a:txBody>
                </a:tc>
                <a:tc>
                  <a:txBody>
                    <a:bodyPr/>
                    <a:lstStyle/>
                    <a:p>
                      <a:pPr lvl="0" indent="0" marL="0">
                        <a:buNone/>
                      </a:pPr>
                      <a:r>
                        <a:rPr/>
                        <a:t>IPAM reconciliation, authoritative inventory</a:t>
                      </a:r>
                    </a:p>
                  </a:txBody>
                </a:tc>
              </a:tr>
              <a:tr h="0">
                <a:tc>
                  <a:txBody>
                    <a:bodyPr/>
                    <a:lstStyle/>
                    <a:p>
                      <a:pPr lvl="0" indent="0" marL="0">
                        <a:buNone/>
                      </a:pPr>
                      <a:r>
                        <a:rPr/>
                        <a:t>Telemetry</a:t>
                      </a:r>
                    </a:p>
                  </a:txBody>
                </a:tc>
                <a:tc>
                  <a:txBody>
                    <a:bodyPr/>
                    <a:lstStyle/>
                    <a:p>
                      <a:pPr lvl="0" indent="0" marL="0">
                        <a:buNone/>
                      </a:pPr>
                      <a:r>
                        <a:rPr/>
                        <a:t>Continuous monitoring, evidence generation</a:t>
                      </a:r>
                    </a:p>
                  </a:txBody>
                </a:tc>
              </a:tr>
              <a:tr h="0">
                <a:tc>
                  <a:txBody>
                    <a:bodyPr/>
                    <a:lstStyle/>
                    <a:p>
                      <a:pPr lvl="0" indent="0" marL="0">
                        <a:buNone/>
                      </a:pPr>
                      <a:r>
                        <a:rPr/>
                        <a:t>Security &amp; Compliance</a:t>
                      </a:r>
                    </a:p>
                  </a:txBody>
                </a:tc>
                <a:tc>
                  <a:txBody>
                    <a:bodyPr/>
                    <a:lstStyle/>
                    <a:p>
                      <a:pPr lvl="0" indent="0" marL="0">
                        <a:buNone/>
                      </a:pPr>
                      <a:r>
                        <a:rPr/>
                        <a:t>Zero Trust enforcement, FedRAMP alignment</a:t>
                      </a:r>
                    </a:p>
                  </a:txBody>
                </a:tc>
              </a:tr>
              <a:tr h="0">
                <a:tc>
                  <a:txBody>
                    <a:bodyPr/>
                    <a:lstStyle/>
                    <a:p>
                      <a:pPr lvl="0" indent="0" marL="0">
                        <a:buNone/>
                      </a:pPr>
                      <a:r>
                        <a:rPr/>
                        <a:t>Management</a:t>
                      </a:r>
                    </a:p>
                  </a:txBody>
                </a:tc>
                <a:tc>
                  <a:txBody>
                    <a:bodyPr/>
                    <a:lstStyle/>
                    <a:p>
                      <a:pPr lvl="0" indent="0" marL="0">
                        <a:buNone/>
                      </a:pPr>
                      <a:r>
                        <a:rPr/>
                        <a:t>CMDB, change control, compliance posture</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ServiceNow and Intune jointly form the authoritative Management Plane.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5. Core Concepts</a:t>
            </a:r>
          </a:p>
        </p:txBody>
      </p:sp>
      <p:sp>
        <p:nvSpPr>
          <p:cNvPr id="3" name="Content Placeholder 2"/>
          <p:cNvSpPr>
            <a:spLocks noGrp="1"/>
          </p:cNvSpPr>
          <p:nvPr>
            <p:ph idx="1"/>
          </p:nvPr>
        </p:nvSpPr>
        <p:spPr/>
        <p:txBody>
          <a:bodyPr/>
          <a:lstStyle/>
          <a:p>
            <a:pPr lvl="0" indent="0" marL="0">
              <a:buNone/>
            </a:pPr>
            <a:r>
              <a:rPr/>
              <a:t>The Management Plane operationalizes the Seven Core Concepts:</a:t>
            </a:r>
          </a:p>
          <a:p>
            <a:pPr lvl="0" indent="-342900" marL="342900">
              <a:buAutoNum type="arabicPeriod"/>
            </a:pPr>
            <a:r>
              <a:rPr/>
              <a:t>Conversation as the atomic unit → Incident, change, and configuration events tied to identity and device</a:t>
            </a:r>
          </a:p>
          <a:p>
            <a:pPr lvl="0" indent="-342900" marL="342900">
              <a:buAutoNum type="arabicPeriod"/>
            </a:pPr>
            <a:r>
              <a:rPr/>
              <a:t>Identity as the root namespace → Device trust and configuration bound to identity</a:t>
            </a:r>
          </a:p>
          <a:p>
            <a:pPr lvl="0" indent="-342900" marL="342900">
              <a:buAutoNum type="arabicPeriod"/>
            </a:pPr>
            <a:r>
              <a:rPr/>
              <a:t>Deterministic addressing → CMDB reconciliation with IPAM as source of truth</a:t>
            </a:r>
          </a:p>
          <a:p>
            <a:pPr lvl="0" indent="-342900" marL="342900">
              <a:buAutoNum type="arabicPeriod"/>
            </a:pPr>
            <a:r>
              <a:rPr/>
              <a:t>Certificate-anchored overlay → Certificate drift detection and renewal workflows</a:t>
            </a:r>
          </a:p>
          <a:p>
            <a:pPr lvl="0" indent="-342900" marL="342900">
              <a:buAutoNum type="arabicPeriod"/>
            </a:pPr>
            <a:r>
              <a:rPr/>
              <a:t>Telemetry as control → Compliance signals drive access decisions</a:t>
            </a:r>
          </a:p>
          <a:p>
            <a:pPr lvl="0" indent="-342900" marL="342900">
              <a:buAutoNum type="arabicPeriod"/>
            </a:pPr>
            <a:r>
              <a:rPr/>
              <a:t>Embedded governance &amp; automation → Automated remediation replaces manual tickets</a:t>
            </a:r>
          </a:p>
          <a:p>
            <a:pPr lvl="0" indent="-342900" marL="342900">
              <a:buAutoNum type="arabicPeriod"/>
            </a:pPr>
            <a:r>
              <a:rPr/>
              <a:t>Public service first → Reduced downtime, faster remediation, higher reliability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6. Architecture Model</a:t>
            </a:r>
          </a:p>
        </p:txBody>
      </p:sp>
      <p:sp>
        <p:nvSpPr>
          <p:cNvPr id="4" name="Text Placeholder 3"/>
          <p:cNvSpPr>
            <a:spLocks noGrp="1"/>
          </p:cNvSpPr>
          <p:nvPr>
            <p:ph idx="2" sz="half" type="body"/>
          </p:nvPr>
        </p:nvSpPr>
        <p:spPr/>
        <p:txBody>
          <a:bodyPr/>
          <a:lstStyle/>
          <a:p>
            <a:pPr lvl="0" indent="0" marL="0">
              <a:spcBef>
                <a:spcPts val="3000"/>
              </a:spcBef>
              <a:buNone/>
            </a:pPr>
            <a:r>
              <a:rPr b="1"/>
              <a:t>6.1 Overview</a:t>
            </a:r>
          </a:p>
          <a:p>
            <a:pPr lvl="0" indent="0" marL="0">
              <a:buNone/>
            </a:pPr>
            <a:r>
              <a:rPr/>
              <a:t>The Management Plane ensures that UIAO remains drift-resistant, continuously authorized, and operationally compliant. It integrates:</a:t>
            </a:r>
          </a:p>
          <a:p>
            <a:pPr lvl="0"/>
            <a:r>
              <a:rPr b="1"/>
              <a:t>ServiceNow</a:t>
            </a:r>
            <a:r>
              <a:rPr/>
              <a:t> → System of record for incidents, changes, CMDB, and governance</a:t>
            </a:r>
          </a:p>
          <a:p>
            <a:pPr lvl="0"/>
            <a:r>
              <a:rPr b="1"/>
              <a:t>Microsoft Intune</a:t>
            </a:r>
            <a:r>
              <a:rPr/>
              <a:t> → Device compliance, configuration baselines, and hardware/software inventory</a:t>
            </a:r>
          </a:p>
          <a:p>
            <a:pPr lvl="0" indent="0" marL="0">
              <a:buNone/>
            </a:pPr>
            <a:r>
              <a:rPr/>
              <a:t>Together, they provide:</a:t>
            </a:r>
          </a:p>
          <a:p>
            <a:pPr lvl="0"/>
            <a:r>
              <a:rPr/>
              <a:t>Authoritative asset inventory (CM-8)</a:t>
            </a:r>
          </a:p>
          <a:p>
            <a:pPr lvl="0"/>
            <a:r>
              <a:rPr/>
              <a:t>Baseline configuration enforcement (CM-2, CM-6)</a:t>
            </a:r>
          </a:p>
          <a:p>
            <a:pPr lvl="0"/>
            <a:r>
              <a:rPr/>
              <a:t>Drift detection and remediation (CM-3, CA-7)</a:t>
            </a:r>
          </a:p>
          <a:p>
            <a:pPr lvl="0"/>
            <a:r>
              <a:rPr/>
              <a:t>Device trust for Conditional Access (AC-19)</a:t>
            </a:r>
          </a:p>
          <a:p>
            <a:pPr lvl="0"/>
            <a:r>
              <a:rPr/>
              <a:t>Evidence for FedRAMP 20x telemetry validation</a:t>
            </a:r>
          </a:p>
          <a:p>
            <a:pPr lvl="0" indent="0" marL="0">
              <a:spcBef>
                <a:spcPts val="3000"/>
              </a:spcBef>
              <a:buNone/>
            </a:pPr>
            <a:r>
              <a:rPr b="1"/>
              <a:t>6.2 ServiceNow — GovCommunityCloud</a:t>
            </a:r>
          </a:p>
          <a:p>
            <a:pPr lvl="0" indent="0" marL="0">
              <a:spcBef>
                <a:spcPts val="3000"/>
              </a:spcBef>
              <a:buNone/>
            </a:pPr>
            <a:r>
              <a:rPr b="1"/>
              <a:t>Role</a:t>
            </a:r>
          </a:p>
          <a:p>
            <a:pPr lvl="0" indent="0" marL="0">
              <a:buNone/>
            </a:pPr>
            <a:r>
              <a:rPr/>
              <a:t>ServiceNow is the system of record for:</a:t>
            </a:r>
          </a:p>
          <a:p>
            <a:pPr lvl="0"/>
            <a:r>
              <a:rPr/>
              <a:t>Incident lifecycle management</a:t>
            </a:r>
          </a:p>
          <a:p>
            <a:pPr lvl="0"/>
            <a:r>
              <a:rPr/>
              <a:t>Change control</a:t>
            </a:r>
          </a:p>
          <a:p>
            <a:pPr lvl="0"/>
            <a:r>
              <a:rPr/>
              <a:t>CMDB asset inventory</a:t>
            </a:r>
          </a:p>
          <a:p>
            <a:pPr lvl="0"/>
            <a:r>
              <a:rPr/>
              <a:t>Continuous authorization</a:t>
            </a:r>
          </a:p>
          <a:p>
            <a:pPr lvl="0"/>
            <a:r>
              <a:rPr/>
              <a:t>Overlay drift detection</a:t>
            </a:r>
          </a:p>
          <a:p>
            <a:pPr lvl="0"/>
            <a:r>
              <a:rPr/>
              <a:t>Automated remediation workflows</a:t>
            </a:r>
          </a:p>
          <a:p>
            <a:pPr lvl="0" indent="0" marL="0">
              <a:spcBef>
                <a:spcPts val="3000"/>
              </a:spcBef>
              <a:buNone/>
            </a:pPr>
            <a:r>
              <a:rPr b="1"/>
              <a:t>FedRAMP Authorization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Field</a:t>
                      </a:r>
                    </a:p>
                  </a:txBody>
                  <a:tcPr/>
                </a:tc>
                <a:tc>
                  <a:txBody>
                    <a:bodyPr/>
                    <a:lstStyle/>
                    <a:p>
                      <a:pPr lvl="0" indent="0" marL="0">
                        <a:buNone/>
                      </a:pPr>
                      <a:r>
                        <a:rPr/>
                        <a:t>Value</a:t>
                      </a:r>
                    </a:p>
                  </a:txBody>
                  <a:tcPr/>
                </a:tc>
              </a:tr>
              <a:tr h="0">
                <a:tc>
                  <a:txBody>
                    <a:bodyPr/>
                    <a:lstStyle/>
                    <a:p>
                      <a:pPr lvl="0" indent="0" marL="0">
                        <a:buNone/>
                      </a:pPr>
                      <a:r>
                        <a:rPr/>
                        <a:t>Package Type</a:t>
                      </a:r>
                    </a:p>
                  </a:txBody>
                </a:tc>
                <a:tc>
                  <a:txBody>
                    <a:bodyPr/>
                    <a:lstStyle/>
                    <a:p>
                      <a:pPr lvl="0" indent="0" marL="0">
                        <a:buNone/>
                      </a:pPr>
                      <a:r>
                        <a:rPr/>
                        <a:t>JAB P-ATO</a:t>
                      </a:r>
                    </a:p>
                  </a:txBody>
                </a:tc>
              </a:tr>
              <a:tr h="0">
                <a:tc>
                  <a:txBody>
                    <a:bodyPr/>
                    <a:lstStyle/>
                    <a:p>
                      <a:pPr lvl="0" indent="0" marL="0">
                        <a:buNone/>
                      </a:pPr>
                      <a:r>
                        <a:rPr/>
                        <a:t>Impact Level</a:t>
                      </a:r>
                    </a:p>
                  </a:txBody>
                </a:tc>
                <a:tc>
                  <a:txBody>
                    <a:bodyPr/>
                    <a:lstStyle/>
                    <a:p>
                      <a:pPr lvl="0" indent="0" marL="0">
                        <a:buNone/>
                      </a:pPr>
                      <a:r>
                        <a:rPr/>
                        <a:t>High</a:t>
                      </a:r>
                    </a:p>
                  </a:txBody>
                </a:tc>
              </a:tr>
              <a:tr h="0">
                <a:tc>
                  <a:txBody>
                    <a:bodyPr/>
                    <a:lstStyle/>
                    <a:p>
                      <a:pPr lvl="0" indent="0" marL="0">
                        <a:buNone/>
                      </a:pPr>
                      <a:r>
                        <a:rPr/>
                        <a:t>FedRAMP 20x Class</a:t>
                      </a:r>
                    </a:p>
                  </a:txBody>
                </a:tc>
                <a:tc>
                  <a:txBody>
                    <a:bodyPr/>
                    <a:lstStyle/>
                    <a:p>
                      <a:pPr lvl="0" indent="0" marL="0">
                        <a:buNone/>
                      </a:pPr>
                      <a:r>
                        <a:rPr/>
                        <a:t>Class C</a:t>
                      </a:r>
                    </a:p>
                  </a:txBody>
                </a:tc>
              </a:tr>
              <a:tr h="0">
                <a:tc>
                  <a:txBody>
                    <a:bodyPr/>
                    <a:lstStyle/>
                    <a:p>
                      <a:pPr lvl="0" indent="0" marL="0">
                        <a:buNone/>
                      </a:pPr>
                      <a:r>
                        <a:rPr/>
                        <a:t>Controls Assessed</a:t>
                      </a:r>
                    </a:p>
                  </a:txBody>
                </a:tc>
                <a:tc>
                  <a:txBody>
                    <a:bodyPr/>
                    <a:lstStyle/>
                    <a:p>
                      <a:pPr lvl="0" indent="0" marL="0">
                        <a:buNone/>
                      </a:pPr>
                      <a:r>
                        <a:rPr/>
                        <a:t>421</a:t>
                      </a:r>
                    </a:p>
                  </a:txBody>
                </a:tc>
              </a:tr>
              <a:tr h="0">
                <a:tc>
                  <a:txBody>
                    <a:bodyPr/>
                    <a:lstStyle/>
                    <a:p>
                      <a:pPr lvl="0" indent="0" marL="0">
                        <a:buNone/>
                      </a:pPr>
                      <a:r>
                        <a:rPr/>
                        <a:t>Framework</a:t>
                      </a:r>
                    </a:p>
                  </a:txBody>
                </a:tc>
                <a:tc>
                  <a:txBody>
                    <a:bodyPr/>
                    <a:lstStyle/>
                    <a:p>
                      <a:pPr lvl="0" indent="0" marL="0">
                        <a:buNone/>
                      </a:pPr>
                      <a:r>
                        <a:rPr/>
                        <a:t>NIST SP 800-53 Rev 5</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NIST Control Mappings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Control</a:t>
                      </a:r>
                    </a:p>
                  </a:txBody>
                  <a:tcPr/>
                </a:tc>
                <a:tc>
                  <a:txBody>
                    <a:bodyPr/>
                    <a:lstStyle/>
                    <a:p>
                      <a:pPr lvl="0" indent="0" marL="0">
                        <a:buNone/>
                      </a:pPr>
                      <a:r>
                        <a:rPr/>
                        <a:t>Function</a:t>
                      </a:r>
                    </a:p>
                  </a:txBody>
                  <a:tcPr/>
                </a:tc>
                <a:tc>
                  <a:txBody>
                    <a:bodyPr/>
                    <a:lstStyle/>
                    <a:p>
                      <a:pPr lvl="0" indent="0" marL="0">
                        <a:buNone/>
                      </a:pPr>
                      <a:r>
                        <a:rPr/>
                        <a:t>Evidence Source</a:t>
                      </a:r>
                    </a:p>
                  </a:txBody>
                  <a:tcPr/>
                </a:tc>
              </a:tr>
              <a:tr h="0">
                <a:tc>
                  <a:txBody>
                    <a:bodyPr/>
                    <a:lstStyle/>
                    <a:p>
                      <a:pPr lvl="0" indent="0" marL="0">
                        <a:buNone/>
                      </a:pPr>
                      <a:r>
                        <a:rPr/>
                        <a:t>IR-4</a:t>
                      </a:r>
                    </a:p>
                  </a:txBody>
                </a:tc>
                <a:tc>
                  <a:txBody>
                    <a:bodyPr/>
                    <a:lstStyle/>
                    <a:p>
                      <a:pPr lvl="0" indent="0" marL="0">
                        <a:buNone/>
                      </a:pPr>
                      <a:r>
                        <a:rPr/>
                        <a:t>Incident handling</a:t>
                      </a:r>
                    </a:p>
                  </a:txBody>
                </a:tc>
                <a:tc>
                  <a:txBody>
                    <a:bodyPr/>
                    <a:lstStyle/>
                    <a:p>
                      <a:pPr lvl="0" indent="0" marL="0">
                        <a:buNone/>
                      </a:pPr>
                      <a:r>
                        <a:rPr/>
                        <a:t>Incident audit trail</a:t>
                      </a:r>
                    </a:p>
                  </a:txBody>
                </a:tc>
              </a:tr>
              <a:tr h="0">
                <a:tc>
                  <a:txBody>
                    <a:bodyPr/>
                    <a:lstStyle/>
                    <a:p>
                      <a:pPr lvl="0" indent="0" marL="0">
                        <a:buNone/>
                      </a:pPr>
                      <a:r>
                        <a:rPr/>
                        <a:t>IR-5</a:t>
                      </a:r>
                    </a:p>
                  </a:txBody>
                </a:tc>
                <a:tc>
                  <a:txBody>
                    <a:bodyPr/>
                    <a:lstStyle/>
                    <a:p>
                      <a:pPr lvl="0" indent="0" marL="0">
                        <a:buNone/>
                      </a:pPr>
                      <a:r>
                        <a:rPr/>
                        <a:t>Incident monitoring</a:t>
                      </a:r>
                    </a:p>
                  </a:txBody>
                </a:tc>
                <a:tc>
                  <a:txBody>
                    <a:bodyPr/>
                    <a:lstStyle/>
                    <a:p>
                      <a:pPr lvl="0" indent="0" marL="0">
                        <a:buNone/>
                      </a:pPr>
                      <a:r>
                        <a:rPr/>
                        <a:t>PA dashboards, SLA logs</a:t>
                      </a:r>
                    </a:p>
                  </a:txBody>
                </a:tc>
              </a:tr>
              <a:tr h="0">
                <a:tc>
                  <a:txBody>
                    <a:bodyPr/>
                    <a:lstStyle/>
                    <a:p>
                      <a:pPr lvl="0" indent="0" marL="0">
                        <a:buNone/>
                      </a:pPr>
                      <a:r>
                        <a:rPr/>
                        <a:t>IR-6</a:t>
                      </a:r>
                    </a:p>
                  </a:txBody>
                </a:tc>
                <a:tc>
                  <a:txBody>
                    <a:bodyPr/>
                    <a:lstStyle/>
                    <a:p>
                      <a:pPr lvl="0" indent="0" marL="0">
                        <a:buNone/>
                      </a:pPr>
                      <a:r>
                        <a:rPr/>
                        <a:t>Incident reporting</a:t>
                      </a:r>
                    </a:p>
                  </a:txBody>
                </a:tc>
                <a:tc>
                  <a:txBody>
                    <a:bodyPr/>
                    <a:lstStyle/>
                    <a:p>
                      <a:pPr lvl="0" indent="0" marL="0">
                        <a:buNone/>
                      </a:pPr>
                      <a:r>
                        <a:rPr/>
                        <a:t>Notification engine logs</a:t>
                      </a:r>
                    </a:p>
                  </a:txBody>
                </a:tc>
              </a:tr>
              <a:tr h="0">
                <a:tc>
                  <a:txBody>
                    <a:bodyPr/>
                    <a:lstStyle/>
                    <a:p>
                      <a:pPr lvl="0" indent="0" marL="0">
                        <a:buNone/>
                      </a:pPr>
                      <a:r>
                        <a:rPr/>
                        <a:t>IR-8</a:t>
                      </a:r>
                    </a:p>
                  </a:txBody>
                </a:tc>
                <a:tc>
                  <a:txBody>
                    <a:bodyPr/>
                    <a:lstStyle/>
                    <a:p>
                      <a:pPr lvl="0" indent="0" marL="0">
                        <a:buNone/>
                      </a:pPr>
                      <a:r>
                        <a:rPr/>
                        <a:t>Incident response plan</a:t>
                      </a:r>
                    </a:p>
                  </a:txBody>
                </a:tc>
                <a:tc>
                  <a:txBody>
                    <a:bodyPr/>
                    <a:lstStyle/>
                    <a:p>
                      <a:pPr lvl="0" indent="0" marL="0">
                        <a:buNone/>
                      </a:pPr>
                      <a:r>
                        <a:rPr/>
                        <a:t>GRC policy version history</a:t>
                      </a:r>
                    </a:p>
                  </a:txBody>
                </a:tc>
              </a:tr>
              <a:tr h="0">
                <a:tc>
                  <a:txBody>
                    <a:bodyPr/>
                    <a:lstStyle/>
                    <a:p>
                      <a:pPr lvl="0" indent="0" marL="0">
                        <a:buNone/>
                      </a:pPr>
                      <a:r>
                        <a:rPr/>
                        <a:t>CM-3</a:t>
                      </a:r>
                    </a:p>
                  </a:txBody>
                </a:tc>
                <a:tc>
                  <a:txBody>
                    <a:bodyPr/>
                    <a:lstStyle/>
                    <a:p>
                      <a:pPr lvl="0" indent="0" marL="0">
                        <a:buNone/>
                      </a:pPr>
                      <a:r>
                        <a:rPr/>
                        <a:t>Change control</a:t>
                      </a:r>
                    </a:p>
                  </a:txBody>
                </a:tc>
                <a:tc>
                  <a:txBody>
                    <a:bodyPr/>
                    <a:lstStyle/>
                    <a:p>
                      <a:pPr lvl="0" indent="0" marL="0">
                        <a:buNone/>
                      </a:pPr>
                      <a:r>
                        <a:rPr/>
                        <a:t>CAB approvals, risk scoring</a:t>
                      </a:r>
                    </a:p>
                  </a:txBody>
                </a:tc>
              </a:tr>
              <a:tr h="0">
                <a:tc>
                  <a:txBody>
                    <a:bodyPr/>
                    <a:lstStyle/>
                    <a:p>
                      <a:pPr lvl="0" indent="0" marL="0">
                        <a:buNone/>
                      </a:pPr>
                      <a:r>
                        <a:rPr/>
                        <a:t>CM-8</a:t>
                      </a:r>
                    </a:p>
                  </a:txBody>
                </a:tc>
                <a:tc>
                  <a:txBody>
                    <a:bodyPr/>
                    <a:lstStyle/>
                    <a:p>
                      <a:pPr lvl="0" indent="0" marL="0">
                        <a:buNone/>
                      </a:pPr>
                      <a:r>
                        <a:rPr/>
                        <a:t>Asset inventory</a:t>
                      </a:r>
                    </a:p>
                  </a:txBody>
                </a:tc>
                <a:tc>
                  <a:txBody>
                    <a:bodyPr/>
                    <a:lstStyle/>
                    <a:p>
                      <a:pPr lvl="0" indent="0" marL="0">
                        <a:buNone/>
                      </a:pPr>
                      <a:r>
                        <a:rPr/>
                        <a:t>CMDB + Discovery</a:t>
                      </a:r>
                    </a:p>
                  </a:txBody>
                </a:tc>
              </a:tr>
              <a:tr h="0">
                <a:tc>
                  <a:txBody>
                    <a:bodyPr/>
                    <a:lstStyle/>
                    <a:p>
                      <a:pPr lvl="0" indent="0" marL="0">
                        <a:buNone/>
                      </a:pPr>
                      <a:r>
                        <a:rPr/>
                        <a:t>CA-7</a:t>
                      </a:r>
                    </a:p>
                  </a:txBody>
                </a:tc>
                <a:tc>
                  <a:txBody>
                    <a:bodyPr/>
                    <a:lstStyle/>
                    <a:p>
                      <a:pPr lvl="0" indent="0" marL="0">
                        <a:buNone/>
                      </a:pPr>
                      <a:r>
                        <a:rPr/>
                        <a:t>Continuous monitoring</a:t>
                      </a:r>
                    </a:p>
                  </a:txBody>
                </a:tc>
                <a:tc>
                  <a:txBody>
                    <a:bodyPr/>
                    <a:lstStyle/>
                    <a:p>
                      <a:pPr lvl="0" indent="0" marL="0">
                        <a:buNone/>
                      </a:pPr>
                      <a:r>
                        <a:rPr/>
                        <a:t>Continuous Authorization module</a:t>
                      </a:r>
                    </a:p>
                  </a:txBody>
                </a:tc>
              </a:tr>
              <a:tr h="0">
                <a:tc>
                  <a:txBody>
                    <a:bodyPr/>
                    <a:lstStyle/>
                    <a:p>
                      <a:pPr lvl="0" indent="0" marL="0">
                        <a:buNone/>
                      </a:pPr>
                      <a:r>
                        <a:rPr/>
                        <a:t>SA-9</a:t>
                      </a:r>
                    </a:p>
                  </a:txBody>
                </a:tc>
                <a:tc>
                  <a:txBody>
                    <a:bodyPr/>
                    <a:lstStyle/>
                    <a:p>
                      <a:pPr lvl="0" indent="0" marL="0">
                        <a:buNone/>
                      </a:pPr>
                      <a:r>
                        <a:rPr/>
                        <a:t>External system services</a:t>
                      </a:r>
                    </a:p>
                  </a:txBody>
                </a:tc>
                <a:tc>
                  <a:txBody>
                    <a:bodyPr/>
                    <a:lstStyle/>
                    <a:p>
                      <a:pPr lvl="0" indent="0" marL="0">
                        <a:buNone/>
                      </a:pPr>
                      <a:r>
                        <a:rPr/>
                        <a:t>Vendor Risk Management</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Integration Bindings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Target System</a:t>
                      </a:r>
                    </a:p>
                  </a:txBody>
                  <a:tcPr/>
                </a:tc>
                <a:tc>
                  <a:txBody>
                    <a:bodyPr/>
                    <a:lstStyle/>
                    <a:p>
                      <a:pPr lvl="0" indent="0" marL="0">
                        <a:buNone/>
                      </a:pPr>
                      <a:r>
                        <a:rPr/>
                        <a:t>Mechanism</a:t>
                      </a:r>
                    </a:p>
                  </a:txBody>
                  <a:tcPr/>
                </a:tc>
                <a:tc>
                  <a:txBody>
                    <a:bodyPr/>
                    <a:lstStyle/>
                    <a:p>
                      <a:pPr lvl="0" indent="0" marL="0">
                        <a:buNone/>
                      </a:pPr>
                      <a:r>
                        <a:rPr/>
                        <a:t>Control Supported</a:t>
                      </a:r>
                    </a:p>
                  </a:txBody>
                  <a:tcPr/>
                </a:tc>
              </a:tr>
              <a:tr h="0">
                <a:tc>
                  <a:txBody>
                    <a:bodyPr/>
                    <a:lstStyle/>
                    <a:p>
                      <a:pPr lvl="0" indent="0" marL="0">
                        <a:buNone/>
                      </a:pPr>
                      <a:r>
                        <a:rPr/>
                        <a:t>Infoblox IPAM</a:t>
                      </a:r>
                    </a:p>
                  </a:txBody>
                </a:tc>
                <a:tc>
                  <a:txBody>
                    <a:bodyPr/>
                    <a:lstStyle/>
                    <a:p>
                      <a:pPr lvl="0" indent="0" marL="0">
                        <a:buNone/>
                      </a:pPr>
                      <a:r>
                        <a:rPr/>
                        <a:t>CMDB import</a:t>
                      </a:r>
                    </a:p>
                  </a:txBody>
                </a:tc>
                <a:tc>
                  <a:txBody>
                    <a:bodyPr/>
                    <a:lstStyle/>
                    <a:p>
                      <a:pPr lvl="0" indent="0" marL="0">
                        <a:buNone/>
                      </a:pPr>
                      <a:r>
                        <a:rPr/>
                        <a:t>CM-8</a:t>
                      </a:r>
                    </a:p>
                  </a:txBody>
                </a:tc>
              </a:tr>
              <a:tr h="0">
                <a:tc>
                  <a:txBody>
                    <a:bodyPr/>
                    <a:lstStyle/>
                    <a:p>
                      <a:pPr lvl="0" indent="0" marL="0">
                        <a:buNone/>
                      </a:pPr>
                      <a:r>
                        <a:rPr/>
                        <a:t>CyberArk</a:t>
                      </a:r>
                    </a:p>
                  </a:txBody>
                </a:tc>
                <a:tc>
                  <a:txBody>
                    <a:bodyPr/>
                    <a:lstStyle/>
                    <a:p>
                      <a:pPr lvl="0" indent="0" marL="0">
                        <a:buNone/>
                      </a:pPr>
                      <a:r>
                        <a:rPr/>
                        <a:t>Privileged session events</a:t>
                      </a:r>
                    </a:p>
                  </a:txBody>
                </a:tc>
                <a:tc>
                  <a:txBody>
                    <a:bodyPr/>
                    <a:lstStyle/>
                    <a:p>
                      <a:pPr lvl="0" indent="0" marL="0">
                        <a:buNone/>
                      </a:pPr>
                      <a:r>
                        <a:rPr/>
                        <a:t>IR-4</a:t>
                      </a:r>
                    </a:p>
                  </a:txBody>
                </a:tc>
              </a:tr>
              <a:tr h="0">
                <a:tc>
                  <a:txBody>
                    <a:bodyPr/>
                    <a:lstStyle/>
                    <a:p>
                      <a:pPr lvl="0" indent="0" marL="0">
                        <a:buNone/>
                      </a:pPr>
                      <a:r>
                        <a:rPr/>
                        <a:t>Microsoft Sentinel</a:t>
                      </a:r>
                    </a:p>
                  </a:txBody>
                </a:tc>
                <a:tc>
                  <a:txBody>
                    <a:bodyPr/>
                    <a:lstStyle/>
                    <a:p>
                      <a:pPr lvl="0" indent="0" marL="0">
                        <a:buNone/>
                      </a:pPr>
                      <a:r>
                        <a:rPr/>
                        <a:t>Incident sync</a:t>
                      </a:r>
                    </a:p>
                  </a:txBody>
                </a:tc>
                <a:tc>
                  <a:txBody>
                    <a:bodyPr/>
                    <a:lstStyle/>
                    <a:p>
                      <a:pPr lvl="0" indent="0" marL="0">
                        <a:buNone/>
                      </a:pPr>
                      <a:r>
                        <a:rPr/>
                        <a:t>IR-5</a:t>
                      </a:r>
                    </a:p>
                  </a:txBody>
                </a:tc>
              </a:tr>
              <a:tr h="0">
                <a:tc>
                  <a:txBody>
                    <a:bodyPr/>
                    <a:lstStyle/>
                    <a:p>
                      <a:pPr lvl="0" indent="0" marL="0">
                        <a:buNone/>
                      </a:pPr>
                      <a:r>
                        <a:rPr/>
                        <a:t>Microsoft Intune</a:t>
                      </a:r>
                    </a:p>
                  </a:txBody>
                </a:tc>
                <a:tc>
                  <a:txBody>
                    <a:bodyPr/>
                    <a:lstStyle/>
                    <a:p>
                      <a:pPr lvl="0" indent="0" marL="0">
                        <a:buNone/>
                      </a:pPr>
                      <a:r>
                        <a:rPr/>
                        <a:t>Device inventory</a:t>
                      </a:r>
                    </a:p>
                  </a:txBody>
                </a:tc>
                <a:tc>
                  <a:txBody>
                    <a:bodyPr/>
                    <a:lstStyle/>
                    <a:p>
                      <a:pPr lvl="0" indent="0" marL="0">
                        <a:buNone/>
                      </a:pPr>
                      <a:r>
                        <a:rPr/>
                        <a:t>CM-8</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6.3 Microsoft Intune — M365 GCC High</a:t>
            </a:r>
          </a:p>
          <a:p>
            <a:pPr lvl="0" indent="0" marL="0">
              <a:spcBef>
                <a:spcPts val="3000"/>
              </a:spcBef>
              <a:buNone/>
            </a:pPr>
            <a:r>
              <a:rPr b="1"/>
              <a:t>Role</a:t>
            </a:r>
          </a:p>
          <a:p>
            <a:pPr lvl="0" indent="0" marL="0">
              <a:buNone/>
            </a:pPr>
            <a:r>
              <a:rPr/>
              <a:t>Intune is the device trust gatekeeper for the Identity Plane and the configuration enforcement engine for the Management Plane.</a:t>
            </a:r>
          </a:p>
          <a:p>
            <a:pPr lvl="0" indent="0" marL="0">
              <a:spcBef>
                <a:spcPts val="3000"/>
              </a:spcBef>
              <a:buNone/>
            </a:pPr>
            <a:r>
              <a:rPr b="1"/>
              <a:t>FedRAMP Authorization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Field</a:t>
                      </a:r>
                    </a:p>
                  </a:txBody>
                  <a:tcPr/>
                </a:tc>
                <a:tc>
                  <a:txBody>
                    <a:bodyPr/>
                    <a:lstStyle/>
                    <a:p>
                      <a:pPr lvl="0" indent="0" marL="0">
                        <a:buNone/>
                      </a:pPr>
                      <a:r>
                        <a:rPr/>
                        <a:t>Value</a:t>
                      </a:r>
                    </a:p>
                  </a:txBody>
                  <a:tcPr/>
                </a:tc>
              </a:tr>
              <a:tr h="0">
                <a:tc>
                  <a:txBody>
                    <a:bodyPr/>
                    <a:lstStyle/>
                    <a:p>
                      <a:pPr lvl="0" indent="0" marL="0">
                        <a:buNone/>
                      </a:pPr>
                      <a:r>
                        <a:rPr/>
                        <a:t>Package Type</a:t>
                      </a:r>
                    </a:p>
                  </a:txBody>
                </a:tc>
                <a:tc>
                  <a:txBody>
                    <a:bodyPr/>
                    <a:lstStyle/>
                    <a:p>
                      <a:pPr lvl="0" indent="0" marL="0">
                        <a:buNone/>
                      </a:pPr>
                      <a:r>
                        <a:rPr/>
                        <a:t>Agency ATO</a:t>
                      </a:r>
                    </a:p>
                  </a:txBody>
                </a:tc>
              </a:tr>
              <a:tr h="0">
                <a:tc>
                  <a:txBody>
                    <a:bodyPr/>
                    <a:lstStyle/>
                    <a:p>
                      <a:pPr lvl="0" indent="0" marL="0">
                        <a:buNone/>
                      </a:pPr>
                      <a:r>
                        <a:rPr/>
                        <a:t>Impact Level</a:t>
                      </a:r>
                    </a:p>
                  </a:txBody>
                </a:tc>
                <a:tc>
                  <a:txBody>
                    <a:bodyPr/>
                    <a:lstStyle/>
                    <a:p>
                      <a:pPr lvl="0" indent="0" marL="0">
                        <a:buNone/>
                      </a:pPr>
                      <a:r>
                        <a:rPr/>
                        <a:t>High</a:t>
                      </a:r>
                    </a:p>
                  </a:txBody>
                </a:tc>
              </a:tr>
              <a:tr h="0">
                <a:tc>
                  <a:txBody>
                    <a:bodyPr/>
                    <a:lstStyle/>
                    <a:p>
                      <a:pPr lvl="0" indent="0" marL="0">
                        <a:buNone/>
                      </a:pPr>
                      <a:r>
                        <a:rPr/>
                        <a:t>FedRAMP 20x Class</a:t>
                      </a:r>
                    </a:p>
                  </a:txBody>
                </a:tc>
                <a:tc>
                  <a:txBody>
                    <a:bodyPr/>
                    <a:lstStyle/>
                    <a:p>
                      <a:pPr lvl="0" indent="0" marL="0">
                        <a:buNone/>
                      </a:pPr>
                      <a:r>
                        <a:rPr/>
                        <a:t>Class C</a:t>
                      </a:r>
                    </a:p>
                  </a:txBody>
                </a:tc>
              </a:tr>
              <a:tr h="0">
                <a:tc>
                  <a:txBody>
                    <a:bodyPr/>
                    <a:lstStyle/>
                    <a:p>
                      <a:pPr lvl="0" indent="0" marL="0">
                        <a:buNone/>
                      </a:pPr>
                      <a:r>
                        <a:rPr/>
                        <a:t>Parent Package</a:t>
                      </a:r>
                    </a:p>
                  </a:txBody>
                </a:tc>
                <a:tc>
                  <a:txBody>
                    <a:bodyPr/>
                    <a:lstStyle/>
                    <a:p>
                      <a:pPr lvl="0" indent="0" marL="0">
                        <a:buNone/>
                      </a:pPr>
                      <a:r>
                        <a:rPr/>
                        <a:t>Microsoft 365 GCC High</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NIST Control Mappings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Control</a:t>
                      </a:r>
                    </a:p>
                  </a:txBody>
                  <a:tcPr/>
                </a:tc>
                <a:tc>
                  <a:txBody>
                    <a:bodyPr/>
                    <a:lstStyle/>
                    <a:p>
                      <a:pPr lvl="0" indent="0" marL="0">
                        <a:buNone/>
                      </a:pPr>
                      <a:r>
                        <a:rPr/>
                        <a:t>Function</a:t>
                      </a:r>
                    </a:p>
                  </a:txBody>
                  <a:tcPr/>
                </a:tc>
                <a:tc>
                  <a:txBody>
                    <a:bodyPr/>
                    <a:lstStyle/>
                    <a:p>
                      <a:pPr lvl="0" indent="0" marL="0">
                        <a:buNone/>
                      </a:pPr>
                      <a:r>
                        <a:rPr/>
                        <a:t>Evidence Source</a:t>
                      </a:r>
                    </a:p>
                  </a:txBody>
                  <a:tcPr/>
                </a:tc>
              </a:tr>
              <a:tr h="0">
                <a:tc>
                  <a:txBody>
                    <a:bodyPr/>
                    <a:lstStyle/>
                    <a:p>
                      <a:pPr lvl="0" indent="0" marL="0">
                        <a:buNone/>
                      </a:pPr>
                      <a:r>
                        <a:rPr/>
                        <a:t>CM-2</a:t>
                      </a:r>
                    </a:p>
                  </a:txBody>
                </a:tc>
                <a:tc>
                  <a:txBody>
                    <a:bodyPr/>
                    <a:lstStyle/>
                    <a:p>
                      <a:pPr lvl="0" indent="0" marL="0">
                        <a:buNone/>
                      </a:pPr>
                      <a:r>
                        <a:rPr/>
                        <a:t>Baseline configuration</a:t>
                      </a:r>
                    </a:p>
                  </a:txBody>
                </a:tc>
                <a:tc>
                  <a:txBody>
                    <a:bodyPr/>
                    <a:lstStyle/>
                    <a:p>
                      <a:pPr lvl="0" indent="0" marL="0">
                        <a:buNone/>
                      </a:pPr>
                      <a:r>
                        <a:rPr/>
                        <a:t>Configuration profiles</a:t>
                      </a:r>
                    </a:p>
                  </a:txBody>
                </a:tc>
              </a:tr>
              <a:tr h="0">
                <a:tc>
                  <a:txBody>
                    <a:bodyPr/>
                    <a:lstStyle/>
                    <a:p>
                      <a:pPr lvl="0" indent="0" marL="0">
                        <a:buNone/>
                      </a:pPr>
                      <a:r>
                        <a:rPr/>
                        <a:t>CM-6</a:t>
                      </a:r>
                    </a:p>
                  </a:txBody>
                </a:tc>
                <a:tc>
                  <a:txBody>
                    <a:bodyPr/>
                    <a:lstStyle/>
                    <a:p>
                      <a:pPr lvl="0" indent="0" marL="0">
                        <a:buNone/>
                      </a:pPr>
                      <a:r>
                        <a:rPr/>
                        <a:t>Configuration settings</a:t>
                      </a:r>
                    </a:p>
                  </a:txBody>
                </a:tc>
                <a:tc>
                  <a:txBody>
                    <a:bodyPr/>
                    <a:lstStyle/>
                    <a:p>
                      <a:pPr lvl="0" indent="0" marL="0">
                        <a:buNone/>
                      </a:pPr>
                      <a:r>
                        <a:rPr/>
                        <a:t>Security baselines</a:t>
                      </a:r>
                    </a:p>
                  </a:txBody>
                </a:tc>
              </a:tr>
              <a:tr h="0">
                <a:tc>
                  <a:txBody>
                    <a:bodyPr/>
                    <a:lstStyle/>
                    <a:p>
                      <a:pPr lvl="0" indent="0" marL="0">
                        <a:buNone/>
                      </a:pPr>
                      <a:r>
                        <a:rPr/>
                        <a:t>CM-8</a:t>
                      </a:r>
                    </a:p>
                  </a:txBody>
                </a:tc>
                <a:tc>
                  <a:txBody>
                    <a:bodyPr/>
                    <a:lstStyle/>
                    <a:p>
                      <a:pPr lvl="0" indent="0" marL="0">
                        <a:buNone/>
                      </a:pPr>
                      <a:r>
                        <a:rPr/>
                        <a:t>Hardware/software inventory</a:t>
                      </a:r>
                    </a:p>
                  </a:txBody>
                </a:tc>
                <a:tc>
                  <a:txBody>
                    <a:bodyPr/>
                    <a:lstStyle/>
                    <a:p>
                      <a:pPr lvl="0" indent="0" marL="0">
                        <a:buNone/>
                      </a:pPr>
                      <a:r>
                        <a:rPr/>
                        <a:t>Device inventory API</a:t>
                      </a:r>
                    </a:p>
                  </a:txBody>
                </a:tc>
              </a:tr>
              <a:tr h="0">
                <a:tc>
                  <a:txBody>
                    <a:bodyPr/>
                    <a:lstStyle/>
                    <a:p>
                      <a:pPr lvl="0" indent="0" marL="0">
                        <a:buNone/>
                      </a:pPr>
                      <a:r>
                        <a:rPr/>
                        <a:t>CM-7</a:t>
                      </a:r>
                    </a:p>
                  </a:txBody>
                </a:tc>
                <a:tc>
                  <a:txBody>
                    <a:bodyPr/>
                    <a:lstStyle/>
                    <a:p>
                      <a:pPr lvl="0" indent="0" marL="0">
                        <a:buNone/>
                      </a:pPr>
                      <a:r>
                        <a:rPr/>
                        <a:t>Least functionality</a:t>
                      </a:r>
                    </a:p>
                  </a:txBody>
                </a:tc>
                <a:tc>
                  <a:txBody>
                    <a:bodyPr/>
                    <a:lstStyle/>
                    <a:p>
                      <a:pPr lvl="0" indent="0" marL="0">
                        <a:buNone/>
                      </a:pPr>
                      <a:r>
                        <a:rPr/>
                        <a:t>App protection policies</a:t>
                      </a:r>
                    </a:p>
                  </a:txBody>
                </a:tc>
              </a:tr>
              <a:tr h="0">
                <a:tc>
                  <a:txBody>
                    <a:bodyPr/>
                    <a:lstStyle/>
                    <a:p>
                      <a:pPr lvl="0" indent="0" marL="0">
                        <a:buNone/>
                      </a:pPr>
                      <a:r>
                        <a:rPr/>
                        <a:t>IA-3</a:t>
                      </a:r>
                    </a:p>
                  </a:txBody>
                </a:tc>
                <a:tc>
                  <a:txBody>
                    <a:bodyPr/>
                    <a:lstStyle/>
                    <a:p>
                      <a:pPr lvl="0" indent="0" marL="0">
                        <a:buNone/>
                      </a:pPr>
                      <a:r>
                        <a:rPr/>
                        <a:t>Device identification</a:t>
                      </a:r>
                    </a:p>
                  </a:txBody>
                </a:tc>
                <a:tc>
                  <a:txBody>
                    <a:bodyPr/>
                    <a:lstStyle/>
                    <a:p>
                      <a:pPr lvl="0" indent="0" marL="0">
                        <a:buNone/>
                      </a:pPr>
                      <a:r>
                        <a:rPr/>
                        <a:t>Autopilot + certificates</a:t>
                      </a:r>
                    </a:p>
                  </a:txBody>
                </a:tc>
              </a:tr>
              <a:tr h="0">
                <a:tc>
                  <a:txBody>
                    <a:bodyPr/>
                    <a:lstStyle/>
                    <a:p>
                      <a:pPr lvl="0" indent="0" marL="0">
                        <a:buNone/>
                      </a:pPr>
                      <a:r>
                        <a:rPr/>
                        <a:t>AC-19</a:t>
                      </a:r>
                    </a:p>
                  </a:txBody>
                </a:tc>
                <a:tc>
                  <a:txBody>
                    <a:bodyPr/>
                    <a:lstStyle/>
                    <a:p>
                      <a:pPr lvl="0" indent="0" marL="0">
                        <a:buNone/>
                      </a:pPr>
                      <a:r>
                        <a:rPr/>
                        <a:t>Mobile device access control</a:t>
                      </a:r>
                    </a:p>
                  </a:txBody>
                </a:tc>
                <a:tc>
                  <a:txBody>
                    <a:bodyPr/>
                    <a:lstStyle/>
                    <a:p>
                      <a:pPr lvl="0" indent="0" marL="0">
                        <a:buNone/>
                      </a:pPr>
                      <a:r>
                        <a:rPr/>
                        <a:t>Compliance policies</a:t>
                      </a:r>
                    </a:p>
                  </a:txBody>
                </a:tc>
              </a:tr>
              <a:tr h="0">
                <a:tc>
                  <a:txBody>
                    <a:bodyPr/>
                    <a:lstStyle/>
                    <a:p>
                      <a:pPr lvl="0" indent="0" marL="0">
                        <a:buNone/>
                      </a:pPr>
                      <a:r>
                        <a:rPr/>
                        <a:t>SI-2</a:t>
                      </a:r>
                    </a:p>
                  </a:txBody>
                </a:tc>
                <a:tc>
                  <a:txBody>
                    <a:bodyPr/>
                    <a:lstStyle/>
                    <a:p>
                      <a:pPr lvl="0" indent="0" marL="0">
                        <a:buNone/>
                      </a:pPr>
                      <a:r>
                        <a:rPr/>
                        <a:t>Flaw remediation</a:t>
                      </a:r>
                    </a:p>
                  </a:txBody>
                </a:tc>
                <a:tc>
                  <a:txBody>
                    <a:bodyPr/>
                    <a:lstStyle/>
                    <a:p>
                      <a:pPr lvl="0" indent="0" marL="0">
                        <a:buNone/>
                      </a:pPr>
                      <a:r>
                        <a:rPr/>
                        <a:t>Update rings</a:t>
                      </a:r>
                    </a:p>
                  </a:txBody>
                </a:tc>
              </a:tr>
              <a:tr h="0">
                <a:tc>
                  <a:txBody>
                    <a:bodyPr/>
                    <a:lstStyle/>
                    <a:p>
                      <a:pPr lvl="0" indent="0" marL="0">
                        <a:buNone/>
                      </a:pPr>
                      <a:r>
                        <a:rPr/>
                        <a:t>SC-28</a:t>
                      </a:r>
                    </a:p>
                  </a:txBody>
                </a:tc>
                <a:tc>
                  <a:txBody>
                    <a:bodyPr/>
                    <a:lstStyle/>
                    <a:p>
                      <a:pPr lvl="0" indent="0" marL="0">
                        <a:buNone/>
                      </a:pPr>
                      <a:r>
                        <a:rPr/>
                        <a:t>Encryption at rest</a:t>
                      </a:r>
                    </a:p>
                  </a:txBody>
                </a:tc>
                <a:tc>
                  <a:txBody>
                    <a:bodyPr/>
                    <a:lstStyle/>
                    <a:p>
                      <a:pPr lvl="0" indent="0" marL="0">
                        <a:buNone/>
                      </a:pPr>
                      <a:r>
                        <a:rPr/>
                        <a:t>BitLocker/FileVault status</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Integration Bindings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Target System</a:t>
                      </a:r>
                    </a:p>
                  </a:txBody>
                  <a:tcPr/>
                </a:tc>
                <a:tc>
                  <a:txBody>
                    <a:bodyPr/>
                    <a:lstStyle/>
                    <a:p>
                      <a:pPr lvl="0" indent="0" marL="0">
                        <a:buNone/>
                      </a:pPr>
                      <a:r>
                        <a:rPr/>
                        <a:t>Mechanism</a:t>
                      </a:r>
                    </a:p>
                  </a:txBody>
                  <a:tcPr/>
                </a:tc>
                <a:tc>
                  <a:txBody>
                    <a:bodyPr/>
                    <a:lstStyle/>
                    <a:p>
                      <a:pPr lvl="0" indent="0" marL="0">
                        <a:buNone/>
                      </a:pPr>
                      <a:r>
                        <a:rPr/>
                        <a:t>Control Supported</a:t>
                      </a:r>
                    </a:p>
                  </a:txBody>
                  <a:tcPr/>
                </a:tc>
              </a:tr>
              <a:tr h="0">
                <a:tc>
                  <a:txBody>
                    <a:bodyPr/>
                    <a:lstStyle/>
                    <a:p>
                      <a:pPr lvl="0" indent="0" marL="0">
                        <a:buNone/>
                      </a:pPr>
                      <a:r>
                        <a:rPr/>
                        <a:t>Entra ID</a:t>
                      </a:r>
                    </a:p>
                  </a:txBody>
                </a:tc>
                <a:tc>
                  <a:txBody>
                    <a:bodyPr/>
                    <a:lstStyle/>
                    <a:p>
                      <a:pPr lvl="0" indent="0" marL="0">
                        <a:buNone/>
                      </a:pPr>
                      <a:r>
                        <a:rPr/>
                        <a:t>Compliance → Conditional Access</a:t>
                      </a:r>
                    </a:p>
                  </a:txBody>
                </a:tc>
                <a:tc>
                  <a:txBody>
                    <a:bodyPr/>
                    <a:lstStyle/>
                    <a:p>
                      <a:pPr lvl="0" indent="0" marL="0">
                        <a:buNone/>
                      </a:pPr>
                      <a:r>
                        <a:rPr/>
                        <a:t>AC-19</a:t>
                      </a:r>
                    </a:p>
                  </a:txBody>
                </a:tc>
              </a:tr>
              <a:tr h="0">
                <a:tc>
                  <a:txBody>
                    <a:bodyPr/>
                    <a:lstStyle/>
                    <a:p>
                      <a:pPr lvl="0" indent="0" marL="0">
                        <a:buNone/>
                      </a:pPr>
                      <a:r>
                        <a:rPr/>
                        <a:t>Defender for Endpoint</a:t>
                      </a:r>
                    </a:p>
                  </a:txBody>
                </a:tc>
                <a:tc>
                  <a:txBody>
                    <a:bodyPr/>
                    <a:lstStyle/>
                    <a:p>
                      <a:pPr lvl="0" indent="0" marL="0">
                        <a:buNone/>
                      </a:pPr>
                      <a:r>
                        <a:rPr/>
                        <a:t>Risk score → compliance</a:t>
                      </a:r>
                    </a:p>
                  </a:txBody>
                </a:tc>
                <a:tc>
                  <a:txBody>
                    <a:bodyPr/>
                    <a:lstStyle/>
                    <a:p>
                      <a:pPr lvl="0" indent="0" marL="0">
                        <a:buNone/>
                      </a:pPr>
                      <a:r>
                        <a:rPr/>
                        <a:t>SI-2, IA-3</a:t>
                      </a:r>
                    </a:p>
                  </a:txBody>
                </a:tc>
              </a:tr>
              <a:tr h="0">
                <a:tc>
                  <a:txBody>
                    <a:bodyPr/>
                    <a:lstStyle/>
                    <a:p>
                      <a:pPr lvl="0" indent="0" marL="0">
                        <a:buNone/>
                      </a:pPr>
                      <a:r>
                        <a:rPr/>
                        <a:t>ServiceNow CMDB</a:t>
                      </a:r>
                    </a:p>
                  </a:txBody>
                </a:tc>
                <a:tc>
                  <a:txBody>
                    <a:bodyPr/>
                    <a:lstStyle/>
                    <a:p>
                      <a:pPr lvl="0" indent="0" marL="0">
                        <a:buNone/>
                      </a:pPr>
                      <a:r>
                        <a:rPr/>
                        <a:t>Inventory export</a:t>
                      </a:r>
                    </a:p>
                  </a:txBody>
                </a:tc>
                <a:tc>
                  <a:txBody>
                    <a:bodyPr/>
                    <a:lstStyle/>
                    <a:p>
                      <a:pPr lvl="0" indent="0" marL="0">
                        <a:buNone/>
                      </a:pPr>
                      <a:r>
                        <a:rPr/>
                        <a:t>CM-8</a:t>
                      </a:r>
                    </a:p>
                  </a:txBody>
                </a:tc>
              </a:tr>
              <a:tr h="0">
                <a:tc>
                  <a:txBody>
                    <a:bodyPr/>
                    <a:lstStyle/>
                    <a:p>
                      <a:pPr lvl="0" indent="0" marL="0">
                        <a:buNone/>
                      </a:pPr>
                      <a:r>
                        <a:rPr/>
                        <a:t>Cisco SD-WAN</a:t>
                      </a:r>
                    </a:p>
                  </a:txBody>
                </a:tc>
                <a:tc>
                  <a:txBody>
                    <a:bodyPr/>
                    <a:lstStyle/>
                    <a:p>
                      <a:pPr lvl="0" indent="0" marL="0">
                        <a:buNone/>
                      </a:pPr>
                      <a:r>
                        <a:rPr/>
                        <a:t>Device posture → network access</a:t>
                      </a:r>
                    </a:p>
                  </a:txBody>
                </a:tc>
                <a:tc>
                  <a:txBody>
                    <a:bodyPr/>
                    <a:lstStyle/>
                    <a:p>
                      <a:pPr lvl="0" indent="0" marL="0">
                        <a:buNone/>
                      </a:pPr>
                      <a:r>
                        <a:rPr/>
                        <a:t>AC-4</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Runtime Model</a:t>
            </a:r>
          </a:p>
        </p:txBody>
      </p:sp>
      <p:sp>
        <p:nvSpPr>
          <p:cNvPr id="3" name="Content Placeholder 2"/>
          <p:cNvSpPr>
            <a:spLocks noGrp="1"/>
          </p:cNvSpPr>
          <p:nvPr>
            <p:ph idx="1"/>
          </p:nvPr>
        </p:nvSpPr>
        <p:spPr/>
        <p:txBody>
          <a:bodyPr/>
          <a:lstStyle/>
          <a:p>
            <a:pPr lvl="0" indent="0" marL="0">
              <a:buNone/>
            </a:pPr>
            <a:r>
              <a:rPr/>
              <a:t>The Management Plane enforces continuous authorization across all UIAO conversations.</a:t>
            </a:r>
          </a:p>
          <a:p>
            <a:pPr lvl="0" indent="0" marL="0">
              <a:spcBef>
                <a:spcPts val="3000"/>
              </a:spcBef>
              <a:buNone/>
            </a:pPr>
            <a:r>
              <a:rPr b="1"/>
              <a:t>7.1 Continuous Evaluation</a:t>
            </a:r>
          </a:p>
          <a:p>
            <a:pPr lvl="0"/>
            <a:r>
              <a:rPr/>
              <a:t>Device posture</a:t>
            </a:r>
          </a:p>
          <a:p>
            <a:pPr lvl="0"/>
            <a:r>
              <a:rPr/>
              <a:t>Certificate validity</a:t>
            </a:r>
          </a:p>
          <a:p>
            <a:pPr lvl="0"/>
            <a:r>
              <a:rPr/>
              <a:t>Configuration baseline</a:t>
            </a:r>
          </a:p>
          <a:p>
            <a:pPr lvl="0"/>
            <a:r>
              <a:rPr/>
              <a:t>Identity assurance</a:t>
            </a:r>
          </a:p>
          <a:p>
            <a:pPr lvl="0"/>
            <a:r>
              <a:rPr/>
              <a:t>Overlay integrity</a:t>
            </a:r>
          </a:p>
          <a:p>
            <a:pPr lvl="0" indent="0" marL="0">
              <a:spcBef>
                <a:spcPts val="3000"/>
              </a:spcBef>
              <a:buNone/>
            </a:pPr>
            <a:r>
              <a:rPr b="1"/>
              <a:t>7.2 Drift Detection</a:t>
            </a:r>
          </a:p>
          <a:p>
            <a:pPr lvl="0" indent="0" marL="0">
              <a:buNone/>
            </a:pPr>
            <a:r>
              <a:rPr/>
              <a:t>Drift is detected when:</a:t>
            </a:r>
          </a:p>
          <a:p>
            <a:pPr lvl="0"/>
            <a:r>
              <a:rPr/>
              <a:t>A device falls out of compliance</a:t>
            </a:r>
          </a:p>
          <a:p>
            <a:pPr lvl="0"/>
            <a:r>
              <a:rPr/>
              <a:t>A configuration baseline changes</a:t>
            </a:r>
          </a:p>
          <a:p>
            <a:pPr lvl="0"/>
            <a:r>
              <a:rPr/>
              <a:t>An overlay tunnel deviates from the approved baseline</a:t>
            </a:r>
          </a:p>
          <a:p>
            <a:pPr lvl="0"/>
            <a:r>
              <a:rPr/>
              <a:t>IPAM records diverge from CMDB</a:t>
            </a:r>
          </a:p>
          <a:p>
            <a:pPr lvl="0"/>
            <a:r>
              <a:rPr/>
              <a:t>Certificates expire or mismatch</a:t>
            </a:r>
          </a:p>
          <a:p>
            <a:pPr lvl="0" indent="0" marL="0">
              <a:spcBef>
                <a:spcPts val="3000"/>
              </a:spcBef>
              <a:buNone/>
            </a:pPr>
            <a:r>
              <a:rPr b="1"/>
              <a:t>7.3 Automated Remediation</a:t>
            </a:r>
          </a:p>
          <a:p>
            <a:pPr lvl="0" indent="0" marL="0">
              <a:buNone/>
            </a:pPr>
            <a:r>
              <a:rPr/>
              <a:t>Triggered via:</a:t>
            </a:r>
          </a:p>
          <a:p>
            <a:pPr lvl="0"/>
            <a:r>
              <a:rPr/>
              <a:t>ServiceNow change workflows</a:t>
            </a:r>
          </a:p>
          <a:p>
            <a:pPr lvl="0"/>
            <a:r>
              <a:rPr/>
              <a:t>Intune compliance enforcement</a:t>
            </a:r>
          </a:p>
          <a:p>
            <a:pPr lvl="0"/>
            <a:r>
              <a:rPr/>
              <a:t>Conditional Access policies</a:t>
            </a:r>
          </a:p>
          <a:p>
            <a:pPr lvl="0"/>
            <a:r>
              <a:rPr/>
              <a:t>Certificate renewal pipelines</a:t>
            </a:r>
          </a:p>
          <a:p>
            <a:pPr lvl="0"/>
            <a:r>
              <a:rPr/>
              <a:t>IPAM reconciliation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8. Compliance Mapping</a:t>
            </a:r>
          </a:p>
        </p:txBody>
      </p:sp>
      <p:sp>
        <p:nvSpPr>
          <p:cNvPr id="3" name="Content Placeholder 2"/>
          <p:cNvSpPr>
            <a:spLocks noGrp="1"/>
          </p:cNvSpPr>
          <p:nvPr>
            <p:ph idx="1"/>
          </p:nvPr>
        </p:nvSpPr>
        <p:spPr/>
        <p:txBody>
          <a:bodyPr/>
          <a:lstStyle/>
          <a:p>
            <a:pPr lvl="0" indent="0" marL="0">
              <a:buNone/>
            </a:pPr>
            <a:r>
              <a:rPr/>
              <a:t>The Management Plane provides evidence for:</a:t>
            </a:r>
          </a:p>
          <a:p>
            <a:pPr lvl="0"/>
            <a:r>
              <a:rPr/>
              <a:t>CM-2, CM-3, CM-6, CM-7, CM-8</a:t>
            </a:r>
          </a:p>
          <a:p>
            <a:pPr lvl="0"/>
            <a:r>
              <a:rPr/>
              <a:t>IR-4, IR-5, IR-6, IR-8</a:t>
            </a:r>
          </a:p>
          <a:p>
            <a:pPr lvl="0"/>
            <a:r>
              <a:rPr/>
              <a:t>AC-19</a:t>
            </a:r>
          </a:p>
          <a:p>
            <a:pPr lvl="0"/>
            <a:r>
              <a:rPr/>
              <a:t>IA-3</a:t>
            </a:r>
          </a:p>
          <a:p>
            <a:pPr lvl="0"/>
            <a:r>
              <a:rPr/>
              <a:t>CA-7</a:t>
            </a:r>
          </a:p>
          <a:p>
            <a:pPr lvl="0"/>
            <a:r>
              <a:rPr/>
              <a:t>SC-28</a:t>
            </a:r>
          </a:p>
          <a:p>
            <a:pPr lvl="0" indent="0" marL="0">
              <a:buNone/>
            </a:pPr>
            <a:r>
              <a:rPr/>
              <a:t>It also generates KSIs:</a:t>
            </a:r>
          </a:p>
          <a:p>
            <a:pPr lvl="0"/>
            <a:r>
              <a:rPr/>
              <a:t>KSI-CMT (baseline drift)</a:t>
            </a:r>
          </a:p>
          <a:p>
            <a:pPr lvl="0"/>
            <a:r>
              <a:rPr/>
              <a:t>KSI-PIY (inventory)</a:t>
            </a:r>
          </a:p>
          <a:p>
            <a:pPr lvl="0"/>
            <a:r>
              <a:rPr/>
              <a:t>KSI-IAM (identity/device trust)</a:t>
            </a:r>
          </a:p>
          <a:p>
            <a:pPr lvl="0"/>
            <a:r>
              <a:rPr/>
              <a:t>KSI-MLA (telemetry)</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9. Dependencies &amp; Sequencing</a:t>
            </a:r>
          </a:p>
        </p:txBody>
      </p:sp>
      <p:sp>
        <p:nvSpPr>
          <p:cNvPr id="3" name="Content Placeholder 2"/>
          <p:cNvSpPr>
            <a:spLocks noGrp="1"/>
          </p:cNvSpPr>
          <p:nvPr>
            <p:ph idx="1"/>
          </p:nvPr>
        </p:nvSpPr>
        <p:spPr/>
        <p:txBody>
          <a:bodyPr/>
          <a:lstStyle/>
          <a:p>
            <a:pPr lvl="0" indent="0" marL="0">
              <a:spcBef>
                <a:spcPts val="3000"/>
              </a:spcBef>
              <a:buNone/>
            </a:pPr>
            <a:r>
              <a:rPr b="1"/>
              <a:t>Upstream</a:t>
            </a:r>
          </a:p>
          <a:p>
            <a:pPr lvl="0"/>
            <a:r>
              <a:rPr/>
              <a:t>Identity modernization</a:t>
            </a:r>
          </a:p>
          <a:p>
            <a:pPr lvl="0"/>
            <a:r>
              <a:rPr/>
              <a:t>IPAM modernization</a:t>
            </a:r>
          </a:p>
          <a:p>
            <a:pPr lvl="0"/>
            <a:r>
              <a:rPr/>
              <a:t>SD-WAN overlay deployment</a:t>
            </a:r>
          </a:p>
          <a:p>
            <a:pPr lvl="0" indent="0" marL="0">
              <a:spcBef>
                <a:spcPts val="3000"/>
              </a:spcBef>
              <a:buNone/>
            </a:pPr>
            <a:r>
              <a:rPr b="1"/>
              <a:t>Downstream</a:t>
            </a:r>
          </a:p>
          <a:p>
            <a:pPr lvl="0"/>
            <a:r>
              <a:rPr/>
              <a:t>TIC 3.0 Cloud &amp; Branch packages</a:t>
            </a:r>
          </a:p>
          <a:p>
            <a:pPr lvl="0"/>
            <a:r>
              <a:rPr/>
              <a:t>FedRAMP 20x evidence generation</a:t>
            </a:r>
          </a:p>
          <a:p>
            <a:pPr lvl="0"/>
            <a:r>
              <a:rPr/>
              <a:t>CDM/CLAW integration</a:t>
            </a:r>
          </a:p>
          <a:p>
            <a:pPr lvl="0" indent="0" marL="0">
              <a:spcBef>
                <a:spcPts val="3000"/>
              </a:spcBef>
              <a:buNone/>
            </a:pPr>
            <a:r>
              <a:rPr b="1"/>
              <a:t>Timeline Alignment</a:t>
            </a:r>
          </a:p>
          <a:p>
            <a:pPr lvl="0" indent="0" marL="0">
              <a:buNone/>
            </a:pPr>
            <a:r>
              <a:rPr/>
              <a:t>This document aligns with Months 2-6 of the modernization timeline.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10. Governance &amp; Drift Controls</a:t>
            </a:r>
          </a:p>
        </p:txBody>
      </p:sp>
      <p:sp>
        <p:nvSpPr>
          <p:cNvPr id="4" name="Text Placeholder 3"/>
          <p:cNvSpPr>
            <a:spLocks noGrp="1"/>
          </p:cNvSpPr>
          <p:nvPr>
            <p:ph idx="2" sz="half" type="body"/>
          </p:nvPr>
        </p:nvSpPr>
        <p:spPr/>
        <p:txBody>
          <a:bodyPr/>
          <a:lstStyle/>
          <a:p>
            <a:pPr lvl="0" indent="0" marL="0">
              <a:spcBef>
                <a:spcPts val="3000"/>
              </a:spcBef>
              <a:buNone/>
            </a:pPr>
            <a:r>
              <a:rPr b="1"/>
              <a:t>Source of Authority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Domain</a:t>
                      </a:r>
                    </a:p>
                  </a:txBody>
                  <a:tcPr/>
                </a:tc>
                <a:tc>
                  <a:txBody>
                    <a:bodyPr/>
                    <a:lstStyle/>
                    <a:p>
                      <a:pPr lvl="0" indent="0" marL="0">
                        <a:buNone/>
                      </a:pPr>
                      <a:r>
                        <a:rPr/>
                        <a:t>Authority</a:t>
                      </a:r>
                    </a:p>
                  </a:txBody>
                  <a:tcPr/>
                </a:tc>
              </a:tr>
              <a:tr h="0">
                <a:tc>
                  <a:txBody>
                    <a:bodyPr/>
                    <a:lstStyle/>
                    <a:p>
                      <a:pPr lvl="0" indent="0" marL="0">
                        <a:buNone/>
                      </a:pPr>
                      <a:r>
                        <a:rPr/>
                        <a:t>Identity lifecycle</a:t>
                      </a:r>
                    </a:p>
                  </a:txBody>
                </a:tc>
                <a:tc>
                  <a:txBody>
                    <a:bodyPr/>
                    <a:lstStyle/>
                    <a:p>
                      <a:pPr lvl="0" indent="0" marL="0">
                        <a:buNone/>
                      </a:pPr>
                      <a:r>
                        <a:rPr/>
                        <a:t>HR</a:t>
                      </a:r>
                    </a:p>
                  </a:txBody>
                </a:tc>
              </a:tr>
              <a:tr h="0">
                <a:tc>
                  <a:txBody>
                    <a:bodyPr/>
                    <a:lstStyle/>
                    <a:p>
                      <a:pPr lvl="0" indent="0" marL="0">
                        <a:buNone/>
                      </a:pPr>
                      <a:r>
                        <a:rPr/>
                        <a:t>Addressing</a:t>
                      </a:r>
                    </a:p>
                  </a:txBody>
                </a:tc>
                <a:tc>
                  <a:txBody>
                    <a:bodyPr/>
                    <a:lstStyle/>
                    <a:p>
                      <a:pPr lvl="0" indent="0" marL="0">
                        <a:buNone/>
                      </a:pPr>
                      <a:r>
                        <a:rPr/>
                        <a:t>Network architecture</a:t>
                      </a:r>
                    </a:p>
                  </a:txBody>
                </a:tc>
              </a:tr>
              <a:tr h="0">
                <a:tc>
                  <a:txBody>
                    <a:bodyPr/>
                    <a:lstStyle/>
                    <a:p>
                      <a:pPr lvl="0" indent="0" marL="0">
                        <a:buNone/>
                      </a:pPr>
                      <a:r>
                        <a:rPr/>
                        <a:t>Certificate trust</a:t>
                      </a:r>
                    </a:p>
                  </a:txBody>
                </a:tc>
                <a:tc>
                  <a:txBody>
                    <a:bodyPr/>
                    <a:lstStyle/>
                    <a:p>
                      <a:pPr lvl="0" indent="0" marL="0">
                        <a:buNone/>
                      </a:pPr>
                      <a:r>
                        <a:rPr/>
                        <a:t>PKI</a:t>
                      </a:r>
                    </a:p>
                  </a:txBody>
                </a:tc>
              </a:tr>
              <a:tr h="0">
                <a:tc>
                  <a:txBody>
                    <a:bodyPr/>
                    <a:lstStyle/>
                    <a:p>
                      <a:pPr lvl="0" indent="0" marL="0">
                        <a:buNone/>
                      </a:pPr>
                      <a:r>
                        <a:rPr/>
                        <a:t>Configuration baselines</a:t>
                      </a:r>
                    </a:p>
                  </a:txBody>
                </a:tc>
                <a:tc>
                  <a:txBody>
                    <a:bodyPr/>
                    <a:lstStyle/>
                    <a:p>
                      <a:pPr lvl="0" indent="0" marL="0">
                        <a:buNone/>
                      </a:pPr>
                      <a:r>
                        <a:rPr/>
                        <a:t>System owners</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Drift Detection</a:t>
            </a:r>
          </a:p>
          <a:p>
            <a:pPr lvl="0"/>
            <a:r>
              <a:rPr/>
              <a:t>CMDB reconciliation</a:t>
            </a:r>
          </a:p>
          <a:p>
            <a:pPr lvl="0"/>
            <a:r>
              <a:rPr/>
              <a:t>Intune compliance</a:t>
            </a:r>
          </a:p>
          <a:p>
            <a:pPr lvl="0"/>
            <a:r>
              <a:rPr/>
              <a:t>SD-WAN overlay validation</a:t>
            </a:r>
          </a:p>
          <a:p>
            <a:pPr lvl="0"/>
            <a:r>
              <a:rPr/>
              <a:t>IPAM reconciliation</a:t>
            </a:r>
          </a:p>
          <a:p>
            <a:pPr lvl="0" indent="0" marL="0">
              <a:spcBef>
                <a:spcPts val="3000"/>
              </a:spcBef>
              <a:buNone/>
            </a:pPr>
            <a:r>
              <a:rPr b="1"/>
              <a:t>Remediation Workflow</a:t>
            </a:r>
          </a:p>
          <a:p>
            <a:pPr lvl="0"/>
            <a:r>
              <a:rPr/>
              <a:t>Automated ServiceNow change</a:t>
            </a:r>
          </a:p>
          <a:p>
            <a:pPr lvl="0"/>
            <a:r>
              <a:rPr/>
              <a:t>Conditional Access enforcement</a:t>
            </a:r>
          </a:p>
          <a:p>
            <a:pPr lvl="0"/>
            <a:r>
              <a:rPr/>
              <a:t>Certificate renewal</a:t>
            </a:r>
          </a:p>
          <a:p>
            <a:pPr lvl="0"/>
            <a:r>
              <a:rPr/>
              <a:t>IPAM correction</a:t>
            </a:r>
          </a:p>
          <a:p>
            <a:pPr lvl="0" indent="0" marL="0">
              <a:spcBef>
                <a:spcPts val="3000"/>
              </a:spcBef>
              <a:buNone/>
            </a:pPr>
            <a:r>
              <a:rPr b="1"/>
              <a:t>Audit Anchors</a:t>
            </a:r>
          </a:p>
          <a:p>
            <a:pPr lvl="0"/>
            <a:r>
              <a:rPr/>
              <a:t>Entra ID logs</a:t>
            </a:r>
          </a:p>
          <a:p>
            <a:pPr lvl="0"/>
            <a:r>
              <a:rPr/>
              <a:t>Infoblox API records</a:t>
            </a:r>
          </a:p>
          <a:p>
            <a:pPr lvl="0"/>
            <a:r>
              <a:rPr/>
              <a:t>SD-WAN telemetry</a:t>
            </a:r>
          </a:p>
          <a:p>
            <a:pPr lvl="0"/>
            <a:r>
              <a:rPr/>
              <a:t>Intune compliance reports</a:t>
            </a:r>
          </a:p>
          <a:p>
            <a:pPr lvl="0"/>
            <a:r>
              <a:rPr/>
              <a:t>ServiceNow audit trails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11. Appendices</a:t>
            </a:r>
          </a:p>
        </p:txBody>
      </p:sp>
      <p:sp>
        <p:nvSpPr>
          <p:cNvPr id="3" name="Content Placeholder 2"/>
          <p:cNvSpPr>
            <a:spLocks noGrp="1"/>
          </p:cNvSpPr>
          <p:nvPr>
            <p:ph idx="1"/>
          </p:nvPr>
        </p:nvSpPr>
        <p:spPr/>
        <p:txBody>
          <a:bodyPr/>
          <a:lstStyle/>
          <a:p>
            <a:pPr lvl="0" indent="0" marL="0">
              <a:spcBef>
                <a:spcPts val="3000"/>
              </a:spcBef>
              <a:buNone/>
            </a:pPr>
            <a:r>
              <a:rPr b="1"/>
              <a:t>Appendix A: Definitions</a:t>
            </a:r>
          </a:p>
          <a:p>
            <a:pPr lvl="0" indent="0" marL="0">
              <a:buNone/>
            </a:pPr>
            <a:r>
              <a:rPr i="1"/>
              <a:t>See </a:t>
            </a:r>
            <a:r>
              <a:rPr i="1">
                <a:latin typeface="Courier"/>
              </a:rPr>
              <a:t>docs/glossary.md</a:t>
            </a:r>
          </a:p>
          <a:p>
            <a:pPr lvl="0" indent="0" marL="0">
              <a:spcBef>
                <a:spcPts val="3000"/>
              </a:spcBef>
              <a:buNone/>
            </a:pPr>
            <a:r>
              <a:rPr b="1"/>
              <a:t>Appendix B: Tables</a:t>
            </a:r>
          </a:p>
          <a:p>
            <a:pPr lvl="0" indent="0" marL="0">
              <a:buNone/>
            </a:pPr>
            <a:r>
              <a:rPr i="1"/>
              <a:t>ServiceNow NIST mappings are in Section 6.2. Intune NIST mappings are in Section 6.3. Integration bindings are in Sections 6.2 and 6.3.</a:t>
            </a:r>
          </a:p>
          <a:p>
            <a:pPr lvl="0" indent="0" marL="0">
              <a:spcBef>
                <a:spcPts val="3000"/>
              </a:spcBef>
              <a:buNone/>
            </a:pPr>
            <a:r>
              <a:rPr b="1"/>
              <a:t>Appendix C: Evidence Sources</a:t>
            </a:r>
          </a:p>
          <a:p>
            <a:pPr lvl="0" indent="0" marL="0">
              <a:buNone/>
            </a:pPr>
            <a:r>
              <a:rPr i="1"/>
              <a:t>See </a:t>
            </a:r>
            <a:r>
              <a:rPr i="1">
                <a:latin typeface="Courier"/>
              </a:rPr>
              <a:t>data/parameters.yml</a:t>
            </a:r>
            <a:r>
              <a:rPr i="1"/>
              <a:t> and control-library entries for evidence source catalogs.</a:t>
            </a:r>
          </a:p>
          <a:p>
            <a:pPr lvl="0" indent="0" marL="0">
              <a:spcBef>
                <a:spcPts val="3000"/>
              </a:spcBef>
              <a:buNone/>
            </a:pPr>
            <a:r>
              <a:rPr b="1"/>
              <a:t>Appendix D: Integration Maps</a:t>
            </a:r>
          </a:p>
          <a:p>
            <a:pPr lvl="0" indent="0" marL="0">
              <a:buNone/>
            </a:pPr>
            <a:r>
              <a:rPr i="1"/>
              <a:t>ServiceNow and Intune integration bindings are defined in Sections 6.2 and 6.3.</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 Revision History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Version</a:t>
                      </a:r>
                    </a:p>
                  </a:txBody>
                  <a:tcPr/>
                </a:tc>
                <a:tc>
                  <a:txBody>
                    <a:bodyPr/>
                    <a:lstStyle/>
                    <a:p>
                      <a:pPr lvl="0" indent="0" marL="0">
                        <a:buNone/>
                      </a:pPr>
                      <a:r>
                        <a:rPr/>
                        <a:t>Date</a:t>
                      </a:r>
                    </a:p>
                  </a:txBody>
                  <a:tcPr/>
                </a:tc>
                <a:tc>
                  <a:txBody>
                    <a:bodyPr/>
                    <a:lstStyle/>
                    <a:p>
                      <a:pPr lvl="0" indent="0" marL="0">
                        <a:buNone/>
                      </a:pPr>
                      <a:r>
                        <a:rPr/>
                        <a:t>Author</a:t>
                      </a:r>
                    </a:p>
                  </a:txBody>
                  <a:tcPr/>
                </a:tc>
                <a:tc>
                  <a:txBody>
                    <a:bodyPr/>
                    <a:lstStyle/>
                    <a:p>
                      <a:pPr lvl="0" indent="0" marL="0">
                        <a:buNone/>
                      </a:pPr>
                      <a:r>
                        <a:rPr/>
                        <a:t>Summary of Changes</a:t>
                      </a:r>
                    </a:p>
                  </a:txBody>
                  <a:tcPr/>
                </a:tc>
              </a:tr>
              <a:tr h="0">
                <a:tc>
                  <a:txBody>
                    <a:bodyPr/>
                    <a:lstStyle/>
                    <a:p>
                      <a:pPr lvl="0" indent="0" marL="0">
                        <a:buNone/>
                      </a:pPr>
                      <a:r>
                        <a:rPr/>
                        <a:t>1.0</a:t>
                      </a:r>
                    </a:p>
                  </a:txBody>
                </a:tc>
                <a:tc>
                  <a:txBody>
                    <a:bodyPr/>
                    <a:lstStyle/>
                    <a:p>
                      <a:pPr lvl="0" indent="0" marL="0">
                        <a:buNone/>
                      </a:pPr>
                      <a:r>
                        <a:rPr/>
                        <a:t>2026-03</a:t>
                      </a:r>
                    </a:p>
                  </a:txBody>
                </a:tc>
                <a:tc>
                  <a:txBody>
                    <a:bodyPr/>
                    <a:lstStyle/>
                    <a:p>
                      <a:pPr lvl="0" indent="0" marL="0">
                        <a:buNone/>
                      </a:pPr>
                      <a:r>
                        <a:rPr/>
                        <a:t>UIAO Canon Engine</a:t>
                      </a:r>
                    </a:p>
                  </a:txBody>
                </a:tc>
                <a:tc>
                  <a:txBody>
                    <a:bodyPr/>
                    <a:lstStyle/>
                    <a:p>
                      <a:pPr lvl="0" indent="0" marL="0">
                        <a:buNone/>
                      </a:pPr>
                      <a:r>
                        <a:rPr/>
                        <a:t>Initial canonical release</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05 Managementstack</dc:title>
  <dc:creator>UIAO Modernization Program</dc:creator>
  <cp:keywords/>
  <dcterms:created xsi:type="dcterms:W3CDTF">2026-03-31T17:05:33Z</dcterms:created>
  <dcterms:modified xsi:type="dcterms:W3CDTF">2026-03-31T17:05:33Z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rossref">
    <vt:lpwstr/>
  </property>
  <property fmtid="{D5CDD505-2E9C-101B-9397-08002B2CF9AE}" pid="6" name="date">
    <vt:lpwstr>March 31, 2026</vt:lpwstr>
  </property>
  <property fmtid="{D5CDD505-2E9C-101B-9397-08002B2CF9AE}" pid="7" name="date-format">
    <vt:lpwstr>MMMM D, YYYY</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mermaid">
    <vt:lpwstr/>
  </property>
  <property fmtid="{D5CDD505-2E9C-101B-9397-08002B2CF9AE}" pid="13" name="toc-title">
    <vt:lpwstr>Table of contents</vt:lpwstr>
  </property>
</Properties>
</file>