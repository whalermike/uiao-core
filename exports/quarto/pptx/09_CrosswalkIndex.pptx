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09 Crosswalkindex</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Crosswalk Index</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Index and Reference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index for all crosswalks, mappings, and compliance references within the Unified Identity-Addressing-Overlay (UIAO) canon. It ensures that every mapping — FedRAMP, NIST, TIC 3.0, SCuBA, KSI, and control-plane alignment — is discoverable, consistent, and traceable across the entire documentation 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Index of all crosswalks in the UIAO canon</a:t>
            </a:r>
          </a:p>
          <a:p>
            <a:pPr lvl="0"/>
            <a:r>
              <a:rPr/>
              <a:t>Mapping references across FedRAMP, NIST, TIC 3.0, SCuBA, and KSI</a:t>
            </a:r>
          </a:p>
          <a:p>
            <a:pPr lvl="0"/>
            <a:r>
              <a:rPr/>
              <a:t>Control-plane alignment references</a:t>
            </a:r>
          </a:p>
          <a:p>
            <a:pPr lvl="0"/>
            <a:r>
              <a:rPr/>
              <a:t>Document-to-document linkage</a:t>
            </a:r>
          </a:p>
          <a:p>
            <a:pPr lvl="0"/>
            <a:r>
              <a:rPr/>
              <a:t>Evidence source index</a:t>
            </a:r>
          </a:p>
          <a:p>
            <a:pPr lvl="0" indent="0" marL="0">
              <a:spcBef>
                <a:spcPts val="3000"/>
              </a:spcBef>
              <a:buNone/>
            </a:pPr>
            <a:r>
              <a:rPr b="1"/>
              <a:t>Excluded</a:t>
            </a:r>
          </a:p>
          <a:p>
            <a:pPr lvl="0"/>
            <a:r>
              <a:rPr/>
              <a:t>Full crosswalk content (see </a:t>
            </a:r>
            <a:r>
              <a:rPr>
                <a:latin typeface="Courier"/>
              </a:rPr>
              <a:t>03_FedRAMP20x_Crosswalk.md</a:t>
            </a:r>
            <a:r>
              <a:rPr/>
              <a:t>)</a:t>
            </a:r>
          </a:p>
          <a:p>
            <a:pPr lvl="0"/>
            <a:r>
              <a:rPr/>
              <a:t>Detailed compliance narratives</a:t>
            </a:r>
          </a:p>
          <a:p>
            <a:pPr lvl="0"/>
            <a:r>
              <a:rPr/>
              <a:t>Project plans and timelines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index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Crosswalk Role</a:t>
                      </a:r>
                    </a:p>
                  </a:txBody>
                  <a:tcPr/>
                </a:tc>
              </a:tr>
              <a:tr h="0">
                <a:tc>
                  <a:txBody>
                    <a:bodyPr/>
                    <a:lstStyle/>
                    <a:p>
                      <a:pPr lvl="0" indent="0" marL="0">
                        <a:buNone/>
                      </a:pPr>
                      <a:r>
                        <a:rPr/>
                        <a:t>Identity</a:t>
                      </a:r>
                    </a:p>
                  </a:txBody>
                </a:tc>
                <a:tc>
                  <a:txBody>
                    <a:bodyPr/>
                    <a:lstStyle/>
                    <a:p>
                      <a:pPr lvl="0" indent="0" marL="0">
                        <a:buNone/>
                      </a:pPr>
                      <a:r>
                        <a:rPr/>
                        <a:t>NIST 800-63, IA-2, AC-2, ICAM governance</a:t>
                      </a:r>
                    </a:p>
                  </a:txBody>
                </a:tc>
              </a:tr>
              <a:tr h="0">
                <a:tc>
                  <a:txBody>
                    <a:bodyPr/>
                    <a:lstStyle/>
                    <a:p>
                      <a:pPr lvl="0" indent="0" marL="0">
                        <a:buNone/>
                      </a:pPr>
                      <a:r>
                        <a:rPr/>
                        <a:t>Network</a:t>
                      </a:r>
                    </a:p>
                  </a:txBody>
                </a:tc>
                <a:tc>
                  <a:txBody>
                    <a:bodyPr/>
                    <a:lstStyle/>
                    <a:p>
                      <a:pPr lvl="0" indent="0" marL="0">
                        <a:buNone/>
                      </a:pPr>
                      <a:r>
                        <a:rPr/>
                        <a:t>AC-4, SC-7, TIC 3.0 Cloud and Branch</a:t>
                      </a:r>
                    </a:p>
                  </a:txBody>
                </a:tc>
              </a:tr>
              <a:tr h="0">
                <a:tc>
                  <a:txBody>
                    <a:bodyPr/>
                    <a:lstStyle/>
                    <a:p>
                      <a:pPr lvl="0" indent="0" marL="0">
                        <a:buNone/>
                      </a:pPr>
                      <a:r>
                        <a:rPr/>
                        <a:t>Addressing</a:t>
                      </a:r>
                    </a:p>
                  </a:txBody>
                </a:tc>
                <a:tc>
                  <a:txBody>
                    <a:bodyPr/>
                    <a:lstStyle/>
                    <a:p>
                      <a:pPr lvl="0" indent="0" marL="0">
                        <a:buNone/>
                      </a:pPr>
                      <a:r>
                        <a:rPr/>
                        <a:t>CM-8, AC-4, deterministic IPAM</a:t>
                      </a:r>
                    </a:p>
                  </a:txBody>
                </a:tc>
              </a:tr>
              <a:tr h="0">
                <a:tc>
                  <a:txBody>
                    <a:bodyPr/>
                    <a:lstStyle/>
                    <a:p>
                      <a:pPr lvl="0" indent="0" marL="0">
                        <a:buNone/>
                      </a:pPr>
                      <a:r>
                        <a:rPr/>
                        <a:t>Telemetry and Location</a:t>
                      </a:r>
                    </a:p>
                  </a:txBody>
                </a:tc>
                <a:tc>
                  <a:txBody>
                    <a:bodyPr/>
                    <a:lstStyle/>
                    <a:p>
                      <a:pPr lvl="0" indent="0" marL="0">
                        <a:buNone/>
                      </a:pPr>
                      <a:r>
                        <a:rPr/>
                        <a:t>CA-7, SI-4, KSI-MLA</a:t>
                      </a:r>
                    </a:p>
                  </a:txBody>
                </a:tc>
              </a:tr>
              <a:tr h="0">
                <a:tc>
                  <a:txBody>
                    <a:bodyPr/>
                    <a:lstStyle/>
                    <a:p>
                      <a:pPr lvl="0" indent="0" marL="0">
                        <a:buNone/>
                      </a:pPr>
                      <a:r>
                        <a:rPr/>
                        <a:t>Security and Compliance</a:t>
                      </a:r>
                    </a:p>
                  </a:txBody>
                </a:tc>
                <a:tc>
                  <a:txBody>
                    <a:bodyPr/>
                    <a:lstStyle/>
                    <a:p>
                      <a:pPr lvl="0" indent="0" marL="0">
                        <a:buNone/>
                      </a:pPr>
                      <a:r>
                        <a:rPr/>
                        <a:t>FedRAMP 20x, Zero Trust, SCuBA</a:t>
                      </a:r>
                    </a:p>
                  </a:txBody>
                </a:tc>
              </a:tr>
              <a:tr h="0">
                <a:tc>
                  <a:txBody>
                    <a:bodyPr/>
                    <a:lstStyle/>
                    <a:p>
                      <a:pPr lvl="0" indent="0" marL="0">
                        <a:buNone/>
                      </a:pPr>
                      <a:r>
                        <a:rPr/>
                        <a:t>Management</a:t>
                      </a:r>
                    </a:p>
                  </a:txBody>
                </a:tc>
                <a:tc>
                  <a:txBody>
                    <a:bodyPr/>
                    <a:lstStyle/>
                    <a:p>
                      <a:pPr lvl="0" indent="0" marL="0">
                        <a:buNone/>
                      </a:pPr>
                      <a:r>
                        <a:rPr/>
                        <a:t>CM-2, CM-3, CM-6, CM-8, CA-7</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index ensures each plane’s compliance responsibilities are traceable.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Index is governed by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appear consistently across all crosswalks.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Crosswalk Categories</a:t>
            </a:r>
          </a:p>
          <a:p>
            <a:pPr lvl="0" indent="0" marL="0">
              <a:buNone/>
            </a:pPr>
            <a:r>
              <a:rPr/>
              <a:t>UIAO crosswalks fall into five canonical categories:</a:t>
            </a:r>
          </a:p>
          <a:p>
            <a:pPr lvl="0"/>
            <a:r>
              <a:rPr b="1"/>
              <a:t>FedRAMP 20x Crosswalk</a:t>
            </a:r>
          </a:p>
          <a:p>
            <a:pPr lvl="0"/>
            <a:r>
              <a:rPr b="1"/>
              <a:t>NIST SP 800-53 Rev 5 Mapping</a:t>
            </a:r>
          </a:p>
          <a:p>
            <a:pPr lvl="0"/>
            <a:r>
              <a:rPr b="1"/>
              <a:t>TIC 3.0 Cloud and Branch Alignment</a:t>
            </a:r>
          </a:p>
          <a:p>
            <a:pPr lvl="0"/>
            <a:r>
              <a:rPr b="1"/>
              <a:t>SCuBA (M365) Hardening Alignment</a:t>
            </a:r>
          </a:p>
          <a:p>
            <a:pPr lvl="0"/>
            <a:r>
              <a:rPr b="1"/>
              <a:t>KSI (Key Security Indicator) Framework</a:t>
            </a:r>
          </a:p>
          <a:p>
            <a:pPr lvl="0" indent="0" marL="0">
              <a:buNone/>
            </a:pPr>
            <a:r>
              <a:rPr/>
              <a:t>This index links each category to its authoritative document.</a:t>
            </a:r>
          </a:p>
          <a:p>
            <a:pPr lvl="0" indent="0" marL="0">
              <a:spcBef>
                <a:spcPts val="3000"/>
              </a:spcBef>
              <a:buNone/>
            </a:pPr>
            <a:r>
              <a:rPr b="1"/>
              <a:t>6.2 Document-Level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03_FedRAMP20x_Crosswalk.md</a:t>
                      </a:r>
                    </a:p>
                  </a:txBody>
                </a:tc>
                <a:tc>
                  <a:txBody>
                    <a:bodyPr/>
                    <a:lstStyle/>
                    <a:p>
                      <a:pPr lvl="0" indent="0" marL="0">
                        <a:buNone/>
                      </a:pPr>
                      <a:r>
                        <a:rPr/>
                        <a:t>FedRAMP 20x to UIAO</a:t>
                      </a:r>
                    </a:p>
                  </a:txBody>
                </a:tc>
                <a:tc>
                  <a:txBody>
                    <a:bodyPr/>
                    <a:lstStyle/>
                    <a:p>
                      <a:pPr lvl="0" indent="0" marL="0">
                        <a:buNone/>
                      </a:pPr>
                      <a:r>
                        <a:rPr/>
                        <a:t>Primary crosswalk</a:t>
                      </a:r>
                    </a:p>
                  </a:txBody>
                </a:tc>
              </a:tr>
              <a:tr h="0">
                <a:tc>
                  <a:txBody>
                    <a:bodyPr/>
                    <a:lstStyle/>
                    <a:p>
                      <a:pPr lvl="0" indent="0" marL="0">
                        <a:buNone/>
                      </a:pPr>
                      <a:r>
                        <a:rPr>
                          <a:latin typeface="Courier"/>
                        </a:rPr>
                        <a:t>04_FedRAMP20x_Phase2_Summary.md</a:t>
                      </a:r>
                    </a:p>
                  </a:txBody>
                </a:tc>
                <a:tc>
                  <a:txBody>
                    <a:bodyPr/>
                    <a:lstStyle/>
                    <a:p>
                      <a:pPr lvl="0" indent="0" marL="0">
                        <a:buNone/>
                      </a:pPr>
                      <a:r>
                        <a:rPr/>
                        <a:t>FedRAMP 20x to Modernization</a:t>
                      </a:r>
                    </a:p>
                  </a:txBody>
                </a:tc>
                <a:tc>
                  <a:txBody>
                    <a:bodyPr/>
                    <a:lstStyle/>
                    <a:p>
                      <a:pPr lvl="0" indent="0" marL="0">
                        <a:buNone/>
                      </a:pPr>
                      <a:r>
                        <a:rPr/>
                        <a:t>Summary mapping</a:t>
                      </a:r>
                    </a:p>
                  </a:txBody>
                </a:tc>
              </a:tr>
              <a:tr h="0">
                <a:tc>
                  <a:txBody>
                    <a:bodyPr/>
                    <a:lstStyle/>
                    <a:p>
                      <a:pPr lvl="0" indent="0" marL="0">
                        <a:buNone/>
                      </a:pPr>
                      <a:r>
                        <a:rPr>
                          <a:latin typeface="Courier"/>
                        </a:rPr>
                        <a:t>05_ManagementStack.md</a:t>
                      </a:r>
                    </a:p>
                  </a:txBody>
                </a:tc>
                <a:tc>
                  <a:txBody>
                    <a:bodyPr/>
                    <a:lstStyle/>
                    <a:p>
                      <a:pPr lvl="0" indent="0" marL="0">
                        <a:buNone/>
                      </a:pPr>
                      <a:r>
                        <a:rPr/>
                        <a:t>NIST CM/IR/AC/IA to ServiceNow/Intune</a:t>
                      </a:r>
                    </a:p>
                  </a:txBody>
                </a:tc>
                <a:tc>
                  <a:txBody>
                    <a:bodyPr/>
                    <a:lstStyle/>
                    <a:p>
                      <a:pPr lvl="0" indent="0" marL="0">
                        <a:buNone/>
                      </a:pPr>
                      <a:r>
                        <a:rPr/>
                        <a:t>Management mappings</a:t>
                      </a:r>
                    </a:p>
                  </a:txBody>
                </a:tc>
              </a:tr>
              <a:tr h="0">
                <a:tc>
                  <a:txBody>
                    <a:bodyPr/>
                    <a:lstStyle/>
                    <a:p>
                      <a:pPr lvl="0" indent="0" marL="0">
                        <a:buNone/>
                      </a:pPr>
                      <a:r>
                        <a:rPr>
                          <a:latin typeface="Courier"/>
                        </a:rPr>
                        <a:t>00_ControlPlaneArchitecture.md</a:t>
                      </a:r>
                    </a:p>
                  </a:txBody>
                </a:tc>
                <a:tc>
                  <a:txBody>
                    <a:bodyPr/>
                    <a:lstStyle/>
                    <a:p>
                      <a:pPr lvl="0" indent="0" marL="0">
                        <a:buNone/>
                      </a:pPr>
                      <a:r>
                        <a:rPr/>
                        <a:t>Control planes to NIST</a:t>
                      </a:r>
                    </a:p>
                  </a:txBody>
                </a:tc>
                <a:tc>
                  <a:txBody>
                    <a:bodyPr/>
                    <a:lstStyle/>
                    <a:p>
                      <a:pPr lvl="0" indent="0" marL="0">
                        <a:buNone/>
                      </a:pPr>
                      <a:r>
                        <a:rPr/>
                        <a:t>Plane-level mapping</a:t>
                      </a:r>
                    </a:p>
                  </a:txBody>
                </a:tc>
              </a:tr>
              <a:tr h="0">
                <a:tc>
                  <a:txBody>
                    <a:bodyPr/>
                    <a:lstStyle/>
                    <a:p>
                      <a:pPr lvl="0" indent="0" marL="0">
                        <a:buNone/>
                      </a:pPr>
                      <a:r>
                        <a:rPr>
                          <a:latin typeface="Courier"/>
                        </a:rPr>
                        <a:t>01_UnifiedArchitecture.md</a:t>
                      </a:r>
                    </a:p>
                  </a:txBody>
                </a:tc>
                <a:tc>
                  <a:txBody>
                    <a:bodyPr/>
                    <a:lstStyle/>
                    <a:p>
                      <a:pPr lvl="0" indent="0" marL="0">
                        <a:buNone/>
                      </a:pPr>
                      <a:r>
                        <a:rPr/>
                        <a:t>Core concepts to NIST</a:t>
                      </a:r>
                    </a:p>
                  </a:txBody>
                </a:tc>
                <a:tc>
                  <a:txBody>
                    <a:bodyPr/>
                    <a:lstStyle/>
                    <a:p>
                      <a:pPr lvl="0" indent="0" marL="0">
                        <a:buNone/>
                      </a:pPr>
                      <a:r>
                        <a:rPr/>
                        <a:t>Conceptual mapping</a:t>
                      </a:r>
                    </a:p>
                  </a:txBody>
                </a:tc>
              </a:tr>
              <a:tr h="0">
                <a:tc>
                  <a:txBody>
                    <a:bodyPr/>
                    <a:lstStyle/>
                    <a:p>
                      <a:pPr lvl="0" indent="0" marL="0">
                        <a:buNone/>
                      </a:pPr>
                      <a:r>
                        <a:rPr>
                          <a:latin typeface="Courier"/>
                        </a:rPr>
                        <a:t>02_CanonSpecification.md</a:t>
                      </a:r>
                    </a:p>
                  </a:txBody>
                </a:tc>
                <a:tc>
                  <a:txBody>
                    <a:bodyPr/>
                    <a:lstStyle/>
                    <a:p>
                      <a:pPr lvl="0" indent="0" marL="0">
                        <a:buNone/>
                      </a:pPr>
                      <a:r>
                        <a:rPr/>
                        <a:t>Canon to NIST/TIC/SCuBA</a:t>
                      </a:r>
                    </a:p>
                  </a:txBody>
                </a:tc>
                <a:tc>
                  <a:txBody>
                    <a:bodyPr/>
                    <a:lstStyle/>
                    <a:p>
                      <a:pPr lvl="0" indent="0" marL="0">
                        <a:buNone/>
                      </a:pPr>
                      <a:r>
                        <a:rPr/>
                        <a:t>Doctrinal mapping</a:t>
                      </a:r>
                    </a:p>
                  </a:txBody>
                </a:tc>
              </a:tr>
              <a:tr h="0">
                <a:tc>
                  <a:txBody>
                    <a:bodyPr/>
                    <a:lstStyle/>
                    <a:p>
                      <a:pPr lvl="0" indent="0" marL="0">
                        <a:buNone/>
                      </a:pPr>
                      <a:r>
                        <a:rPr>
                          <a:latin typeface="Courier"/>
                        </a:rPr>
                        <a:t>15_ProvenanceProfile.md</a:t>
                      </a:r>
                    </a:p>
                  </a:txBody>
                </a:tc>
                <a:tc>
                  <a:txBody>
                    <a:bodyPr/>
                    <a:lstStyle/>
                    <a:p>
                      <a:pPr lvl="0" indent="0" marL="0">
                        <a:buNone/>
                      </a:pPr>
                      <a:r>
                        <a:rPr/>
                        <a:t>Provenance to AU-3/AU-9/SI-7/AC-4</a:t>
                      </a:r>
                    </a:p>
                  </a:txBody>
                </a:tc>
                <a:tc>
                  <a:txBody>
                    <a:bodyPr/>
                    <a:lstStyle/>
                    <a:p>
                      <a:pPr lvl="0" indent="0" marL="0">
                        <a:buNone/>
                      </a:pPr>
                      <a:r>
                        <a:rPr/>
                        <a:t>Phase 5 — Data Governance Substrate</a:t>
                      </a:r>
                    </a:p>
                  </a:txBody>
                </a:tc>
              </a:tr>
              <a:tr h="0">
                <a:tc>
                  <a:txBody>
                    <a:bodyPr/>
                    <a:lstStyle/>
                    <a:p>
                      <a:pPr lvl="0" indent="0" marL="0">
                        <a:buNone/>
                      </a:pPr>
                      <a:r>
                        <a:rPr>
                          <a:latin typeface="Courier"/>
                        </a:rPr>
                        <a:t>16_DriftDetectionStandard.md</a:t>
                      </a:r>
                    </a:p>
                  </a:txBody>
                </a:tc>
                <a:tc>
                  <a:txBody>
                    <a:bodyPr/>
                    <a:lstStyle/>
                    <a:p>
                      <a:pPr lvl="0" indent="0" marL="0">
                        <a:buNone/>
                      </a:pPr>
                      <a:r>
                        <a:rPr/>
                        <a:t>Drift to CM-3/SI-7/CA-7/IR-6</a:t>
                      </a:r>
                    </a:p>
                  </a:txBody>
                </a:tc>
                <a:tc>
                  <a:txBody>
                    <a:bodyPr/>
                    <a:lstStyle/>
                    <a:p>
                      <a:pPr lvl="0" indent="0" marL="0">
                        <a:buNone/>
                      </a:pPr>
                      <a:r>
                        <a:rPr/>
                        <a:t>Phase 5 — Data Governance Substrate</a:t>
                      </a:r>
                    </a:p>
                  </a:txBody>
                </a:tc>
              </a:tr>
              <a:tr h="0">
                <a:tc>
                  <a:txBody>
                    <a:bodyPr/>
                    <a:lstStyle/>
                    <a:p>
                      <a:pPr lvl="0" indent="0" marL="0">
                        <a:buNone/>
                      </a:pPr>
                      <a:r>
                        <a:rPr>
                          <a:latin typeface="Courier"/>
                        </a:rPr>
                        <a:t>17_ConsentEnvelope.md</a:t>
                      </a:r>
                    </a:p>
                  </a:txBody>
                </a:tc>
                <a:tc>
                  <a:txBody>
                    <a:bodyPr/>
                    <a:lstStyle/>
                    <a:p>
                      <a:pPr lvl="0" indent="0" marL="0">
                        <a:buNone/>
                      </a:pPr>
                      <a:r>
                        <a:rPr/>
                        <a:t>Consent to AC-4/AC-22/AR-4/IP-1</a:t>
                      </a:r>
                    </a:p>
                  </a:txBody>
                </a:tc>
                <a:tc>
                  <a:txBody>
                    <a:bodyPr/>
                    <a:lstStyle/>
                    <a:p>
                      <a:pPr lvl="0" indent="0" marL="0">
                        <a:buNone/>
                      </a:pPr>
                      <a:r>
                        <a:rPr/>
                        <a:t>Phase 5 — Data Governance Substrate</a:t>
                      </a:r>
                    </a:p>
                  </a:txBody>
                </a:tc>
              </a:tr>
              <a:tr h="0">
                <a:tc>
                  <a:txBody>
                    <a:bodyPr/>
                    <a:lstStyle/>
                    <a:p>
                      <a:pPr lvl="0" indent="0" marL="0">
                        <a:buNone/>
                      </a:pPr>
                      <a:r>
                        <a:rPr>
                          <a:latin typeface="Courier"/>
                        </a:rPr>
                        <a:t>18_ClaimCatalog.md</a:t>
                      </a:r>
                    </a:p>
                  </a:txBody>
                </a:tc>
                <a:tc>
                  <a:txBody>
                    <a:bodyPr/>
                    <a:lstStyle/>
                    <a:p>
                      <a:pPr lvl="0" indent="0" marL="0">
                        <a:buNone/>
                      </a:pPr>
                      <a:r>
                        <a:rPr/>
                        <a:t>Claims to CM-8/SA-4/SI-12</a:t>
                      </a:r>
                    </a:p>
                  </a:txBody>
                </a:tc>
                <a:tc>
                  <a:txBody>
                    <a:bodyPr/>
                    <a:lstStyle/>
                    <a:p>
                      <a:pPr lvl="0" indent="0" marL="0">
                        <a:buNone/>
                      </a:pPr>
                      <a:r>
                        <a:rPr/>
                        <a:t>Phase 5 — Data Governance Substrate</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AU-3/IR-4/SA-9/PM-16</a:t>
                      </a:r>
                    </a:p>
                  </a:txBody>
                </a:tc>
                <a:tc>
                  <a:txBody>
                    <a:bodyPr/>
                    <a:lstStyle/>
                    <a:p>
                      <a:pPr lvl="0" indent="0" marL="0">
                        <a:buNone/>
                      </a:pPr>
                      <a:r>
                        <a:rPr/>
                        <a:t>Phase 5 — Data Governance Substrate</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table is the master reference for all compliance-related documents.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Crosswalk Index follows the UIAO runtime model:</a:t>
            </a:r>
          </a:p>
          <a:p>
            <a:pPr lvl="0" indent="0" marL="0">
              <a:spcBef>
                <a:spcPts val="3000"/>
              </a:spcBef>
              <a:buNone/>
            </a:pPr>
            <a:r>
              <a:rPr b="1"/>
              <a:t>7.1 Conversation-Level Mapping</a:t>
            </a:r>
          </a:p>
          <a:p>
            <a:pPr lvl="0" indent="0" marL="0">
              <a:buNone/>
            </a:pPr>
            <a:r>
              <a:rPr/>
              <a:t>Every crosswalk ties back to:</a:t>
            </a:r>
          </a:p>
          <a:p>
            <a:pPr lvl="0"/>
            <a:r>
              <a:rPr/>
              <a:t>Identity</a:t>
            </a:r>
          </a:p>
          <a:p>
            <a:pPr lvl="0"/>
            <a:r>
              <a:rPr/>
              <a:t>Addressing</a:t>
            </a:r>
          </a:p>
          <a:p>
            <a:pPr lvl="0"/>
            <a:r>
              <a:rPr/>
              <a:t>Certificates</a:t>
            </a:r>
          </a:p>
          <a:p>
            <a:pPr lvl="0"/>
            <a:r>
              <a:rPr/>
              <a:t>Path</a:t>
            </a:r>
          </a:p>
          <a:p>
            <a:pPr lvl="0"/>
            <a:r>
              <a:rPr/>
              <a:t>Telemetry</a:t>
            </a:r>
          </a:p>
          <a:p>
            <a:pPr lvl="0"/>
            <a:r>
              <a:rPr/>
              <a:t>Policy</a:t>
            </a:r>
          </a:p>
          <a:p>
            <a:pPr lvl="0" indent="0" marL="0">
              <a:spcBef>
                <a:spcPts val="3000"/>
              </a:spcBef>
              <a:buNone/>
            </a:pPr>
            <a:r>
              <a:rPr b="1"/>
              <a:t>7.2 Deterministic Mapping</a:t>
            </a:r>
          </a:p>
          <a:p>
            <a:pPr lvl="0" indent="0" marL="0">
              <a:buNone/>
            </a:pPr>
            <a:r>
              <a:rPr/>
              <a:t>Given identical identity, boundary, telemetry, and assurance inputs, crosswalk outputs remain consistent across:</a:t>
            </a:r>
          </a:p>
          <a:p>
            <a:pPr lvl="0"/>
            <a:r>
              <a:rPr/>
              <a:t>Clouds</a:t>
            </a:r>
          </a:p>
          <a:p>
            <a:pPr lvl="0"/>
            <a:r>
              <a:rPr/>
              <a:t>Agencies</a:t>
            </a:r>
          </a:p>
          <a:p>
            <a:pPr lvl="0"/>
            <a:r>
              <a:rPr/>
              <a:t>Implementations</a:t>
            </a:r>
          </a:p>
          <a:p>
            <a:pPr lvl="0" indent="0" marL="0">
              <a:spcBef>
                <a:spcPts val="3000"/>
              </a:spcBef>
              <a:buNone/>
            </a:pPr>
            <a:r>
              <a:rPr b="1"/>
              <a:t>7.3 Continuous Evaluation</a:t>
            </a:r>
          </a:p>
          <a:p>
            <a:pPr lvl="0" indent="0" marL="0">
              <a:buNone/>
            </a:pPr>
            <a:r>
              <a:rPr/>
              <a:t>Crosswalks support CA-7 continuous monitoring and SI-4 anomaly detection.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Crosswalk Index (Master Table)</a:t>
            </a:r>
          </a:p>
        </p:txBody>
      </p:sp>
      <p:sp>
        <p:nvSpPr>
          <p:cNvPr id="4" name="Text Placeholder 3"/>
          <p:cNvSpPr>
            <a:spLocks noGrp="1"/>
          </p:cNvSpPr>
          <p:nvPr>
            <p:ph idx="2" sz="half" type="body"/>
          </p:nvPr>
        </p:nvSpPr>
        <p:spPr/>
        <p:txBody>
          <a:bodyPr/>
          <a:lstStyle/>
          <a:p>
            <a:pPr lvl="0" indent="0" marL="0">
              <a:buNone/>
            </a:pPr>
            <a:r>
              <a:rPr/>
              <a:t>Below is the canonical master index of all crosswalks in the UIAO canon.</a:t>
            </a:r>
          </a:p>
          <a:p>
            <a:pPr lvl="0" indent="0" marL="0">
              <a:spcBef>
                <a:spcPts val="3000"/>
              </a:spcBef>
              <a:buNone/>
            </a:pPr>
            <a:r>
              <a:rPr b="1"/>
              <a:t>8.1 FedRAMP 20x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FedRAMP 20x to UIAO</a:t>
                      </a:r>
                    </a:p>
                  </a:txBody>
                </a:tc>
                <a:tc>
                  <a:txBody>
                    <a:bodyPr/>
                    <a:lstStyle/>
                    <a:p>
                      <a:pPr lvl="0" indent="0" marL="0">
                        <a:buNone/>
                      </a:pPr>
                      <a:r>
                        <a:rPr/>
                        <a:t>Full mapping</a:t>
                      </a:r>
                    </a:p>
                  </a:txBody>
                </a:tc>
                <a:tc>
                  <a:txBody>
                    <a:bodyPr/>
                    <a:lstStyle/>
                    <a:p>
                      <a:pPr lvl="0" indent="0" marL="0">
                        <a:buNone/>
                      </a:pPr>
                      <a:r>
                        <a:rPr>
                          <a:latin typeface="Courier"/>
                        </a:rPr>
                        <a:t>03_FedRAMP20x_Crosswalk.md</a:t>
                      </a:r>
                    </a:p>
                  </a:txBody>
                </a:tc>
              </a:tr>
              <a:tr h="0">
                <a:tc>
                  <a:txBody>
                    <a:bodyPr/>
                    <a:lstStyle/>
                    <a:p>
                      <a:pPr lvl="0" indent="0" marL="0">
                        <a:buNone/>
                      </a:pPr>
                      <a:r>
                        <a:rPr/>
                        <a:t>Phase 2 Summary</a:t>
                      </a:r>
                    </a:p>
                  </a:txBody>
                </a:tc>
                <a:tc>
                  <a:txBody>
                    <a:bodyPr/>
                    <a:lstStyle/>
                    <a:p>
                      <a:pPr lvl="0" indent="0" marL="0">
                        <a:buNone/>
                      </a:pPr>
                      <a:r>
                        <a:rPr/>
                        <a:t>Modernization alignment</a:t>
                      </a:r>
                    </a:p>
                  </a:txBody>
                </a:tc>
                <a:tc>
                  <a:txBody>
                    <a:bodyPr/>
                    <a:lstStyle/>
                    <a:p>
                      <a:pPr lvl="0" indent="0" marL="0">
                        <a:buNone/>
                      </a:pPr>
                      <a:r>
                        <a:rPr>
                          <a:latin typeface="Courier"/>
                        </a:rPr>
                        <a:t>04_FedRAMP20x_Phase2_Summary.md</a:t>
                      </a:r>
                    </a:p>
                  </a:txBody>
                </a:tc>
              </a:tr>
              <a:tr h="0">
                <a:tc>
                  <a:txBody>
                    <a:bodyPr/>
                    <a:lstStyle/>
                    <a:p>
                      <a:pPr lvl="0" indent="0" marL="0">
                        <a:buNone/>
                      </a:pPr>
                      <a:r>
                        <a:rPr/>
                        <a:t>Evidence Sources</a:t>
                      </a:r>
                    </a:p>
                  </a:txBody>
                </a:tc>
                <a:tc>
                  <a:txBody>
                    <a:bodyPr/>
                    <a:lstStyle/>
                    <a:p>
                      <a:pPr lvl="0" indent="0" marL="0">
                        <a:buNone/>
                      </a:pPr>
                      <a:r>
                        <a:rPr/>
                        <a:t>Telemetry, identity, addressing</a:t>
                      </a:r>
                    </a:p>
                  </a:txBody>
                </a:tc>
                <a:tc>
                  <a:txBody>
                    <a:bodyPr/>
                    <a:lstStyle/>
                    <a:p>
                      <a:pPr lvl="0" indent="0" marL="0">
                        <a:buNone/>
                      </a:pPr>
                      <a:r>
                        <a:rPr>
                          <a:latin typeface="Courier"/>
                        </a:rPr>
                        <a:t>03_FedRAMP20x_Crosswalk.md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8.2 NIST SP 800-53 Rev 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 Family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AC (Access Control)</a:t>
                      </a:r>
                    </a:p>
                  </a:txBody>
                </a:tc>
                <a:tc>
                  <a:txBody>
                    <a:bodyPr/>
                    <a:lstStyle/>
                    <a:p>
                      <a:pPr lvl="0" indent="0" marL="0">
                        <a:buNone/>
                      </a:pPr>
                      <a:r>
                        <a:rPr/>
                        <a:t>Identity, segmentation</a:t>
                      </a:r>
                    </a:p>
                  </a:txBody>
                </a:tc>
                <a:tc>
                  <a:txBody>
                    <a:bodyPr/>
                    <a:lstStyle/>
                    <a:p>
                      <a:pPr lvl="0" indent="0" marL="0">
                        <a:buNone/>
                      </a:pPr>
                      <a:r>
                        <a:rPr>
                          <a:latin typeface="Courier"/>
                        </a:rPr>
                        <a:t>00_ControlPlaneArchitecture.md</a:t>
                      </a:r>
                    </a:p>
                  </a:txBody>
                </a:tc>
              </a:tr>
              <a:tr h="0">
                <a:tc>
                  <a:txBody>
                    <a:bodyPr/>
                    <a:lstStyle/>
                    <a:p>
                      <a:pPr lvl="0" indent="0" marL="0">
                        <a:buNone/>
                      </a:pPr>
                      <a:r>
                        <a:rPr/>
                        <a:t>IA (Identity and Auth)</a:t>
                      </a:r>
                    </a:p>
                  </a:txBody>
                </a:tc>
                <a:tc>
                  <a:txBody>
                    <a:bodyPr/>
                    <a:lstStyle/>
                    <a:p>
                      <a:pPr lvl="0" indent="0" marL="0">
                        <a:buNone/>
                      </a:pPr>
                      <a:r>
                        <a:rPr/>
                        <a:t>Identity assurance</a:t>
                      </a:r>
                    </a:p>
                  </a:txBody>
                </a:tc>
                <a:tc>
                  <a:txBody>
                    <a:bodyPr/>
                    <a:lstStyle/>
                    <a:p>
                      <a:pPr lvl="0" indent="0" marL="0">
                        <a:buNone/>
                      </a:pPr>
                      <a:r>
                        <a:rPr>
                          <a:latin typeface="Courier"/>
                        </a:rPr>
                        <a:t>01_UnifiedArchitecture.md</a:t>
                      </a:r>
                    </a:p>
                  </a:txBody>
                </a:tc>
              </a:tr>
              <a:tr h="0">
                <a:tc>
                  <a:txBody>
                    <a:bodyPr/>
                    <a:lstStyle/>
                    <a:p>
                      <a:pPr lvl="0" indent="0" marL="0">
                        <a:buNone/>
                      </a:pPr>
                      <a:r>
                        <a:rPr/>
                        <a:t>CM (Configuration Mgmt)</a:t>
                      </a:r>
                    </a:p>
                  </a:txBody>
                </a:tc>
                <a:tc>
                  <a:txBody>
                    <a:bodyPr/>
                    <a:lstStyle/>
                    <a:p>
                      <a:pPr lvl="0" indent="0" marL="0">
                        <a:buNone/>
                      </a:pPr>
                      <a:r>
                        <a:rPr/>
                        <a:t>CMDB, Intune, drift</a:t>
                      </a:r>
                    </a:p>
                  </a:txBody>
                </a:tc>
                <a:tc>
                  <a:txBody>
                    <a:bodyPr/>
                    <a:lstStyle/>
                    <a:p>
                      <a:pPr lvl="0" indent="0" marL="0">
                        <a:buNone/>
                      </a:pPr>
                      <a:r>
                        <a:rPr>
                          <a:latin typeface="Courier"/>
                        </a:rPr>
                        <a:t>05_ManagementStack.md</a:t>
                      </a:r>
                    </a:p>
                  </a:txBody>
                </a:tc>
              </a:tr>
              <a:tr h="0">
                <a:tc>
                  <a:txBody>
                    <a:bodyPr/>
                    <a:lstStyle/>
                    <a:p>
                      <a:pPr lvl="0" indent="0" marL="0">
                        <a:buNone/>
                      </a:pPr>
                      <a:r>
                        <a:rPr/>
                        <a:t>SC (System and Comm)</a:t>
                      </a:r>
                    </a:p>
                  </a:txBody>
                </a:tc>
                <a:tc>
                  <a:txBody>
                    <a:bodyPr/>
                    <a:lstStyle/>
                    <a:p>
                      <a:pPr lvl="0" indent="0" marL="0">
                        <a:buNone/>
                      </a:pPr>
                      <a:r>
                        <a:rPr/>
                        <a:t>mTLS, overlay</a:t>
                      </a:r>
                    </a:p>
                  </a:txBody>
                </a:tc>
                <a:tc>
                  <a:txBody>
                    <a:bodyPr/>
                    <a:lstStyle/>
                    <a:p>
                      <a:pPr lvl="0" indent="0" marL="0">
                        <a:buNone/>
                      </a:pPr>
                      <a:r>
                        <a:rPr>
                          <a:latin typeface="Courier"/>
                        </a:rPr>
                        <a:t>00_ControlPlaneArchitecture.md</a:t>
                      </a:r>
                    </a:p>
                  </a:txBody>
                </a:tc>
              </a:tr>
              <a:tr h="0">
                <a:tc>
                  <a:txBody>
                    <a:bodyPr/>
                    <a:lstStyle/>
                    <a:p>
                      <a:pPr lvl="0" indent="0" marL="0">
                        <a:buNone/>
                      </a:pPr>
                      <a:r>
                        <a:rPr/>
                        <a:t>SI (System Integrity)</a:t>
                      </a:r>
                    </a:p>
                  </a:txBody>
                </a:tc>
                <a:tc>
                  <a:txBody>
                    <a:bodyPr/>
                    <a:lstStyle/>
                    <a:p>
                      <a:pPr lvl="0" indent="0" marL="0">
                        <a:buNone/>
                      </a:pPr>
                      <a:r>
                        <a:rPr/>
                        <a:t>Telemetry</a:t>
                      </a:r>
                    </a:p>
                  </a:txBody>
                </a:tc>
                <a:tc>
                  <a:txBody>
                    <a:bodyPr/>
                    <a:lstStyle/>
                    <a:p>
                      <a:pPr lvl="0" indent="0" marL="0">
                        <a:buNone/>
                      </a:pPr>
                      <a:r>
                        <a:rPr>
                          <a:latin typeface="Courier"/>
                        </a:rPr>
                        <a:t>03_FedRAMP20x_Crosswalk.md</a:t>
                      </a:r>
                    </a:p>
                  </a:txBody>
                </a:tc>
              </a:tr>
              <a:tr h="0">
                <a:tc>
                  <a:txBody>
                    <a:bodyPr/>
                    <a:lstStyle/>
                    <a:p>
                      <a:pPr lvl="0" indent="0" marL="0">
                        <a:buNone/>
                      </a:pPr>
                      <a:r>
                        <a:rPr/>
                        <a:t>CA (Assessment)</a:t>
                      </a:r>
                    </a:p>
                  </a:txBody>
                </a:tc>
                <a:tc>
                  <a:txBody>
                    <a:bodyPr/>
                    <a:lstStyle/>
                    <a:p>
                      <a:pPr lvl="0" indent="0" marL="0">
                        <a:buNone/>
                      </a:pPr>
                      <a:r>
                        <a:rPr/>
                        <a:t>Continuous monitoring</a:t>
                      </a:r>
                    </a:p>
                  </a:txBody>
                </a:tc>
                <a:tc>
                  <a:txBody>
                    <a:bodyPr/>
                    <a:lstStyle/>
                    <a:p>
                      <a:pPr lvl="0" indent="0" marL="0">
                        <a:buNone/>
                      </a:pPr>
                      <a:r>
                        <a:rPr>
                          <a:latin typeface="Courier"/>
                        </a:rPr>
                        <a:t>05_ManagementStack.md</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8.3 TIC 3.0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TIC Use Case</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Cloud</a:t>
                      </a:r>
                    </a:p>
                  </a:txBody>
                </a:tc>
                <a:tc>
                  <a:txBody>
                    <a:bodyPr/>
                    <a:lstStyle/>
                    <a:p>
                      <a:pPr lvl="0" indent="0" marL="0">
                        <a:buNone/>
                      </a:pPr>
                      <a:r>
                        <a:rPr/>
                        <a:t>Identity-aware routing</a:t>
                      </a:r>
                    </a:p>
                  </a:txBody>
                </a:tc>
                <a:tc>
                  <a:txBody>
                    <a:bodyPr/>
                    <a:lstStyle/>
                    <a:p>
                      <a:pPr lvl="0" indent="0" marL="0">
                        <a:buNone/>
                      </a:pPr>
                      <a:r>
                        <a:rPr>
                          <a:latin typeface="Courier"/>
                        </a:rPr>
                        <a:t>04_FedRAMP20x_Phase2_Summary.md</a:t>
                      </a:r>
                    </a:p>
                  </a:txBody>
                </a:tc>
              </a:tr>
              <a:tr h="0">
                <a:tc>
                  <a:txBody>
                    <a:bodyPr/>
                    <a:lstStyle/>
                    <a:p>
                      <a:pPr lvl="0" indent="0" marL="0">
                        <a:buNone/>
                      </a:pPr>
                      <a:r>
                        <a:rPr/>
                        <a:t>Branch</a:t>
                      </a:r>
                    </a:p>
                  </a:txBody>
                </a:tc>
                <a:tc>
                  <a:txBody>
                    <a:bodyPr/>
                    <a:lstStyle/>
                    <a:p>
                      <a:pPr lvl="0" indent="0" marL="0">
                        <a:buNone/>
                      </a:pPr>
                      <a:r>
                        <a:rPr/>
                        <a:t>SD-WAN segmentation</a:t>
                      </a:r>
                    </a:p>
                  </a:txBody>
                </a:tc>
                <a:tc>
                  <a:txBody>
                    <a:bodyPr/>
                    <a:lstStyle/>
                    <a:p>
                      <a:pPr lvl="0" indent="0" marL="0">
                        <a:buNone/>
                      </a:pPr>
                      <a:r>
                        <a:rPr>
                          <a:latin typeface="Courier"/>
                        </a:rPr>
                        <a:t>04_FedRAMP20x_Phase2_Summary.md</a:t>
                      </a:r>
                    </a:p>
                  </a:txBody>
                </a:tc>
              </a:tr>
              <a:tr h="0">
                <a:tc>
                  <a:txBody>
                    <a:bodyPr/>
                    <a:lstStyle/>
                    <a:p>
                      <a:pPr lvl="0" indent="0" marL="0">
                        <a:buNone/>
                      </a:pPr>
                      <a:r>
                        <a:rPr/>
                        <a:t>Identity</a:t>
                      </a:r>
                    </a:p>
                  </a:txBody>
                </a:tc>
                <a:tc>
                  <a:txBody>
                    <a:bodyPr/>
                    <a:lstStyle/>
                    <a:p>
                      <a:pPr lvl="0" indent="0" marL="0">
                        <a:buNone/>
                      </a:pPr>
                      <a:r>
                        <a:rPr/>
                        <a:t>ICAM governance</a:t>
                      </a:r>
                    </a:p>
                  </a:txBody>
                </a:tc>
                <a:tc>
                  <a:txBody>
                    <a:bodyPr/>
                    <a:lstStyle/>
                    <a:p>
                      <a:pPr lvl="0" indent="0" marL="0">
                        <a:buNone/>
                      </a:pPr>
                      <a:r>
                        <a:rPr>
                          <a:latin typeface="Courier"/>
                        </a:rPr>
                        <a:t>06_ProgramVision.md</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8.4 SCuBA (M365)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Identity Hardening</a:t>
                      </a:r>
                    </a:p>
                  </a:txBody>
                </a:tc>
                <a:tc>
                  <a:txBody>
                    <a:bodyPr/>
                    <a:lstStyle/>
                    <a:p>
                      <a:pPr lvl="0" indent="0" marL="0">
                        <a:buNone/>
                      </a:pPr>
                      <a:r>
                        <a:rPr/>
                        <a:t>MFA, CA, PIM</a:t>
                      </a:r>
                    </a:p>
                  </a:txBody>
                </a:tc>
                <a:tc>
                  <a:txBody>
                    <a:bodyPr/>
                    <a:lstStyle/>
                    <a:p>
                      <a:pPr lvl="0" indent="0" marL="0">
                        <a:buNone/>
                      </a:pPr>
                      <a:r>
                        <a:rPr>
                          <a:latin typeface="Courier"/>
                        </a:rPr>
                        <a:t>06_ProgramVision.md</a:t>
                      </a:r>
                    </a:p>
                  </a:txBody>
                </a:tc>
              </a:tr>
              <a:tr h="0">
                <a:tc>
                  <a:txBody>
                    <a:bodyPr/>
                    <a:lstStyle/>
                    <a:p>
                      <a:pPr lvl="0" indent="0" marL="0">
                        <a:buNone/>
                      </a:pPr>
                      <a:r>
                        <a:rPr/>
                        <a:t>Telemetry</a:t>
                      </a:r>
                    </a:p>
                  </a:txBody>
                </a:tc>
                <a:tc>
                  <a:txBody>
                    <a:bodyPr/>
                    <a:lstStyle/>
                    <a:p>
                      <a:pPr lvl="0" indent="0" marL="0">
                        <a:buNone/>
                      </a:pPr>
                      <a:r>
                        <a:rPr/>
                        <a:t>M365 Network Telemetry</a:t>
                      </a:r>
                    </a:p>
                  </a:txBody>
                </a:tc>
                <a:tc>
                  <a:txBody>
                    <a:bodyPr/>
                    <a:lstStyle/>
                    <a:p>
                      <a:pPr lvl="0" indent="0" marL="0">
                        <a:buNone/>
                      </a:pPr>
                      <a:r>
                        <a:rPr>
                          <a:latin typeface="Courier"/>
                        </a:rPr>
                        <a:t>08_ModernizationTimeline.md</a:t>
                      </a:r>
                    </a:p>
                  </a:txBody>
                </a:tc>
              </a:tr>
              <a:tr h="0">
                <a:tc>
                  <a:txBody>
                    <a:bodyPr/>
                    <a:lstStyle/>
                    <a:p>
                      <a:pPr lvl="0" indent="0" marL="0">
                        <a:buNone/>
                      </a:pPr>
                      <a:r>
                        <a:rPr/>
                        <a:t>Governance</a:t>
                      </a:r>
                    </a:p>
                  </a:txBody>
                </a:tc>
                <a:tc>
                  <a:txBody>
                    <a:bodyPr/>
                    <a:lstStyle/>
                    <a:p>
                      <a:pPr lvl="0" indent="0" marL="0">
                        <a:buNone/>
                      </a:pPr>
                      <a:r>
                        <a:rPr/>
                        <a:t>ICAM alignment</a:t>
                      </a:r>
                    </a:p>
                  </a:txBody>
                </a:tc>
                <a:tc>
                  <a:txBody>
                    <a:bodyPr/>
                    <a:lstStyle/>
                    <a:p>
                      <a:pPr lvl="0" indent="0" marL="0">
                        <a:buNone/>
                      </a:pPr>
                      <a:r>
                        <a:rPr>
                          <a:latin typeface="Courier"/>
                        </a:rPr>
                        <a:t>02_CanonSpecification.md</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8.5 KSI (Key Security Indicator)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KSI</a:t>
                      </a:r>
                    </a:p>
                  </a:txBody>
                  <a:tcPr/>
                </a:tc>
                <a:tc>
                  <a:txBody>
                    <a:bodyPr/>
                    <a:lstStyle/>
                    <a:p>
                      <a:pPr lvl="0" indent="0" marL="0">
                        <a:buNone/>
                      </a:pPr>
                      <a:r>
                        <a:rPr/>
                        <a:t>Description</a:t>
                      </a:r>
                    </a:p>
                  </a:txBody>
                  <a:tcPr/>
                </a:tc>
                <a:tc>
                  <a:txBody>
                    <a:bodyPr/>
                    <a:lstStyle/>
                    <a:p>
                      <a:pPr lvl="0" indent="0" marL="0">
                        <a:buNone/>
                      </a:pPr>
                      <a:r>
                        <a:rPr/>
                        <a:t>Document</a:t>
                      </a:r>
                    </a:p>
                  </a:txBody>
                  <a:tcPr/>
                </a:tc>
              </a:tr>
              <a:tr h="0">
                <a:tc>
                  <a:txBody>
                    <a:bodyPr/>
                    <a:lstStyle/>
                    <a:p>
                      <a:pPr lvl="0" indent="0" marL="0">
                        <a:buNone/>
                      </a:pPr>
                      <a:r>
                        <a:rPr/>
                        <a:t>KSI-IAM</a:t>
                      </a:r>
                    </a:p>
                  </a:txBody>
                </a:tc>
                <a:tc>
                  <a:txBody>
                    <a:bodyPr/>
                    <a:lstStyle/>
                    <a:p>
                      <a:pPr lvl="0" indent="0" marL="0">
                        <a:buNone/>
                      </a:pPr>
                      <a:r>
                        <a:rPr/>
                        <a:t>Identity authentication</a:t>
                      </a:r>
                    </a:p>
                  </a:txBody>
                </a:tc>
                <a:tc>
                  <a:txBody>
                    <a:bodyPr/>
                    <a:lstStyle/>
                    <a:p>
                      <a:pPr lvl="0" indent="0" marL="0">
                        <a:buNone/>
                      </a:pPr>
                      <a:r>
                        <a:rPr>
                          <a:latin typeface="Courier"/>
                        </a:rPr>
                        <a:t>03_FedRAMP20x_Crosswalk.md</a:t>
                      </a:r>
                    </a:p>
                  </a:txBody>
                </a:tc>
              </a:tr>
              <a:tr h="0">
                <a:tc>
                  <a:txBody>
                    <a:bodyPr/>
                    <a:lstStyle/>
                    <a:p>
                      <a:pPr lvl="0" indent="0" marL="0">
                        <a:buNone/>
                      </a:pPr>
                      <a:r>
                        <a:rPr/>
                        <a:t>KSI-PIY</a:t>
                      </a:r>
                    </a:p>
                  </a:txBody>
                </a:tc>
                <a:tc>
                  <a:txBody>
                    <a:bodyPr/>
                    <a:lstStyle/>
                    <a:p>
                      <a:pPr lvl="0" indent="0" marL="0">
                        <a:buNone/>
                      </a:pPr>
                      <a:r>
                        <a:rPr/>
                        <a:t>Deterministic inventory</a:t>
                      </a:r>
                    </a:p>
                  </a:txBody>
                </a:tc>
                <a:tc>
                  <a:txBody>
                    <a:bodyPr/>
                    <a:lstStyle/>
                    <a:p>
                      <a:pPr lvl="0" indent="0" marL="0">
                        <a:buNone/>
                      </a:pPr>
                      <a:r>
                        <a:rPr>
                          <a:latin typeface="Courier"/>
                        </a:rPr>
                        <a:t>05_ManagementStack.md</a:t>
                      </a:r>
                    </a:p>
                  </a:txBody>
                </a:tc>
              </a:tr>
              <a:tr h="0">
                <a:tc>
                  <a:txBody>
                    <a:bodyPr/>
                    <a:lstStyle/>
                    <a:p>
                      <a:pPr lvl="0" indent="0" marL="0">
                        <a:buNone/>
                      </a:pPr>
                      <a:r>
                        <a:rPr/>
                        <a:t>KSI-MLA</a:t>
                      </a:r>
                    </a:p>
                  </a:txBody>
                </a:tc>
                <a:tc>
                  <a:txBody>
                    <a:bodyPr/>
                    <a:lstStyle/>
                    <a:p>
                      <a:pPr lvl="0" indent="0" marL="0">
                        <a:buNone/>
                      </a:pPr>
                      <a:r>
                        <a:rPr/>
                        <a:t>Network health</a:t>
                      </a:r>
                    </a:p>
                  </a:txBody>
                </a:tc>
                <a:tc>
                  <a:txBody>
                    <a:bodyPr/>
                    <a:lstStyle/>
                    <a:p>
                      <a:pPr lvl="0" indent="0" marL="0">
                        <a:buNone/>
                      </a:pPr>
                      <a:r>
                        <a:rPr>
                          <a:latin typeface="Courier"/>
                        </a:rPr>
                        <a:t>03_FedRAMP20x_Crosswalk.md</a:t>
                      </a:r>
                    </a:p>
                  </a:txBody>
                </a:tc>
              </a:tr>
              <a:tr h="0">
                <a:tc>
                  <a:txBody>
                    <a:bodyPr/>
                    <a:lstStyle/>
                    <a:p>
                      <a:pPr lvl="0" indent="0" marL="0">
                        <a:buNone/>
                      </a:pPr>
                      <a:r>
                        <a:rPr/>
                        <a:t>KSI-SVC</a:t>
                      </a:r>
                    </a:p>
                  </a:txBody>
                </a:tc>
                <a:tc>
                  <a:txBody>
                    <a:bodyPr/>
                    <a:lstStyle/>
                    <a:p>
                      <a:pPr lvl="0" indent="0" marL="0">
                        <a:buNone/>
                      </a:pPr>
                      <a:r>
                        <a:rPr/>
                        <a:t>Certificate enforcement</a:t>
                      </a:r>
                    </a:p>
                  </a:txBody>
                </a:tc>
                <a:tc>
                  <a:txBody>
                    <a:bodyPr/>
                    <a:lstStyle/>
                    <a:p>
                      <a:pPr lvl="0" indent="0" marL="0">
                        <a:buNone/>
                      </a:pPr>
                      <a:r>
                        <a:rPr>
                          <a:latin typeface="Courier"/>
                        </a:rPr>
                        <a:t>00_ControlPlaneArchitecture.md</a:t>
                      </a:r>
                    </a:p>
                  </a:txBody>
                </a:tc>
              </a:tr>
              <a:tr h="0">
                <a:tc>
                  <a:txBody>
                    <a:bodyPr/>
                    <a:lstStyle/>
                    <a:p>
                      <a:pPr lvl="0" indent="0" marL="0">
                        <a:buNone/>
                      </a:pPr>
                      <a:r>
                        <a:rPr/>
                        <a:t>KSI-CMT</a:t>
                      </a:r>
                    </a:p>
                  </a:txBody>
                </a:tc>
                <a:tc>
                  <a:txBody>
                    <a:bodyPr/>
                    <a:lstStyle/>
                    <a:p>
                      <a:pPr lvl="0" indent="0" marL="0">
                        <a:buNone/>
                      </a:pPr>
                      <a:r>
                        <a:rPr/>
                        <a:t>Baseline drift</a:t>
                      </a:r>
                    </a:p>
                  </a:txBody>
                </a:tc>
                <a:tc>
                  <a:txBody>
                    <a:bodyPr/>
                    <a:lstStyle/>
                    <a:p>
                      <a:pPr lvl="0" indent="0" marL="0">
                        <a:buNone/>
                      </a:pPr>
                      <a:r>
                        <a:rPr>
                          <a:latin typeface="Courier"/>
                        </a:rPr>
                        <a:t>05_ManagementStack.md</a:t>
                      </a:r>
                    </a:p>
                  </a:txBody>
                </a:tc>
              </a:tr>
              <a:tr h="0">
                <a:tc>
                  <a:txBody>
                    <a:bodyPr/>
                    <a:lstStyle/>
                    <a:p>
                      <a:pPr lvl="0" indent="0" marL="0">
                        <a:buNone/>
                      </a:pPr>
                      <a:r>
                        <a:rPr/>
                        <a:t>KSI-CNA</a:t>
                      </a:r>
                    </a:p>
                  </a:txBody>
                </a:tc>
                <a:tc>
                  <a:txBody>
                    <a:bodyPr/>
                    <a:lstStyle/>
                    <a:p>
                      <a:pPr lvl="0" indent="0" marL="0">
                        <a:buNone/>
                      </a:pPr>
                      <a:r>
                        <a:rPr/>
                        <a:t>Conversation metadata</a:t>
                      </a:r>
                    </a:p>
                  </a:txBody>
                </a:tc>
                <a:tc>
                  <a:txBody>
                    <a:bodyPr/>
                    <a:lstStyle/>
                    <a:p>
                      <a:pPr lvl="0" indent="0" marL="0">
                        <a:buNone/>
                      </a:pPr>
                      <a:r>
                        <a:rPr>
                          <a:latin typeface="Courier"/>
                        </a:rPr>
                        <a:t>01_UnifiedArchitecture.md</a:t>
                      </a:r>
                    </a:p>
                  </a:txBody>
                </a:tc>
              </a:tr>
              <a:tr h="0">
                <a:tc>
                  <a:txBody>
                    <a:bodyPr/>
                    <a:lstStyle/>
                    <a:p>
                      <a:pPr lvl="0" indent="0" marL="0">
                        <a:buNone/>
                      </a:pPr>
                      <a:r>
                        <a:rPr/>
                        <a:t>KSI-CED</a:t>
                      </a:r>
                    </a:p>
                  </a:txBody>
                </a:tc>
                <a:tc>
                  <a:txBody>
                    <a:bodyPr/>
                    <a:lstStyle/>
                    <a:p>
                      <a:pPr lvl="0" indent="0" marL="0">
                        <a:buNone/>
                      </a:pPr>
                      <a:r>
                        <a:rPr/>
                        <a:t>Data minimization</a:t>
                      </a:r>
                    </a:p>
                  </a:txBody>
                </a:tc>
                <a:tc>
                  <a:txBody>
                    <a:bodyPr/>
                    <a:lstStyle/>
                    <a:p>
                      <a:pPr lvl="0" indent="0" marL="0">
                        <a:buNone/>
                      </a:pPr>
                      <a:r>
                        <a:rPr>
                          <a:latin typeface="Courier"/>
                        </a:rPr>
                        <a:t>02_CanonSpecification.md</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8.6 Phase 5 — Data Governance Substrate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15_ProvenanceProfile.md</a:t>
                      </a:r>
                    </a:p>
                  </a:txBody>
                </a:tc>
                <a:tc>
                  <a:txBody>
                    <a:bodyPr/>
                    <a:lstStyle/>
                    <a:p>
                      <a:pPr lvl="0" indent="0" marL="0">
                        <a:buNone/>
                      </a:pPr>
                      <a:r>
                        <a:rPr/>
                        <a:t>Provenance to NIST AU/SI/AC</a:t>
                      </a:r>
                    </a:p>
                  </a:txBody>
                </a:tc>
                <a:tc>
                  <a:txBody>
                    <a:bodyPr/>
                    <a:lstStyle/>
                    <a:p>
                      <a:pPr lvl="0" indent="0" marL="0">
                        <a:buNone/>
                      </a:pPr>
                      <a:r>
                        <a:rPr/>
                        <a:t>Lineage, audit, integrity</a:t>
                      </a:r>
                    </a:p>
                  </a:txBody>
                </a:tc>
              </a:tr>
              <a:tr h="0">
                <a:tc>
                  <a:txBody>
                    <a:bodyPr/>
                    <a:lstStyle/>
                    <a:p>
                      <a:pPr lvl="0" indent="0" marL="0">
                        <a:buNone/>
                      </a:pPr>
                      <a:r>
                        <a:rPr>
                          <a:latin typeface="Courier"/>
                        </a:rPr>
                        <a:t>16_DriftDetectionStandard.md</a:t>
                      </a:r>
                    </a:p>
                  </a:txBody>
                </a:tc>
                <a:tc>
                  <a:txBody>
                    <a:bodyPr/>
                    <a:lstStyle/>
                    <a:p>
                      <a:pPr lvl="0" indent="0" marL="0">
                        <a:buNone/>
                      </a:pPr>
                      <a:r>
                        <a:rPr/>
                        <a:t>Drift to NIST CM/SI/CA/IR</a:t>
                      </a:r>
                    </a:p>
                  </a:txBody>
                </a:tc>
                <a:tc>
                  <a:txBody>
                    <a:bodyPr/>
                    <a:lstStyle/>
                    <a:p>
                      <a:pPr lvl="0" indent="0" marL="0">
                        <a:buNone/>
                      </a:pPr>
                      <a:r>
                        <a:rPr/>
                        <a:t>Configuration, monitoring, incident</a:t>
                      </a:r>
                    </a:p>
                  </a:txBody>
                </a:tc>
              </a:tr>
              <a:tr h="0">
                <a:tc>
                  <a:txBody>
                    <a:bodyPr/>
                    <a:lstStyle/>
                    <a:p>
                      <a:pPr lvl="0" indent="0" marL="0">
                        <a:buNone/>
                      </a:pPr>
                      <a:r>
                        <a:rPr>
                          <a:latin typeface="Courier"/>
                        </a:rPr>
                        <a:t>17_ConsentEnvelope.md</a:t>
                      </a:r>
                    </a:p>
                  </a:txBody>
                </a:tc>
                <a:tc>
                  <a:txBody>
                    <a:bodyPr/>
                    <a:lstStyle/>
                    <a:p>
                      <a:pPr lvl="0" indent="0" marL="0">
                        <a:buNone/>
                      </a:pPr>
                      <a:r>
                        <a:rPr/>
                        <a:t>Consent to NIST AC/AR/IP</a:t>
                      </a:r>
                    </a:p>
                  </a:txBody>
                </a:tc>
                <a:tc>
                  <a:txBody>
                    <a:bodyPr/>
                    <a:lstStyle/>
                    <a:p>
                      <a:pPr lvl="0" indent="0" marL="0">
                        <a:buNone/>
                      </a:pPr>
                      <a:r>
                        <a:rPr/>
                        <a:t>Information flow, privacy</a:t>
                      </a:r>
                    </a:p>
                  </a:txBody>
                </a:tc>
              </a:tr>
              <a:tr h="0">
                <a:tc>
                  <a:txBody>
                    <a:bodyPr/>
                    <a:lstStyle/>
                    <a:p>
                      <a:pPr lvl="0" indent="0" marL="0">
                        <a:buNone/>
                      </a:pPr>
                      <a:r>
                        <a:rPr>
                          <a:latin typeface="Courier"/>
                        </a:rPr>
                        <a:t>18_ClaimCatalog.md</a:t>
                      </a:r>
                    </a:p>
                  </a:txBody>
                </a:tc>
                <a:tc>
                  <a:txBody>
                    <a:bodyPr/>
                    <a:lstStyle/>
                    <a:p>
                      <a:pPr lvl="0" indent="0" marL="0">
                        <a:buNone/>
                      </a:pPr>
                      <a:r>
                        <a:rPr/>
                        <a:t>Claims to NIST CM/SA/SI</a:t>
                      </a:r>
                    </a:p>
                  </a:txBody>
                </a:tc>
                <a:tc>
                  <a:txBody>
                    <a:bodyPr/>
                    <a:lstStyle/>
                    <a:p>
                      <a:pPr lvl="0" indent="0" marL="0">
                        <a:buNone/>
                      </a:pPr>
                      <a:r>
                        <a:rPr/>
                        <a:t>Inventory, acquisition, retention</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NIST AU/IR/SA/PM</a:t>
                      </a:r>
                    </a:p>
                  </a:txBody>
                </a:tc>
                <a:tc>
                  <a:txBody>
                    <a:bodyPr/>
                    <a:lstStyle/>
                    <a:p>
                      <a:pPr lvl="0" indent="0" marL="0">
                        <a:buNone/>
                      </a:pPr>
                      <a:r>
                        <a:rPr/>
                        <a:t>Audit, incident, external services</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Timeline Alignment</a:t>
            </a:r>
          </a:p>
          <a:p>
            <a:pPr lvl="0" indent="0" marL="0">
              <a:buNone/>
            </a:pPr>
            <a:r>
              <a:rPr/>
              <a:t>The Crosswalk Index supports all phases of the modernization timeline.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Crosswalk master tables are in Section 8. Control Plane Alignment table is in Section 4.</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Crosswalk References</a:t>
            </a:r>
          </a:p>
          <a:p>
            <a:pPr lvl="0" indent="0" marL="0">
              <a:buNone/>
            </a:pPr>
            <a:r>
              <a:rPr i="1"/>
              <a:t>See </a:t>
            </a:r>
            <a:r>
              <a:rPr i="1">
                <a:latin typeface="Courier"/>
              </a:rPr>
              <a:t>data/crosswalk-index.yml</a:t>
            </a:r>
            <a:r>
              <a:rPr i="1"/>
              <a:t> for machine-readable crosswalk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Canon Engine</a:t>
                      </a:r>
                    </a:p>
                  </a:txBody>
                </a:tc>
                <a:tc>
                  <a:txBody>
                    <a:bodyPr/>
                    <a:lstStyle/>
                    <a:p>
                      <a:pPr lvl="0" indent="0" marL="0">
                        <a:buNone/>
                      </a:pPr>
                      <a:r>
                        <a:rPr/>
                        <a:t>Register Phase 5 docs 15–19; add Section 8.6</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Crosswalkindex</dc:title>
  <dc:creator>UIAO Modernization Program</dc:creator>
  <cp:keywords/>
  <dcterms:created xsi:type="dcterms:W3CDTF">2026-04-03T14:32:37Z</dcterms:created>
  <dcterms:modified xsi:type="dcterms:W3CDTF">2026-04-03T14:32:37Z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